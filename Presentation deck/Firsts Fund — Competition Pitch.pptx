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person, not the product. Good morning. Firsts Fund is a proposed, actively managed global equity UITF for an early-career Filipino saving for a first that is five or more years away: a first home, a first business, a first trip. It is one fund with one mandate, holding company shares directly. In the next ten minutes we will show you what it owns, how each company got in, why each weight is what it is, and how it compares with a world index and a tech fund, including where it does worse. Everything here is a proposal; nothing is an existing BPI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who this is for, and who it is not for. Our investor has a first job and a regular income, can set aside about a thousand pesos a month after an emergency fund, and has one primary first at least five years away. The fund is not for every young person: someone saving for something two years away should be in a lower-risk fund, and our suitability step says so. Today that investor can buy a local index fund that made half a percent a year over five years, or a global fund of funds that trailed its own index by four points a year because of a second fee layer. We fill that gap with one global fund, priced in pesos, holding companies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judge will ask: isn't every business essential? Yes, and that is why essential is only where we look, not why we buy. Our theme is capacity that is hard to replace and that the company actually earns from. That gives eight kinds, and we added one since the semifinal: hospitals, because a healthcare facility is exactly that kind of capacity. We also dropped two things. We no longer call the fund non-tech; chipmakers go through the same tests as everyone, and NVIDIA is held at a small weight. And we no longer require a dated expansion target: a target is good evidence, but a company should not be rejected for lacking a press release. Conglomerates still need half their revenue inside the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is three questions in order, and each leaves a written record. Map the milestone asks what capacity a company provides, why it is hard to replace and how it earns from it; the output is an eligibility note, and the answer is pass or reject. Verify the investment asks whether it is worth owning at today's price, given its cash generation and its debt; every company gets a decision: eligible, watchlist or reject. Position the risk asks what the company adds to the portfolio and how much to hold; it produces the weight as a number. The milestone, a first home or a first trip, is how we explain a holding to an investor after it has passed. It is never why we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builds one global list: the twenty largest listed companies in each of the eight kinds of capacity, anywhere, 140 companies. There are no country slots. Two tests decide eligibility. First, material exposure: the main business must be on our list, or at least half of revenue must come from it, which removes seven conglomerates and contractors. Second, the company must actually earn from its capacity: positive operating cash flow and a positive return on capital, which removes four. For every company we hold, the team writes a short eligibility note: what the capacity is, why it is hard to replace, how the company earns from it, and the main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asks: is this worth owning at today's price? We dropped the old universal cut-offs, the 22-times price ceiling and the fixed debt limits, because one number cannot fit a water utility and a chipmaker. Instead, debt is tested under stress, with a shock that fits each kind of business: sixty percent for airports, roughly what 2020 did to them, and ten percent for water, where tariffs are regulated and demand barely moves. A company must still cover its interest one and a half times after the shock. Price is judged against the same kind of company worldwide, on EV to EBITDA and on cash yield, and quality on return on capital above its cost. Ports show every outcome: Westports and ICTSI are eligible and held; Kamigumi and China Merchants are eligible but lost at the portfolio step; JSW is too expensive; Qube fails the debt stress; Adani Ports fails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funnel, drawn to scale. 140 companies in; 129 pass Map. Verify rejects 35, mostly on debt under stress, and puts 45 on a watchlist, mostly because they are expensive against their peers or rank in the bottom half. That leaves 49 eligible. Position then holds 31. The other 18 are good, fairly priced businesses that would have added too little diversification, such as Endesa next to Enel, or TSMC next to the chips we already hold. Every one of those exits is written down, with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answers two questions. Who gets in: we take the eligible companies in merit order, and each must pass three tests. It must not duplicate a holding we already have, it must earn a sensible weight of at least one percent, and it must actually improve the fund's diversification. That process stopped at 31; we never set a number. How much: each holding is sized to add the same share of risk, using only past data, re-solved each quarter. The only regulatory limit is the BSP's twenty percent single-issuer ceiling, and it is a ceiling, not a target; our largest position is under six percent. We keep two internal limits with stated reasons, twenty-five percent per kind of capacity, because one shock can hit a whole industry, and a liquidity limit. There is no country quota and no fixed cash reserve; the manager holds operating cash for redemptions.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portfolio on one page: 31 companies in eight kinds of capacity. Read the weights carefully. The biggest positions are calm, cash-generating owners: Exelon's wires, Westports, ICTSI, Engie, Bangkok Dusit. The chipmakers sit between about one and two percent, even though Micron has the best merit score of all 49 eligible companies, because their share prices swing 42 to 63 percent a year. Digital networks sit exactly at the twenty-five percent cap. Rank decides who gets in; the risk model decides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example is ICTSI, and the point is that it competed against the world. Theme: it runs container terminals under long concessions, including Manila's, renewed this year for another 25 years. Valuation: it is not the cheapest port, at about fifteen times EBITDA, but it earns almost fourteen points more than its cost of capital, and its debt passes a thirty percent shock with cover to spare. Risk: emerging-market concessions and currencies. Role: it barely moves with the rest of the fund. Weight: 4.80%, which is simply what an equal share of risk works out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example shows that the theme is not anti-tech. NVIDIA makes the chips and networking that AI data centres are built on, and its software ecosystem is very hard to replace. On valuation it is expensive in absolute terms, about 28 times EBITDA, but cheaper than the semiconductor median of 36, and it earns seventy-five points above its cost of capital, so it ranks second of seventeen. Risks: a few huge customers, export controls, and an AI spending cycle that could turn. Its weight is 1.64%, because its price swings about 45% a year. That is the risk model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 role means what each holding adds and what it duplicates. The fund is spread across eight kinds of capacity; digital networks sit at the twenty-five percent limit, healthcare and power follow. We publish the overlaps instead of hiding them: about eleven percent rides on data-centre spending, about seven percent on US health policy, and almost eleven on Saudi Arabia. Countries are an output, and they are listing countries; a company like ICTSI earns in twenty. Statistically the 31 behave like about 9 independent exposures, a real improvement on the six of our earlier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Our first draft held thirty percent here by rule. The theme is global, so the rule went, and the number now comes out of the tests. One Philippine company earned its place against the world: ICTSI. Manila Water was in our previous portfolio, and it is now on the watchlist, for a specific reason: its operating cash flow is only twenty-eight percent of its EBITDA, under our fifty percent test. When cash catches up, it comes back. Meralco and PLDT are good businesses but smaller than the twenty largest in their fields worldwide, the same floor every country faces. The investor is still Filipino: they save, invest and redeem in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team's revised rules ask us to prove the optimizer is worth it, so here is the honest comparison, same holdings, same costs. Equal weighting made the most, 31.8% a year, and we should say why: it held twice as much in chipmakers through the AI boom, and it swung more and fell further. Simple inverse-volatility weighting landed within a fraction of a point of our risk model. So the complexity buys little extra return. We keep equal risk contribution because the limits are applied inside the solve and it accounts for how holdings move together. We chose it before testing, and we are not switching to whichever method won the last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in pesos, after every cost we can model: our fee, trading costs and dividend taxes. One hundred pesos became 306 in Firsts Fund, 213 in the world index, 92 in the PSEi tracker and 337 in a global tech fund. That PSEi line is the home-market alternative our saver already has: it went backwards. The axis starts at zero, so the gaps are drawn true to size. Tech made more, and we say so. Now the caveat, in our own words before a judge says it: we picked these companies in October 2026 using today's data, so this is the history of today's portfolio, not proof that our process works. What we lead on is the path: our worst fall was about seven percent, against eighteen for the world and twenty-seven for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asked us to compare old and new rules over the same period, with the same costs. Here it is. The revised rules hold 31 companies instead of twenty-one, about half the Philippine weight, and the five-year history looks better on every line. We do not claim that proves the new rules are better: both lists were chosen with today's data, and the improvement may mostly come from adding hospitals and spreading wider over a period when that worked; we have not tested that. What we do claim is that the new rules were fixed before testing, every exit is recorded, and the portfolio is less concentrated: about 9 independent exposures instead of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to head with tech, be direct: tech wins on return, over 36 years and over the last five, and it even wins narrowly on return per unit of risk. It also did better in COVID. Then make the point that matters for our investor: after 2000, tech fell −73% and took 192 months to get back. Our method lost about ten percent through the same crash. Someone saving for a first home five years away cannot wait sixteen years to break even. That is why we are not a tech fund, and why we hold chipmakers at small, risk-sized weights instead of excluding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a plain market fund with the same fee, the honest result over 36 years is a draw on return, slightly in the market's favour: 12.0% against 12.2% a year. Where the method helped was in the bad stretches: it lost about ten percent through the dot-com crash when the market lost twenty-seven, and a little less in 2008. It did worse in COVID, when hospitals and airports shut. So our claim is modest: about the market's return, with shallower worst falls, in businesses an investor can picture. Over the last five years, the current holdings did better than the world index, with the hindsight caveat from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is too short to judge a fund, so we rebuilt the method over 36 years using US industry returns for the same kinds of capacity, now including health services, with the same weighting rules and costs but none of our company screens. Be clear about what this is: context for the theme, not a test of our company screens. Both panels use linear scales from zero. In the top panel, our method ends a little below a same-cost market fund, and tech ends far higher, which we say plainly. The bottom panel is why we are not a tech fund: after 2000 tech fell 73% and took sixteen years to recover. Our worst fall was 44%, in 2008, slightly less than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so nobody thinks we only show good years. Over 36 years the method was better than the market in the dot-com crash and in 2008, and worse in COVID, when hospitals and airports shut, and worse than both in the Asian-crisis period, which in pesos was a gain for everyone because the peso fell. By decade it trails the market in three of four. So we make no promise of protection. This is an equity fund, and in its worst twelve months it lost twenty-seven percent. What the account-level glidepath does about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 performance and investor outcomes are different things, so we measure them separately. Take someone paying a thousand pesos a month for five years, starting in every month since 1990. In the median case they ended with about 1.33 times what they paid in. But 11% of those five-year savers ended below what they paid, and the worst ended at 0.65 times. That is why we propose the account-level glidepath. It does not change the fund; it moves part of one investor's units into a lower-risk fund as their date approaches. In the same history it lifts the worst outcome from 0.65 to 0.87 times, at the cost of some upside. The schedule shown is illustrative, and lower risk is not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what a young Filipino can actually buy, do not lead with our return: ours is history with hindsight, theirs are live. Lead with structure. BPI's global product buys other funds and charges two fee layers. The local index fund holds one economy. We would hold named companies directly for one fee, from a hundred pesos. Then say where we lose: for a goal under five years away, MP2 or a money-market fund is the better product, and our suitability step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risks before the judges ask. This is an equity fund and it will have bad years: in our long proxy the worst twelve months lost twenty-seven percent. The five-year record has hindsight in it, so our calculator does not use it. We report our concentrations: networks at their limit, about eleven percent on data-centre spending, Saudi Arabia, and two Chinese state telecoms. Most of the fund is in foreign currencies, unhedged, so a stronger peso lowers returns. Fourteen markets cost money to trade, and we now model that. And our data has limits: one ratio vendor, our own sub-industry calls, and stress shocks we chose. The defence is that every rule is written down and re-run each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we should all answer the same way. Assign each to a teammate. The rule for Q&amp;A: give the number, then the reason, then stop. If we do not know, say what we would check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three sentences, then stop. What it owns: essential capacity, anywhere, but only where the price and the balance sheet hold up. How it chooses: three tests in order, ending in a weight and a holdings count that nobody set by hand. What it offers: not the highest return, a path a young Filipino can stay on, five years and longer, until the first home, the first business or the first trip. Fund your firsts.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000706"/>
            <a:ext cx="10566443" cy="391143"/>
          </a:xfrm>
          <a:prstGeom prst="rect">
            <a:avLst/>
          </a:prstGeom>
          <a:noFill/>
          <a:ln/>
        </p:spPr>
        <p:txBody>
          <a:bodyPr wrap="square" lIns="0" tIns="0" rIns="0" bIns="0" rtlCol="0" anchor="t"/>
          <a:lstStyle>
            <a:lvl1pPr algn="l" indent="0" marL="0">
              <a:lnSpc>
                <a:spcPct val="115000"/>
              </a:lnSpc>
              <a:buNone/>
              <a:defRPr lang="en-US" sz="2800" dirty="0">
                <a:solidFill>
                  <a:srgbClr val="142019"/>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65" y="1696650"/>
            <a:ext cx="10566435" cy="4348550"/>
          </a:xfrm>
          <a:prstGeom prst="rect">
            <a:avLst/>
          </a:prstGeom>
          <a:noFill/>
          <a:ln/>
        </p:spPr>
        <p:txBody>
          <a:bodyPr wrap="square" lIns="0" tIns="0" rIns="0" bIns="0" rtlCol="0" anchor="t"/>
          <a:lstStyle>
            <a:lvl1pPr algn="l" indent="0" marL="0">
              <a:lnSpc>
                <a:spcPct val="140000"/>
              </a:lnSpc>
              <a:buNone/>
              <a:defRPr lang="en-US" sz="1600" dirty="0">
                <a:solidFill>
                  <a:srgbClr val="14201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1000706"/>
            <a:ext cx="10566443" cy="391143"/>
          </a:xfrm>
          <a:prstGeom prst="rect">
            <a:avLst/>
          </a:prstGeom>
          <a:noFill/>
          <a:ln/>
        </p:spPr>
        <p:txBody>
          <a:bodyPr wrap="square" lIns="0" tIns="0" rIns="0" bIns="0" rtlCol="0" anchor="t"/>
          <a:lstStyle>
            <a:lvl1pPr algn="l" indent="0" marL="0">
              <a:lnSpc>
                <a:spcPct val="115000"/>
              </a:lnSpc>
              <a:buNone/>
              <a:defRPr lang="en-US" sz="2800" dirty="0">
                <a:solidFill>
                  <a:srgbClr val="142019"/>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65" y="1696650"/>
            <a:ext cx="10566435" cy="4348550"/>
          </a:xfrm>
          <a:prstGeom prst="rect">
            <a:avLst/>
          </a:prstGeom>
          <a:noFill/>
          <a:ln/>
        </p:spPr>
        <p:txBody>
          <a:bodyPr wrap="square" lIns="0" tIns="0" rIns="0" bIns="0" rtlCol="0" anchor="t"/>
          <a:lstStyle>
            <a:lvl1pPr algn="l" indent="0" marL="0">
              <a:lnSpc>
                <a:spcPct val="140000"/>
              </a:lnSpc>
              <a:buNone/>
              <a:defRPr lang="en-US" sz="1600" dirty="0">
                <a:solidFill>
                  <a:srgbClr val="14201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9"/>
        </a:solidFill>
      </p:bgPr>
    </p:bg>
    <p:spTree>
      <p:nvGrpSpPr>
        <p:cNvPr id="1" name=""/>
        <p:cNvGrpSpPr/>
        <p:nvPr/>
      </p:nvGrpSpPr>
      <p:grpSpPr>
        <a:xfrm>
          <a:off x="0" y="0"/>
          <a:ext cx="0" cy="0"/>
          <a:chOff x="0" y="0"/>
          <a:chExt cx="0" cy="0"/>
        </a:xfrm>
      </p:grpSpPr>
      <p:sp>
        <p:nvSpPr>
          <p:cNvPr id="2" name="Shape 0"/>
          <p:cNvSpPr/>
          <p:nvPr/>
        </p:nvSpPr>
        <p:spPr>
          <a:xfrm>
            <a:off x="0" y="0"/>
            <a:ext cx="152391" cy="6857984"/>
          </a:xfrm>
          <a:prstGeom prst="rect">
            <a:avLst/>
          </a:prstGeom>
          <a:solidFill>
            <a:srgbClr val="0F7A45"/>
          </a:solidFill>
          <a:ln/>
        </p:spPr>
      </p:sp>
      <p:sp>
        <p:nvSpPr>
          <p:cNvPr id="3" name="Text 1"/>
          <p:cNvSpPr/>
          <p:nvPr/>
        </p:nvSpPr>
        <p:spPr>
          <a:xfrm>
            <a:off x="812765" y="812765"/>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FC48C"/>
                </a:solidFill>
                <a:latin typeface="IBM Plex Mono" pitchFamily="49" charset="0"/>
                <a:ea typeface="IBM Plex Mono" pitchFamily="49" charset="-122"/>
                <a:cs typeface="IBM Plex Mono" pitchFamily="49" charset="-120"/>
              </a:rPr>
              <a:t>BPI WEALTH FINQUEST 2026 · FINAL SHOWDOWN · TEAM LOS ANGELES 76ERS</a:t>
            </a:r>
            <a:endParaRPr lang="en-US" sz="1200" dirty="0"/>
          </a:p>
        </p:txBody>
      </p:sp>
      <p:sp>
        <p:nvSpPr>
          <p:cNvPr id="4" name="Text 2"/>
          <p:cNvSpPr/>
          <p:nvPr>
            <p:ph type="title"/>
          </p:nvPr>
        </p:nvSpPr>
        <p:spPr>
          <a:xfrm>
            <a:off x="812765" y="1983704"/>
            <a:ext cx="10883436" cy="787398"/>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5F4EE"/>
                </a:solidFill>
                <a:latin typeface="Source Serif 4" pitchFamily="18" charset="0"/>
                <a:ea typeface="Source Serif 4" pitchFamily="18" charset="-122"/>
                <a:cs typeface="Source Serif 4" pitchFamily="18" charset="-120"/>
              </a:rPr>
              <a:t>Firsts Fund</a:t>
            </a:r>
            <a:endParaRPr lang="en-US" sz="6000" dirty="0"/>
          </a:p>
        </p:txBody>
      </p:sp>
      <p:sp>
        <p:nvSpPr>
          <p:cNvPr id="5" name="Text 3"/>
          <p:cNvSpPr/>
          <p:nvPr/>
        </p:nvSpPr>
        <p:spPr>
          <a:xfrm>
            <a:off x="812765" y="2923499"/>
            <a:ext cx="9810728" cy="1054138"/>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5F4EE"/>
                </a:solidFill>
                <a:latin typeface="IBM Plex Sans" pitchFamily="34" charset="0"/>
                <a:ea typeface="IBM Plex Sans" pitchFamily="34" charset="-122"/>
                <a:cs typeface="IBM Plex Sans" pitchFamily="34" charset="-120"/>
              </a:rPr>
              <a:t>A proposed, actively managed global equity UITF for young Filipinos whose first is five years or more away. It would own the businesses behind everyday life: power, water, networks, ports, airports, hospitals and the equipment they run on.</a:t>
            </a:r>
            <a:endParaRPr lang="en-US" sz="2000" dirty="0"/>
          </a:p>
        </p:txBody>
      </p:sp>
      <p:sp>
        <p:nvSpPr>
          <p:cNvPr id="6" name="Text 4"/>
          <p:cNvSpPr/>
          <p:nvPr/>
        </p:nvSpPr>
        <p:spPr>
          <a:xfrm>
            <a:off x="812765" y="4130034"/>
            <a:ext cx="10883436" cy="487644"/>
          </a:xfrm>
          <a:prstGeom prst="rect">
            <a:avLst/>
          </a:prstGeom>
          <a:noFill/>
          <a:ln/>
        </p:spPr>
        <p:txBody>
          <a:bodyPr wrap="square" lIns="0" tIns="0" rIns="0" bIns="0" rtlCol="0" anchor="t">
            <a:normAutofit/>
          </a:bodyPr>
          <a:lstStyle/>
          <a:p>
            <a:pPr algn="l" indent="0" marL="0">
              <a:lnSpc>
                <a:spcPts val="3640"/>
              </a:lnSpc>
              <a:buNone/>
            </a:pPr>
            <a:r>
              <a:rPr lang="en-US" sz="2600" i="1" dirty="0">
                <a:solidFill>
                  <a:srgbClr val="5FC48C"/>
                </a:solidFill>
                <a:latin typeface="Source Serif 4" pitchFamily="18" charset="0"/>
                <a:ea typeface="Source Serif 4" pitchFamily="18" charset="-122"/>
                <a:cs typeface="Source Serif 4" pitchFamily="18" charset="-120"/>
              </a:rPr>
              <a:t>“Fund your firsts.”</a:t>
            </a:r>
            <a:endParaRPr lang="en-US" sz="2600" dirty="0"/>
          </a:p>
        </p:txBody>
      </p:sp>
      <p:sp>
        <p:nvSpPr>
          <p:cNvPr id="7" name="Text 5"/>
          <p:cNvSpPr/>
          <p:nvPr/>
        </p:nvSpPr>
        <p:spPr>
          <a:xfrm>
            <a:off x="812765" y="5549871"/>
            <a:ext cx="6742943" cy="520749"/>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6CE"/>
                </a:solidFill>
                <a:latin typeface="IBM Plex Sans" pitchFamily="34" charset="0"/>
                <a:ea typeface="IBM Plex Sans" pitchFamily="34" charset="-122"/>
                <a:cs typeface="IBM Plex Sans" pitchFamily="34" charset="-120"/>
              </a:rPr>
              <a:t>Prince Angelo C. Rivera · Luis Tengonciang · Karol Josef Fuñe · Eric Fabian Thirdy Mendez</a:t>
            </a:r>
            <a:endParaRPr lang="en-US" sz="1300" dirty="0"/>
          </a:p>
          <a:p>
            <a:pPr algn="l" indent="0" marL="0">
              <a:lnSpc>
                <a:spcPts val="1950"/>
              </a:lnSpc>
              <a:buNone/>
            </a:pPr>
            <a:r>
              <a:rPr lang="en-US" sz="1300" dirty="0">
                <a:solidFill>
                  <a:srgbClr val="C9D6CE"/>
                </a:solidFill>
                <a:latin typeface="IBM Plex Sans" pitchFamily="34" charset="0"/>
                <a:ea typeface="IBM Plex Sans" pitchFamily="34" charset="-122"/>
                <a:cs typeface="IBM Plex Sans" pitchFamily="34" charset="-120"/>
              </a:rPr>
              <a:t>Ateneo de Manila University</a:t>
            </a:r>
            <a:endParaRPr lang="en-US" sz="1300" dirty="0"/>
          </a:p>
        </p:txBody>
      </p:sp>
      <p:sp>
        <p:nvSpPr>
          <p:cNvPr id="8" name="Text 6"/>
          <p:cNvSpPr/>
          <p:nvPr/>
        </p:nvSpPr>
        <p:spPr>
          <a:xfrm>
            <a:off x="7800327" y="5618526"/>
            <a:ext cx="3578881" cy="45209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6CE"/>
                </a:solidFill>
                <a:latin typeface="IBM Plex Mono" pitchFamily="49" charset="0"/>
                <a:ea typeface="IBM Plex Mono" pitchFamily="49" charset="-122"/>
                <a:cs typeface="IBM Plex Mono" pitchFamily="49" charset="-120"/>
              </a:rPr>
              <a:t>Proposed: ₱100 minimum · 1.50% a year</a:t>
            </a:r>
            <a:endParaRPr lang="en-US" sz="1200" dirty="0"/>
          </a:p>
          <a:p>
            <a:pPr algn="r" indent="0" marL="0">
              <a:lnSpc>
                <a:spcPts val="1680"/>
              </a:lnSpc>
              <a:buNone/>
            </a:pPr>
            <a:r>
              <a:rPr lang="en-US" sz="1200" dirty="0">
                <a:solidFill>
                  <a:srgbClr val="C9D6CE"/>
                </a:solidFill>
                <a:latin typeface="IBM Plex Mono" pitchFamily="49" charset="0"/>
                <a:ea typeface="IBM Plex Mono" pitchFamily="49" charset="-122"/>
                <a:cs typeface="IBM Plex Mono" pitchFamily="49" charset="-120"/>
              </a:rPr>
              <a:t>Recommended horizon: 5 years or longer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WHO IT IS FOR</a:t>
            </a:r>
            <a:endParaRPr lang="en-US" sz="1200" dirty="0"/>
          </a:p>
        </p:txBody>
      </p:sp>
      <p:sp>
        <p:nvSpPr>
          <p:cNvPr id="3" name="Text 1"/>
          <p:cNvSpPr/>
          <p:nvPr>
            <p:ph type="title"/>
          </p:nvPr>
        </p:nvSpPr>
        <p:spPr>
          <a:xfrm>
            <a:off x="812765" y="1000706"/>
            <a:ext cx="10883436" cy="80768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An early-career Filipino saving for a first five or more years away</a:t>
            </a:r>
            <a:endParaRPr lang="en-US" sz="2800" dirty="0"/>
          </a:p>
        </p:txBody>
      </p:sp>
      <p:sp>
        <p:nvSpPr>
          <p:cNvPr id="4" name="Shape 2"/>
          <p:cNvSpPr/>
          <p:nvPr/>
        </p:nvSpPr>
        <p:spPr>
          <a:xfrm>
            <a:off x="815940" y="1963965"/>
            <a:ext cx="5660180" cy="2584335"/>
          </a:xfrm>
          <a:prstGeom prst="roundRect">
            <a:avLst>
              <a:gd name="adj" fmla="val 2826"/>
            </a:avLst>
          </a:prstGeom>
          <a:solidFill>
            <a:srgbClr val="FBFBF7"/>
          </a:solidFill>
          <a:ln w="6350">
            <a:solidFill>
              <a:srgbClr val="DCE0D9"/>
            </a:solidFill>
            <a:prstDash val="solid"/>
          </a:ln>
        </p:spPr>
      </p:sp>
      <p:sp>
        <p:nvSpPr>
          <p:cNvPr id="5" name="Text 3"/>
          <p:cNvSpPr/>
          <p:nvPr/>
        </p:nvSpPr>
        <p:spPr>
          <a:xfrm>
            <a:off x="996358" y="2093571"/>
            <a:ext cx="545832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The suitable investor</a:t>
            </a:r>
            <a:endParaRPr lang="en-US" sz="1400" dirty="0"/>
          </a:p>
        </p:txBody>
      </p:sp>
      <p:sp>
        <p:nvSpPr>
          <p:cNvPr id="6" name="Text 4"/>
          <p:cNvSpPr/>
          <p:nvPr/>
        </p:nvSpPr>
        <p:spPr>
          <a:xfrm>
            <a:off x="996358" y="2357684"/>
            <a:ext cx="5458324"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943"/>
                </a:solidFill>
                <a:latin typeface="IBM Plex Sans" pitchFamily="34" charset="0"/>
                <a:ea typeface="IBM Plex Sans" pitchFamily="34" charset="-122"/>
                <a:cs typeface="IBM Plex Sans" pitchFamily="34" charset="-120"/>
              </a:rPr>
              <a:t>Regular income from a first job, an affordable monthly contribution, one primary first at least </a:t>
            </a:r>
            <a:r>
              <a:rPr lang="en-US" sz="1400" b="1" dirty="0">
                <a:solidFill>
                  <a:srgbClr val="3D4943"/>
                </a:solidFill>
                <a:latin typeface="IBM Plex Sans" pitchFamily="34" charset="0"/>
                <a:ea typeface="IBM Plex Sans" pitchFamily="34" charset="-122"/>
                <a:cs typeface="IBM Plex Sans" pitchFamily="34" charset="-120"/>
              </a:rPr>
              <a:t>five years</a:t>
            </a:r>
            <a:r>
              <a:rPr lang="en-US" sz="1400" dirty="0">
                <a:solidFill>
                  <a:srgbClr val="3D4943"/>
                </a:solidFill>
                <a:latin typeface="IBM Plex Sans" pitchFamily="34" charset="0"/>
                <a:ea typeface="IBM Plex Sans" pitchFamily="34" charset="-122"/>
                <a:cs typeface="IBM Plex Sans" pitchFamily="34" charset="-120"/>
              </a:rPr>
              <a:t> away, and the risk tolerance for an equity fund that can fall in a bad year.</a:t>
            </a:r>
            <a:endParaRPr lang="en-US" sz="1400" dirty="0"/>
          </a:p>
        </p:txBody>
      </p:sp>
      <p:sp>
        <p:nvSpPr>
          <p:cNvPr id="7" name="Text 5"/>
          <p:cNvSpPr/>
          <p:nvPr/>
        </p:nvSpPr>
        <p:spPr>
          <a:xfrm>
            <a:off x="996358" y="3155142"/>
            <a:ext cx="5458324"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Not everyone aged 18 to 25 is suitable: a goal two years away belongs in a lower-risk fund, and the suitability check says so.</a:t>
            </a:r>
            <a:endParaRPr lang="en-US" sz="1200" dirty="0"/>
          </a:p>
        </p:txBody>
      </p:sp>
      <p:sp>
        <p:nvSpPr>
          <p:cNvPr id="8" name="Shape 6"/>
          <p:cNvSpPr/>
          <p:nvPr/>
        </p:nvSpPr>
        <p:spPr>
          <a:xfrm>
            <a:off x="6660266" y="1963965"/>
            <a:ext cx="4715766" cy="2584335"/>
          </a:xfrm>
          <a:prstGeom prst="roundRect">
            <a:avLst>
              <a:gd name="adj" fmla="val 2826"/>
            </a:avLst>
          </a:prstGeom>
          <a:solidFill>
            <a:srgbClr val="FBFBF7"/>
          </a:solidFill>
          <a:ln w="6350">
            <a:solidFill>
              <a:srgbClr val="DCE0D9"/>
            </a:solidFill>
            <a:prstDash val="solid"/>
          </a:ln>
        </p:spPr>
      </p:sp>
      <p:sp>
        <p:nvSpPr>
          <p:cNvPr id="9" name="Text 7"/>
          <p:cNvSpPr/>
          <p:nvPr/>
        </p:nvSpPr>
        <p:spPr>
          <a:xfrm>
            <a:off x="6840685" y="2093571"/>
            <a:ext cx="4485577"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Illustrative monthly budget, first job</a:t>
            </a:r>
            <a:endParaRPr lang="en-US" sz="1400" dirty="0"/>
          </a:p>
        </p:txBody>
      </p:sp>
      <p:sp>
        <p:nvSpPr>
          <p:cNvPr id="10" name="Shape 8"/>
          <p:cNvSpPr/>
          <p:nvPr/>
        </p:nvSpPr>
        <p:spPr>
          <a:xfrm>
            <a:off x="6840685" y="2357684"/>
            <a:ext cx="4354930" cy="1796896"/>
          </a:xfrm>
          <a:prstGeom prst="rect">
            <a:avLst/>
          </a:prstGeom>
          <a:solidFill>
            <a:srgbClr val="FBFBF7"/>
          </a:solidFill>
          <a:ln/>
        </p:spPr>
      </p:sp>
      <p:sp>
        <p:nvSpPr>
          <p:cNvPr id="11" name="Shape 9"/>
          <p:cNvSpPr/>
          <p:nvPr/>
        </p:nvSpPr>
        <p:spPr>
          <a:xfrm>
            <a:off x="11192439" y="2357684"/>
            <a:ext cx="0" cy="1796896"/>
          </a:xfrm>
          <a:prstGeom prst="line">
            <a:avLst/>
          </a:prstGeom>
          <a:noFill/>
          <a:ln w="6350">
            <a:solidFill>
              <a:srgbClr val="DCE0D9"/>
            </a:solidFill>
            <a:prstDash val="solid"/>
          </a:ln>
        </p:spPr>
      </p:sp>
      <p:sp>
        <p:nvSpPr>
          <p:cNvPr id="12" name="Shape 10"/>
          <p:cNvSpPr/>
          <p:nvPr/>
        </p:nvSpPr>
        <p:spPr>
          <a:xfrm>
            <a:off x="6840685" y="4151405"/>
            <a:ext cx="4354930" cy="0"/>
          </a:xfrm>
          <a:prstGeom prst="line">
            <a:avLst/>
          </a:prstGeom>
          <a:noFill/>
          <a:ln w="6350">
            <a:solidFill>
              <a:srgbClr val="DCE0D9"/>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2278" y="2369277"/>
          <a:ext cx="4337539" cy="1779506"/>
        </p:xfrm>
        <a:graphic>
          <a:graphicData uri="http://schemas.openxmlformats.org/drawingml/2006/table">
            <a:tbl>
              <a:tblPr/>
              <a:tblGrid>
                <a:gridCol w="2168770"/>
                <a:gridCol w="2168770"/>
              </a:tblGrid>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Take-home pay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Rent, food, transport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Emergency savings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Regular subscription to Firsts Fund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Left 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4" name="Text 11"/>
          <p:cNvSpPr/>
          <p:nvPr/>
        </p:nvSpPr>
        <p:spPr>
          <a:xfrm>
            <a:off x="6840685" y="4205346"/>
            <a:ext cx="4485577"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Illustrative only</a:t>
            </a:r>
            <a:endParaRPr lang="en-US" sz="1200" dirty="0"/>
          </a:p>
        </p:txBody>
      </p:sp>
      <p:sp>
        <p:nvSpPr>
          <p:cNvPr id="15" name="Text 12"/>
          <p:cNvSpPr/>
          <p:nvPr/>
        </p:nvSpPr>
        <p:spPr>
          <a:xfrm>
            <a:off x="815940" y="4732447"/>
            <a:ext cx="3418068" cy="1112600"/>
          </a:xfrm>
          <a:prstGeom prst="roundRect">
            <a:avLst>
              <a:gd name="adj" fmla="val 6563"/>
            </a:avLst>
          </a:prstGeom>
          <a:solidFill>
            <a:srgbClr val="FBFBF7"/>
          </a:solidFill>
          <a:ln w="6350">
            <a:solidFill>
              <a:srgbClr val="DCE0D9"/>
            </a:solidFill>
            <a:prstDash val="solid"/>
          </a:ln>
        </p:spPr>
        <p:txBody>
          <a:bodyPr wrap="square" lIns="159030" tIns="108233" rIns="67313" bIns="108233"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0.52%</a:t>
            </a:r>
            <a:endParaRPr lang="en-US" sz="1200" dirty="0"/>
          </a:p>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a year over five years from BPI's Philippine Equity Index Fund, after fees: one economy</a:t>
            </a:r>
            <a:endParaRPr lang="en-US" sz="1200" dirty="0"/>
          </a:p>
        </p:txBody>
      </p:sp>
      <p:sp>
        <p:nvSpPr>
          <p:cNvPr id="16" name="Text 13"/>
          <p:cNvSpPr/>
          <p:nvPr/>
        </p:nvSpPr>
        <p:spPr>
          <a:xfrm>
            <a:off x="4392749" y="4732447"/>
            <a:ext cx="3418068" cy="1112600"/>
          </a:xfrm>
          <a:prstGeom prst="roundRect">
            <a:avLst>
              <a:gd name="adj" fmla="val 6563"/>
            </a:avLst>
          </a:prstGeom>
          <a:solidFill>
            <a:srgbClr val="FBFBF7"/>
          </a:solidFill>
          <a:ln w="6350">
            <a:solidFill>
              <a:srgbClr val="DCE0D9"/>
            </a:solidFill>
            <a:prstDash val="solid"/>
          </a:ln>
        </p:spPr>
        <p:txBody>
          <a:bodyPr wrap="square" lIns="159030" tIns="108233" rIns="67313" bIns="82803"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4.19 pts</a:t>
            </a:r>
            <a:endParaRPr lang="en-US" sz="1200" dirty="0"/>
          </a:p>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a year the closest global product trailed its own index: it buys other funds and adds a second fee layer</a:t>
            </a:r>
            <a:endParaRPr lang="en-US" sz="1200" dirty="0"/>
          </a:p>
        </p:txBody>
      </p:sp>
      <p:sp>
        <p:nvSpPr>
          <p:cNvPr id="17" name="Text 14"/>
          <p:cNvSpPr/>
          <p:nvPr/>
        </p:nvSpPr>
        <p:spPr>
          <a:xfrm>
            <a:off x="7966383" y="4729272"/>
            <a:ext cx="3412825" cy="1118950"/>
          </a:xfrm>
          <a:prstGeom prst="roundRect">
            <a:avLst>
              <a:gd name="adj" fmla="val 6810"/>
            </a:avLst>
          </a:prstGeom>
          <a:solidFill>
            <a:srgbClr val="E7EFE9"/>
          </a:solidFill>
          <a:ln/>
        </p:spPr>
        <p:txBody>
          <a:bodyPr wrap="square" lIns="155479" tIns="104682" rIns="63761" bIns="104682"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The gap</a:t>
            </a:r>
            <a:endParaRPr lang="en-US" sz="1200" dirty="0"/>
          </a:p>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a peso-priced global fund that holds shares directly, with one fee layer</a:t>
            </a:r>
            <a:endParaRPr lang="en-US" sz="1200" dirty="0"/>
          </a:p>
        </p:txBody>
      </p:sp>
      <p:sp>
        <p:nvSpPr>
          <p:cNvPr id="18" name="Text 15"/>
          <p:cNvSpPr/>
          <p:nvPr/>
        </p:nvSpPr>
        <p:spPr>
          <a:xfrm>
            <a:off x="812765" y="631445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Comparison funds: BPI Wealth and Pag-IBIG disclosure statements, as cited in our Phase 1 fact sheet · budget figures are illustrative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THE THEME · ESSENTIAL CAPACITY WITH A DEFENSIBLE INVESTMENT CASE</a:t>
            </a:r>
            <a:endParaRPr lang="en-US" sz="1200" dirty="0"/>
          </a:p>
        </p:txBody>
      </p:sp>
      <p:sp>
        <p:nvSpPr>
          <p:cNvPr id="3" name="Text 1"/>
          <p:cNvSpPr/>
          <p:nvPr>
            <p:ph type="title"/>
          </p:nvPr>
        </p:nvSpPr>
        <p:spPr>
          <a:xfrm>
            <a:off x="812765" y="1000706"/>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Essential is where we look. It is not the reason we buy.</a:t>
            </a:r>
            <a:endParaRPr lang="en-US" sz="2800" dirty="0"/>
          </a:p>
        </p:txBody>
      </p:sp>
      <p:sp>
        <p:nvSpPr>
          <p:cNvPr id="4" name="Text 2"/>
          <p:cNvSpPr/>
          <p:nvPr/>
        </p:nvSpPr>
        <p:spPr>
          <a:xfrm>
            <a:off x="812765" y="1569645"/>
            <a:ext cx="10883436" cy="5587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19"/>
                </a:solidFill>
                <a:latin typeface="IBM Plex Sans" pitchFamily="34" charset="0"/>
                <a:ea typeface="IBM Plex Sans" pitchFamily="34" charset="-122"/>
                <a:cs typeface="IBM Plex Sans" pitchFamily="34" charset="-120"/>
              </a:rPr>
              <a:t>Listed businesses that own, operate or supply capacity everyday life depends on, where replacing it is hard and the business earns from providing it.</a:t>
            </a:r>
            <a:endParaRPr lang="en-US" sz="1500" dirty="0"/>
          </a:p>
        </p:txBody>
      </p:sp>
      <p:sp>
        <p:nvSpPr>
          <p:cNvPr id="5" name="Shape 3"/>
          <p:cNvSpPr/>
          <p:nvPr/>
        </p:nvSpPr>
        <p:spPr>
          <a:xfrm>
            <a:off x="812765" y="2280833"/>
            <a:ext cx="5207003" cy="2175404"/>
          </a:xfrm>
          <a:prstGeom prst="roundRect">
            <a:avLst>
              <a:gd name="adj" fmla="val 3503"/>
            </a:avLst>
          </a:prstGeom>
          <a:solidFill>
            <a:srgbClr val="E7EFE9"/>
          </a:solidFill>
          <a:ln/>
        </p:spPr>
      </p:sp>
      <p:sp>
        <p:nvSpPr>
          <p:cNvPr id="6" name="Text 4"/>
          <p:cNvSpPr/>
          <p:nvPr/>
        </p:nvSpPr>
        <p:spPr>
          <a:xfrm>
            <a:off x="990562" y="2407817"/>
            <a:ext cx="4996952"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A45"/>
                </a:solidFill>
                <a:latin typeface="IBM Plex Sans" pitchFamily="34" charset="0"/>
                <a:ea typeface="IBM Plex Sans" pitchFamily="34" charset="-122"/>
                <a:cs typeface="IBM Plex Sans" pitchFamily="34" charset="-120"/>
              </a:rPr>
              <a:t>Where we look: eight kinds of capacity</a:t>
            </a:r>
            <a:endParaRPr lang="en-US" sz="1400" dirty="0"/>
          </a:p>
        </p:txBody>
      </p:sp>
      <p:sp>
        <p:nvSpPr>
          <p:cNvPr id="7" name="Text 5"/>
          <p:cNvSpPr/>
          <p:nvPr/>
        </p:nvSpPr>
        <p:spPr>
          <a:xfrm>
            <a:off x="990562" y="2671930"/>
            <a:ext cx="4996952" cy="71883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943"/>
                </a:solidFill>
                <a:latin typeface="IBM Plex Sans" pitchFamily="34" charset="0"/>
                <a:ea typeface="IBM Plex Sans" pitchFamily="34" charset="-122"/>
                <a:cs typeface="IBM Plex Sans" pitchFamily="34" charset="-120"/>
              </a:rPr>
              <a:t>Own or operate:</a:t>
            </a:r>
            <a:r>
              <a:rPr lang="en-US" sz="1300" dirty="0">
                <a:solidFill>
                  <a:srgbClr val="3D4943"/>
                </a:solidFill>
                <a:latin typeface="IBM Plex Sans" pitchFamily="34" charset="0"/>
                <a:ea typeface="IBM Plex Sans" pitchFamily="34" charset="-122"/>
                <a:cs typeface="IBM Plex Sans" pitchFamily="34" charset="-120"/>
              </a:rPr>
              <a:t> power generation &amp; grids · water · digital networks (telecom, towers, data centres) · ports · airports &amp; toll roads · </a:t>
            </a:r>
            <a:r>
              <a:rPr lang="en-US" sz="1300" b="1" dirty="0">
                <a:solidFill>
                  <a:srgbClr val="3D4943"/>
                </a:solidFill>
                <a:latin typeface="IBM Plex Sans" pitchFamily="34" charset="0"/>
                <a:ea typeface="IBM Plex Sans" pitchFamily="34" charset="-122"/>
                <a:cs typeface="IBM Plex Sans" pitchFamily="34" charset="-120"/>
              </a:rPr>
              <a:t>healthcare facilities (new)</a:t>
            </a:r>
            <a:endParaRPr lang="en-US" sz="1300" dirty="0"/>
          </a:p>
        </p:txBody>
      </p:sp>
      <p:sp>
        <p:nvSpPr>
          <p:cNvPr id="8" name="Text 6"/>
          <p:cNvSpPr/>
          <p:nvPr/>
        </p:nvSpPr>
        <p:spPr>
          <a:xfrm>
            <a:off x="990562" y="3416131"/>
            <a:ext cx="4996952" cy="25654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943"/>
                </a:solidFill>
                <a:latin typeface="IBM Plex Sans" pitchFamily="34" charset="0"/>
                <a:ea typeface="IBM Plex Sans" pitchFamily="34" charset="-122"/>
                <a:cs typeface="IBM Plex Sans" pitchFamily="34" charset="-120"/>
              </a:rPr>
              <a:t>Supply:</a:t>
            </a:r>
            <a:r>
              <a:rPr lang="en-US" sz="1300" dirty="0">
                <a:solidFill>
                  <a:srgbClr val="3D4943"/>
                </a:solidFill>
                <a:latin typeface="IBM Plex Sans" pitchFamily="34" charset="0"/>
                <a:ea typeface="IBM Plex Sans" pitchFamily="34" charset="-122"/>
                <a:cs typeface="IBM Plex Sans" pitchFamily="34" charset="-120"/>
              </a:rPr>
              <a:t> grid &amp; power equipment · semiconductors</a:t>
            </a:r>
            <a:endParaRPr lang="en-US" sz="1300" dirty="0"/>
          </a:p>
        </p:txBody>
      </p:sp>
      <p:sp>
        <p:nvSpPr>
          <p:cNvPr id="9" name="Text 7"/>
          <p:cNvSpPr/>
          <p:nvPr/>
        </p:nvSpPr>
        <p:spPr>
          <a:xfrm>
            <a:off x="990562" y="3698042"/>
            <a:ext cx="4996952"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These define a research universe, not allocations.</a:t>
            </a:r>
            <a:endParaRPr lang="en-US" sz="1200" dirty="0"/>
          </a:p>
        </p:txBody>
      </p:sp>
      <p:sp>
        <p:nvSpPr>
          <p:cNvPr id="10" name="Shape 8"/>
          <p:cNvSpPr/>
          <p:nvPr/>
        </p:nvSpPr>
        <p:spPr>
          <a:xfrm>
            <a:off x="6175334" y="2284008"/>
            <a:ext cx="5200699" cy="2169054"/>
          </a:xfrm>
          <a:prstGeom prst="roundRect">
            <a:avLst>
              <a:gd name="adj" fmla="val 3367"/>
            </a:avLst>
          </a:prstGeom>
          <a:solidFill>
            <a:srgbClr val="FBFBF7"/>
          </a:solidFill>
          <a:ln w="6350">
            <a:solidFill>
              <a:srgbClr val="DCE0D9"/>
            </a:solidFill>
            <a:prstDash val="solid"/>
          </a:ln>
        </p:spPr>
      </p:sp>
      <p:sp>
        <p:nvSpPr>
          <p:cNvPr id="11" name="Text 9"/>
          <p:cNvSpPr/>
          <p:nvPr/>
        </p:nvSpPr>
        <p:spPr>
          <a:xfrm>
            <a:off x="6355752" y="2413614"/>
            <a:ext cx="4985058"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What changed from our first draft</a:t>
            </a:r>
            <a:endParaRPr lang="en-US" sz="1400" dirty="0"/>
          </a:p>
        </p:txBody>
      </p:sp>
      <p:sp>
        <p:nvSpPr>
          <p:cNvPr id="12" name="Text 10"/>
          <p:cNvSpPr/>
          <p:nvPr/>
        </p:nvSpPr>
        <p:spPr>
          <a:xfrm>
            <a:off x="6355752" y="2677726"/>
            <a:ext cx="4985058"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No blanket “non-tech” claim.</a:t>
            </a:r>
            <a:r>
              <a:rPr lang="en-US" sz="1200" dirty="0">
                <a:solidFill>
                  <a:srgbClr val="3D4943"/>
                </a:solidFill>
                <a:latin typeface="IBM Plex Sans" pitchFamily="34" charset="0"/>
                <a:ea typeface="IBM Plex Sans" pitchFamily="34" charset="-122"/>
                <a:cs typeface="IBM Plex Sans" pitchFamily="34" charset="-120"/>
              </a:rPr>
              <a:t> Chipmakers are assessed like everyone else; NVIDIA is held, small.</a:t>
            </a:r>
            <a:endParaRPr lang="en-US" sz="1200" dirty="0"/>
          </a:p>
        </p:txBody>
      </p:sp>
      <p:sp>
        <p:nvSpPr>
          <p:cNvPr id="13" name="Text 11"/>
          <p:cNvSpPr/>
          <p:nvPr/>
        </p:nvSpPr>
        <p:spPr>
          <a:xfrm>
            <a:off x="6355752" y="3155187"/>
            <a:ext cx="5017105"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No dated capacity target required.</a:t>
            </a:r>
            <a:r>
              <a:rPr lang="en-US" sz="1200" dirty="0">
                <a:solidFill>
                  <a:srgbClr val="3D4943"/>
                </a:solidFill>
                <a:latin typeface="IBM Plex Sans" pitchFamily="34" charset="0"/>
                <a:ea typeface="IBM Plex Sans" pitchFamily="34" charset="-122"/>
                <a:cs typeface="IBM Plex Sans" pitchFamily="34" charset="-120"/>
              </a:rPr>
              <a:t> A target is evidence, not a ticket in.</a:t>
            </a:r>
            <a:endParaRPr lang="en-US" sz="1200" dirty="0"/>
          </a:p>
        </p:txBody>
      </p:sp>
      <p:sp>
        <p:nvSpPr>
          <p:cNvPr id="14" name="Text 12"/>
          <p:cNvSpPr/>
          <p:nvPr/>
        </p:nvSpPr>
        <p:spPr>
          <a:xfrm>
            <a:off x="6355752" y="3419301"/>
            <a:ext cx="4985058"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Essential ≠ attractive.</a:t>
            </a:r>
            <a:r>
              <a:rPr lang="en-US" sz="1200" dirty="0">
                <a:solidFill>
                  <a:srgbClr val="3D4943"/>
                </a:solidFill>
                <a:latin typeface="IBM Plex Sans" pitchFamily="34" charset="0"/>
                <a:ea typeface="IBM Plex Sans" pitchFamily="34" charset="-122"/>
                <a:cs typeface="IBM Plex Sans" pitchFamily="34" charset="-120"/>
              </a:rPr>
              <a:t> Every company must still pass the investment test at today's price.</a:t>
            </a:r>
            <a:endParaRPr lang="en-US" sz="1200" dirty="0"/>
          </a:p>
        </p:txBody>
      </p:sp>
      <p:sp>
        <p:nvSpPr>
          <p:cNvPr id="15" name="Text 13"/>
          <p:cNvSpPr/>
          <p:nvPr/>
        </p:nvSpPr>
        <p:spPr>
          <a:xfrm>
            <a:off x="6355752" y="3896762"/>
            <a:ext cx="4985058"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Conglomerates</a:t>
            </a:r>
            <a:r>
              <a:rPr lang="en-US" sz="1200" dirty="0">
                <a:solidFill>
                  <a:srgbClr val="3D4943"/>
                </a:solidFill>
                <a:latin typeface="IBM Plex Sans" pitchFamily="34" charset="0"/>
                <a:ea typeface="IBM Plex Sans" pitchFamily="34" charset="-122"/>
                <a:cs typeface="IBM Plex Sans" pitchFamily="34" charset="-120"/>
              </a:rPr>
              <a:t> need half their revenue in the theme: Siemens 29%, Hitachi 30%, Samsung 39%, Vinci 16% are out.</a:t>
            </a:r>
            <a:endParaRPr lang="en-US" sz="1200" dirty="0"/>
          </a:p>
        </p:txBody>
      </p:sp>
      <p:sp>
        <p:nvSpPr>
          <p:cNvPr id="16" name="Text 14"/>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Conglomerate shares: latest annual reports · sub-industries follow GICS, assigned by the team · the five firsts explain the theme to investors; they are not industry categories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6"/>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HOW WE CHOOSE · M.V.P.</a:t>
            </a:r>
            <a:endParaRPr lang="en-US" sz="1200" dirty="0"/>
          </a:p>
        </p:txBody>
      </p:sp>
      <p:sp>
        <p:nvSpPr>
          <p:cNvPr id="3" name="Text 1"/>
          <p:cNvSpPr/>
          <p:nvPr>
            <p:ph type="title"/>
          </p:nvPr>
        </p:nvSpPr>
        <p:spPr>
          <a:xfrm>
            <a:off x="812765" y="1000706"/>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Three questions, asked in order, each with its own record</a:t>
            </a:r>
            <a:endParaRPr lang="en-US" sz="2800" dirty="0"/>
          </a:p>
        </p:txBody>
      </p:sp>
      <p:sp>
        <p:nvSpPr>
          <p:cNvPr id="4" name="Shape 2"/>
          <p:cNvSpPr/>
          <p:nvPr/>
        </p:nvSpPr>
        <p:spPr>
          <a:xfrm>
            <a:off x="815940" y="1572822"/>
            <a:ext cx="3414174" cy="2537464"/>
          </a:xfrm>
          <a:prstGeom prst="roundRect">
            <a:avLst>
              <a:gd name="adj" fmla="val 2878"/>
            </a:avLst>
          </a:prstGeom>
          <a:solidFill>
            <a:srgbClr val="FBFBF7"/>
          </a:solidFill>
          <a:ln w="6350">
            <a:solidFill>
              <a:srgbClr val="DCE0D9"/>
            </a:solidFill>
            <a:prstDash val="solid"/>
          </a:ln>
        </p:spPr>
      </p:sp>
      <p:sp>
        <p:nvSpPr>
          <p:cNvPr id="5" name="Text 3"/>
          <p:cNvSpPr/>
          <p:nvPr/>
        </p:nvSpPr>
        <p:spPr>
          <a:xfrm>
            <a:off x="1021719" y="1753239"/>
            <a:ext cx="3092694" cy="635008"/>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7A45"/>
                </a:solidFill>
                <a:latin typeface="Source Serif 4" pitchFamily="18" charset="0"/>
                <a:ea typeface="Source Serif 4" pitchFamily="18" charset="-122"/>
                <a:cs typeface="Source Serif 4" pitchFamily="18" charset="-120"/>
              </a:rPr>
              <a:t>M</a:t>
            </a:r>
            <a:endParaRPr lang="en-US" sz="4800" dirty="0"/>
          </a:p>
        </p:txBody>
      </p:sp>
      <p:sp>
        <p:nvSpPr>
          <p:cNvPr id="6" name="Text 4"/>
          <p:cNvSpPr/>
          <p:nvPr/>
        </p:nvSpPr>
        <p:spPr>
          <a:xfrm>
            <a:off x="1021719" y="2413614"/>
            <a:ext cx="3092694"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9"/>
                </a:solidFill>
                <a:latin typeface="IBM Plex Sans" pitchFamily="34" charset="0"/>
                <a:ea typeface="IBM Plex Sans" pitchFamily="34" charset="-122"/>
                <a:cs typeface="IBM Plex Sans" pitchFamily="34" charset="-120"/>
              </a:rPr>
              <a:t>Map the milestone</a:t>
            </a:r>
            <a:endParaRPr lang="en-US" sz="1600" dirty="0"/>
          </a:p>
        </p:txBody>
      </p:sp>
      <p:sp>
        <p:nvSpPr>
          <p:cNvPr id="7" name="Text 5"/>
          <p:cNvSpPr/>
          <p:nvPr/>
        </p:nvSpPr>
        <p:spPr>
          <a:xfrm>
            <a:off x="1021719" y="2708205"/>
            <a:ext cx="3092694"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943"/>
                </a:solidFill>
                <a:latin typeface="IBM Plex Sans" pitchFamily="34" charset="0"/>
                <a:ea typeface="IBM Plex Sans" pitchFamily="34" charset="-122"/>
                <a:cs typeface="IBM Plex Sans" pitchFamily="34" charset="-120"/>
              </a:rPr>
              <a:t>What essential capacity does it provide, why is it hard to replace, and how does it earn from it?</a:t>
            </a:r>
            <a:endParaRPr lang="en-US" sz="1300" dirty="0"/>
          </a:p>
        </p:txBody>
      </p:sp>
      <p:sp>
        <p:nvSpPr>
          <p:cNvPr id="8" name="Text 6"/>
          <p:cNvSpPr/>
          <p:nvPr/>
        </p:nvSpPr>
        <p:spPr>
          <a:xfrm>
            <a:off x="1021719" y="3452406"/>
            <a:ext cx="3092694"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Output:</a:t>
            </a:r>
            <a:r>
              <a:rPr lang="en-US" sz="1200" dirty="0">
                <a:solidFill>
                  <a:srgbClr val="3D4943"/>
                </a:solidFill>
                <a:latin typeface="IBM Plex Sans" pitchFamily="34" charset="0"/>
                <a:ea typeface="IBM Plex Sans" pitchFamily="34" charset="-122"/>
                <a:cs typeface="IBM Plex Sans" pitchFamily="34" charset="-120"/>
              </a:rPr>
              <a:t> a thematic eligibility note</a:t>
            </a:r>
            <a:endParaRPr lang="en-US" sz="1200" dirty="0"/>
          </a:p>
        </p:txBody>
      </p:sp>
      <p:sp>
        <p:nvSpPr>
          <p:cNvPr id="9" name="Text 7"/>
          <p:cNvSpPr/>
          <p:nvPr/>
        </p:nvSpPr>
        <p:spPr>
          <a:xfrm>
            <a:off x="1021719" y="3716519"/>
            <a:ext cx="3092694"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Pass or reject</a:t>
            </a:r>
            <a:endParaRPr lang="en-US" sz="1200" dirty="0"/>
          </a:p>
        </p:txBody>
      </p:sp>
      <p:sp>
        <p:nvSpPr>
          <p:cNvPr id="10" name="Shape 8"/>
          <p:cNvSpPr/>
          <p:nvPr/>
        </p:nvSpPr>
        <p:spPr>
          <a:xfrm>
            <a:off x="4388854" y="1572822"/>
            <a:ext cx="3414219" cy="2537464"/>
          </a:xfrm>
          <a:prstGeom prst="roundRect">
            <a:avLst>
              <a:gd name="adj" fmla="val 2878"/>
            </a:avLst>
          </a:prstGeom>
          <a:solidFill>
            <a:srgbClr val="FBFBF7"/>
          </a:solidFill>
          <a:ln w="6350">
            <a:solidFill>
              <a:srgbClr val="DCE0D9"/>
            </a:solidFill>
            <a:prstDash val="solid"/>
          </a:ln>
        </p:spPr>
      </p:sp>
      <p:sp>
        <p:nvSpPr>
          <p:cNvPr id="11" name="Text 9"/>
          <p:cNvSpPr/>
          <p:nvPr/>
        </p:nvSpPr>
        <p:spPr>
          <a:xfrm>
            <a:off x="4594633" y="1753239"/>
            <a:ext cx="3092741" cy="635008"/>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7A45"/>
                </a:solidFill>
                <a:latin typeface="Source Serif 4" pitchFamily="18" charset="0"/>
                <a:ea typeface="Source Serif 4" pitchFamily="18" charset="-122"/>
                <a:cs typeface="Source Serif 4" pitchFamily="18" charset="-120"/>
              </a:rPr>
              <a:t>V</a:t>
            </a:r>
            <a:endParaRPr lang="en-US" sz="4800" dirty="0"/>
          </a:p>
        </p:txBody>
      </p:sp>
      <p:sp>
        <p:nvSpPr>
          <p:cNvPr id="12" name="Text 10"/>
          <p:cNvSpPr/>
          <p:nvPr/>
        </p:nvSpPr>
        <p:spPr>
          <a:xfrm>
            <a:off x="4594633" y="2413614"/>
            <a:ext cx="309274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9"/>
                </a:solidFill>
                <a:latin typeface="IBM Plex Sans" pitchFamily="34" charset="0"/>
                <a:ea typeface="IBM Plex Sans" pitchFamily="34" charset="-122"/>
                <a:cs typeface="IBM Plex Sans" pitchFamily="34" charset="-120"/>
              </a:rPr>
              <a:t>Verify the investment</a:t>
            </a:r>
            <a:endParaRPr lang="en-US" sz="1600" dirty="0"/>
          </a:p>
        </p:txBody>
      </p:sp>
      <p:sp>
        <p:nvSpPr>
          <p:cNvPr id="13" name="Text 11"/>
          <p:cNvSpPr/>
          <p:nvPr/>
        </p:nvSpPr>
        <p:spPr>
          <a:xfrm>
            <a:off x="4594633" y="2708205"/>
            <a:ext cx="309274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943"/>
                </a:solidFill>
                <a:latin typeface="IBM Plex Sans" pitchFamily="34" charset="0"/>
                <a:ea typeface="IBM Plex Sans" pitchFamily="34" charset="-122"/>
                <a:cs typeface="IBM Plex Sans" pitchFamily="34" charset="-120"/>
              </a:rPr>
              <a:t>Is it an investable business at today's price, given its cash, debt and risks?</a:t>
            </a:r>
            <a:endParaRPr lang="en-US" sz="1300" dirty="0"/>
          </a:p>
        </p:txBody>
      </p:sp>
      <p:sp>
        <p:nvSpPr>
          <p:cNvPr id="14" name="Text 12"/>
          <p:cNvSpPr/>
          <p:nvPr/>
        </p:nvSpPr>
        <p:spPr>
          <a:xfrm>
            <a:off x="4594633" y="3221261"/>
            <a:ext cx="3092741"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Output:</a:t>
            </a:r>
            <a:r>
              <a:rPr lang="en-US" sz="1200" dirty="0">
                <a:solidFill>
                  <a:srgbClr val="3D4943"/>
                </a:solidFill>
                <a:latin typeface="IBM Plex Sans" pitchFamily="34" charset="0"/>
                <a:ea typeface="IBM Plex Sans" pitchFamily="34" charset="-122"/>
                <a:cs typeface="IBM Plex Sans" pitchFamily="34" charset="-120"/>
              </a:rPr>
              <a:t> a dated decision record</a:t>
            </a:r>
            <a:endParaRPr lang="en-US" sz="1200" dirty="0"/>
          </a:p>
        </p:txBody>
      </p:sp>
      <p:sp>
        <p:nvSpPr>
          <p:cNvPr id="15" name="Text 13"/>
          <p:cNvSpPr/>
          <p:nvPr/>
        </p:nvSpPr>
        <p:spPr>
          <a:xfrm>
            <a:off x="4594633" y="3485375"/>
            <a:ext cx="3092741"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Eligible, watchlist or reject</a:t>
            </a:r>
            <a:endParaRPr lang="en-US" sz="1200" dirty="0"/>
          </a:p>
        </p:txBody>
      </p:sp>
      <p:sp>
        <p:nvSpPr>
          <p:cNvPr id="16" name="Shape 14"/>
          <p:cNvSpPr/>
          <p:nvPr/>
        </p:nvSpPr>
        <p:spPr>
          <a:xfrm>
            <a:off x="7961814" y="1572822"/>
            <a:ext cx="3414219" cy="2537464"/>
          </a:xfrm>
          <a:prstGeom prst="roundRect">
            <a:avLst>
              <a:gd name="adj" fmla="val 2878"/>
            </a:avLst>
          </a:prstGeom>
          <a:solidFill>
            <a:srgbClr val="FBFBF7"/>
          </a:solidFill>
          <a:ln w="6350">
            <a:solidFill>
              <a:srgbClr val="DCE0D9"/>
            </a:solidFill>
            <a:prstDash val="solid"/>
          </a:ln>
        </p:spPr>
      </p:sp>
      <p:sp>
        <p:nvSpPr>
          <p:cNvPr id="17" name="Text 15"/>
          <p:cNvSpPr/>
          <p:nvPr/>
        </p:nvSpPr>
        <p:spPr>
          <a:xfrm>
            <a:off x="8167593" y="1753239"/>
            <a:ext cx="3092741" cy="635008"/>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7A45"/>
                </a:solidFill>
                <a:latin typeface="Source Serif 4" pitchFamily="18" charset="0"/>
                <a:ea typeface="Source Serif 4" pitchFamily="18" charset="-122"/>
                <a:cs typeface="Source Serif 4" pitchFamily="18" charset="-120"/>
              </a:rPr>
              <a:t>P</a:t>
            </a:r>
            <a:endParaRPr lang="en-US" sz="4800" dirty="0"/>
          </a:p>
        </p:txBody>
      </p:sp>
      <p:sp>
        <p:nvSpPr>
          <p:cNvPr id="18" name="Text 16"/>
          <p:cNvSpPr/>
          <p:nvPr/>
        </p:nvSpPr>
        <p:spPr>
          <a:xfrm>
            <a:off x="8167593" y="2413614"/>
            <a:ext cx="309274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9"/>
                </a:solidFill>
                <a:latin typeface="IBM Plex Sans" pitchFamily="34" charset="0"/>
                <a:ea typeface="IBM Plex Sans" pitchFamily="34" charset="-122"/>
                <a:cs typeface="IBM Plex Sans" pitchFamily="34" charset="-120"/>
              </a:rPr>
              <a:t>Position the risk</a:t>
            </a:r>
            <a:endParaRPr lang="en-US" sz="1600" dirty="0"/>
          </a:p>
        </p:txBody>
      </p:sp>
      <p:sp>
        <p:nvSpPr>
          <p:cNvPr id="19" name="Text 17"/>
          <p:cNvSpPr/>
          <p:nvPr/>
        </p:nvSpPr>
        <p:spPr>
          <a:xfrm>
            <a:off x="8167593" y="2708205"/>
            <a:ext cx="309274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943"/>
                </a:solidFill>
                <a:latin typeface="IBM Plex Sans" pitchFamily="34" charset="0"/>
                <a:ea typeface="IBM Plex Sans" pitchFamily="34" charset="-122"/>
                <a:cs typeface="IBM Plex Sans" pitchFamily="34" charset="-120"/>
              </a:rPr>
              <a:t>What does it add to the portfolio, and what weight is justified?</a:t>
            </a:r>
            <a:endParaRPr lang="en-US" sz="1300" dirty="0"/>
          </a:p>
        </p:txBody>
      </p:sp>
      <p:sp>
        <p:nvSpPr>
          <p:cNvPr id="20" name="Text 18"/>
          <p:cNvSpPr/>
          <p:nvPr/>
        </p:nvSpPr>
        <p:spPr>
          <a:xfrm>
            <a:off x="8167593" y="3221261"/>
            <a:ext cx="3092741"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Output:</a:t>
            </a:r>
            <a:r>
              <a:rPr lang="en-US" sz="1200" dirty="0">
                <a:solidFill>
                  <a:srgbClr val="3D4943"/>
                </a:solidFill>
                <a:latin typeface="IBM Plex Sans" pitchFamily="34" charset="0"/>
                <a:ea typeface="IBM Plex Sans" pitchFamily="34" charset="-122"/>
                <a:cs typeface="IBM Plex Sans" pitchFamily="34" charset="-120"/>
              </a:rPr>
              <a:t> weights, overlap report, holdings-count rationale</a:t>
            </a:r>
            <a:endParaRPr lang="en-US" sz="1200" dirty="0"/>
          </a:p>
        </p:txBody>
      </p:sp>
      <p:sp>
        <p:nvSpPr>
          <p:cNvPr id="21" name="Text 19"/>
          <p:cNvSpPr/>
          <p:nvPr/>
        </p:nvSpPr>
        <p:spPr>
          <a:xfrm>
            <a:off x="8167593" y="3698722"/>
            <a:ext cx="3092741"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Held at a number, or watchlist</a:t>
            </a:r>
            <a:endParaRPr lang="en-US" sz="1200" dirty="0"/>
          </a:p>
        </p:txBody>
      </p:sp>
      <p:sp>
        <p:nvSpPr>
          <p:cNvPr id="22" name="Text 20"/>
          <p:cNvSpPr/>
          <p:nvPr/>
        </p:nvSpPr>
        <p:spPr>
          <a:xfrm>
            <a:off x="812765" y="4291256"/>
            <a:ext cx="10566443" cy="434302"/>
          </a:xfrm>
          <a:prstGeom prst="roundRect">
            <a:avLst>
              <a:gd name="adj" fmla="val 17545"/>
            </a:avLst>
          </a:prstGeom>
          <a:solidFill>
            <a:srgbClr val="FFF4E0"/>
          </a:solidFill>
          <a:ln/>
        </p:spPr>
        <p:txBody>
          <a:bodyPr wrap="square" lIns="193157" tIns="79282" rIns="0" bIns="53839"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The milestone is the story, not the reason to buy. Passing M does not guarantee V; passing V does not guarantee a position.</a:t>
            </a:r>
            <a:endParaRPr lang="en-US" sz="1300" dirty="0"/>
          </a:p>
        </p:txBody>
      </p:sp>
      <p:sp>
        <p:nvSpPr>
          <p:cNvPr id="23" name="Shape 21"/>
          <p:cNvSpPr/>
          <p:nvPr/>
        </p:nvSpPr>
        <p:spPr>
          <a:xfrm>
            <a:off x="812765" y="4291256"/>
            <a:ext cx="10566443" cy="434302"/>
          </a:xfrm>
          <a:custGeom>
            <a:avLst/>
            <a:gdLst/>
            <a:ahLst/>
            <a:cxnLst/>
            <a:rect l="l" t="t" r="r" b="b"/>
            <a:pathLst>
              <a:path w="10566443" h="434302">
                <a:moveTo>
                  <a:pt x="76200" y="434302"/>
                </a:moveTo>
                <a:lnTo>
                  <a:pt x="76200" y="434302"/>
                </a:lnTo>
                <a:arcTo hR="76200" wR="76200" stAng="5400000" swAng="5400000"/>
                <a:lnTo>
                  <a:pt x="0" y="76200"/>
                </a:lnTo>
                <a:arcTo hR="76200" wR="76200" stAng="10800000" swAng="5400000"/>
                <a:lnTo>
                  <a:pt x="76200" y="0"/>
                </a:lnTo>
                <a:arcTo hR="76200" wR="38100" stAng="16200000" swAng="-5400000"/>
                <a:lnTo>
                  <a:pt x="38100" y="358102"/>
                </a:lnTo>
                <a:arcTo hR="76200" wR="38100" stAng="10800000" swAng="-5400000"/>
                <a:close/>
              </a:path>
            </a:pathLst>
          </a:custGeom>
          <a:solidFill>
            <a:srgbClr val="C9761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M · MAP THE MILESTONE · THEMATIC ELIGIBILITY</a:t>
            </a:r>
            <a:endParaRPr lang="en-US" sz="1200" dirty="0"/>
          </a:p>
        </p:txBody>
      </p:sp>
      <p:sp>
        <p:nvSpPr>
          <p:cNvPr id="3" name="Text 1"/>
          <p:cNvSpPr/>
          <p:nvPr>
            <p:ph type="title"/>
          </p:nvPr>
        </p:nvSpPr>
        <p:spPr>
          <a:xfrm>
            <a:off x="812765" y="1000705"/>
            <a:ext cx="10883436" cy="80768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One global list. Material exposure, and a business that earns from it.</a:t>
            </a:r>
            <a:endParaRPr lang="en-US" sz="2800" dirty="0"/>
          </a:p>
        </p:txBody>
      </p:sp>
      <p:sp>
        <p:nvSpPr>
          <p:cNvPr id="4" name="Text 2"/>
          <p:cNvSpPr/>
          <p:nvPr/>
        </p:nvSpPr>
        <p:spPr>
          <a:xfrm>
            <a:off x="815940" y="1963964"/>
            <a:ext cx="5765110" cy="721502"/>
          </a:xfrm>
          <a:prstGeom prst="roundRect">
            <a:avLst>
              <a:gd name="adj" fmla="val 10121"/>
            </a:avLst>
          </a:prstGeom>
          <a:solidFill>
            <a:srgbClr val="FBFBF7"/>
          </a:solidFill>
          <a:ln w="6350">
            <a:solidFill>
              <a:srgbClr val="DCE0D9"/>
            </a:solidFill>
            <a:prstDash val="solid"/>
          </a:ln>
        </p:spPr>
        <p:txBody>
          <a:bodyPr wrap="square" lIns="159030" tIns="108233" rIns="0" bIns="82803" rtlCol="0" anchor="t">
            <a:normAutofit/>
          </a:bodyPr>
          <a:lstStyle/>
          <a:p>
            <a:pPr algn="l"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1 · Universe</a:t>
            </a:r>
            <a:r>
              <a:rPr lang="en-US" sz="1300" dirty="0">
                <a:solidFill>
                  <a:srgbClr val="3D4943"/>
                </a:solidFill>
                <a:latin typeface="IBM Plex Sans" pitchFamily="34" charset="0"/>
                <a:ea typeface="IBM Plex Sans" pitchFamily="34" charset="-122"/>
                <a:cs typeface="IBM Plex Sans" pitchFamily="34" charset="-120"/>
              </a:rPr>
              <a:t> Up to the 20 largest listed companies by US-dollar value in each of the eight kinds of capacity, anywhere in the world: </a:t>
            </a:r>
            <a:r>
              <a:rPr lang="en-US" sz="1300" b="1" dirty="0">
                <a:solidFill>
                  <a:srgbClr val="3D4943"/>
                </a:solidFill>
                <a:latin typeface="IBM Plex Sans" pitchFamily="34" charset="0"/>
                <a:ea typeface="IBM Plex Sans" pitchFamily="34" charset="-122"/>
                <a:cs typeface="IBM Plex Sans" pitchFamily="34" charset="-120"/>
              </a:rPr>
              <a:t>140</a:t>
            </a:r>
            <a:endParaRPr lang="en-US" sz="1300" dirty="0"/>
          </a:p>
        </p:txBody>
      </p:sp>
      <p:sp>
        <p:nvSpPr>
          <p:cNvPr id="5" name="Text 3"/>
          <p:cNvSpPr/>
          <p:nvPr/>
        </p:nvSpPr>
        <p:spPr>
          <a:xfrm>
            <a:off x="815940" y="2806077"/>
            <a:ext cx="5765110" cy="952647"/>
          </a:xfrm>
          <a:prstGeom prst="roundRect">
            <a:avLst>
              <a:gd name="adj" fmla="val 7665"/>
            </a:avLst>
          </a:prstGeom>
          <a:solidFill>
            <a:srgbClr val="FBFBF7"/>
          </a:solidFill>
          <a:ln w="6350">
            <a:solidFill>
              <a:srgbClr val="DCE0D9"/>
            </a:solidFill>
            <a:prstDash val="solid"/>
          </a:ln>
        </p:spPr>
        <p:txBody>
          <a:bodyPr wrap="square" lIns="159030" tIns="108233" rIns="0" bIns="82803" rtlCol="0" anchor="t">
            <a:normAutofit/>
          </a:bodyPr>
          <a:lstStyle/>
          <a:p>
            <a:pPr algn="l"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2 · Material exposure</a:t>
            </a:r>
            <a:r>
              <a:rPr lang="en-US" sz="1300" dirty="0">
                <a:solidFill>
                  <a:srgbClr val="3D4943"/>
                </a:solidFill>
                <a:latin typeface="IBM Plex Sans" pitchFamily="34" charset="0"/>
                <a:ea typeface="IBM Plex Sans" pitchFamily="34" charset="-122"/>
                <a:cs typeface="IBM Plex Sans" pitchFamily="34" charset="-120"/>
              </a:rPr>
              <a:t> The main business is on our sub-industry list, or at least half of revenue comes from it. </a:t>
            </a:r>
            <a:r>
              <a:rPr lang="en-US" sz="1300" b="1" dirty="0">
                <a:solidFill>
                  <a:srgbClr val="3D4943"/>
                </a:solidFill>
                <a:latin typeface="IBM Plex Sans" pitchFamily="34" charset="0"/>
                <a:ea typeface="IBM Plex Sans" pitchFamily="34" charset="-122"/>
                <a:cs typeface="IBM Plex Sans" pitchFamily="34" charset="-120"/>
              </a:rPr>
              <a:t>7 out</a:t>
            </a:r>
            <a:r>
              <a:rPr lang="en-US" sz="1300" dirty="0">
                <a:solidFill>
                  <a:srgbClr val="3D4943"/>
                </a:solidFill>
                <a:latin typeface="IBM Plex Sans" pitchFamily="34" charset="0"/>
                <a:ea typeface="IBM Plex Sans" pitchFamily="34" charset="-122"/>
                <a:cs typeface="IBM Plex Sans" pitchFamily="34" charset="-120"/>
              </a:rPr>
              <a:t> (Siemens, Hitachi, Samsung, Vinci, Ferrovial, Mitsubishi Electric, Quanta)</a:t>
            </a:r>
            <a:endParaRPr lang="en-US" sz="1300" dirty="0"/>
          </a:p>
        </p:txBody>
      </p:sp>
      <p:sp>
        <p:nvSpPr>
          <p:cNvPr id="6" name="Text 4"/>
          <p:cNvSpPr/>
          <p:nvPr/>
        </p:nvSpPr>
        <p:spPr>
          <a:xfrm>
            <a:off x="815940" y="3879332"/>
            <a:ext cx="5765110" cy="952647"/>
          </a:xfrm>
          <a:prstGeom prst="roundRect">
            <a:avLst>
              <a:gd name="adj" fmla="val 7665"/>
            </a:avLst>
          </a:prstGeom>
          <a:solidFill>
            <a:srgbClr val="FBFBF7"/>
          </a:solidFill>
          <a:ln w="6350">
            <a:solidFill>
              <a:srgbClr val="DCE0D9"/>
            </a:solidFill>
            <a:prstDash val="solid"/>
          </a:ln>
        </p:spPr>
        <p:txBody>
          <a:bodyPr wrap="square" lIns="159030" tIns="108233" rIns="0" bIns="82803" rtlCol="0" anchor="t">
            <a:normAutofit/>
          </a:bodyPr>
          <a:lstStyle/>
          <a:p>
            <a:pPr algn="l"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3 · Earns from the capacity</a:t>
            </a:r>
            <a:r>
              <a:rPr lang="en-US" sz="1300" dirty="0">
                <a:solidFill>
                  <a:srgbClr val="3D4943"/>
                </a:solidFill>
                <a:latin typeface="IBM Plex Sans" pitchFamily="34" charset="0"/>
                <a:ea typeface="IBM Plex Sans" pitchFamily="34" charset="-122"/>
                <a:cs typeface="IBM Plex Sans" pitchFamily="34" charset="-120"/>
              </a:rPr>
              <a:t> Positive operating cash flow and positive return on capital. </a:t>
            </a:r>
            <a:r>
              <a:rPr lang="en-US" sz="1300" b="1" dirty="0">
                <a:solidFill>
                  <a:srgbClr val="3D4943"/>
                </a:solidFill>
                <a:latin typeface="IBM Plex Sans" pitchFamily="34" charset="0"/>
                <a:ea typeface="IBM Plex Sans" pitchFamily="34" charset="-122"/>
                <a:cs typeface="IBM Plex Sans" pitchFamily="34" charset="-120"/>
              </a:rPr>
              <a:t>4 out</a:t>
            </a:r>
            <a:r>
              <a:rPr lang="en-US" sz="1300" dirty="0">
                <a:solidFill>
                  <a:srgbClr val="3D4943"/>
                </a:solidFill>
                <a:latin typeface="IBM Plex Sans" pitchFamily="34" charset="0"/>
                <a:ea typeface="IBM Plex Sans" pitchFamily="34" charset="-122"/>
                <a:cs typeface="IBM Plex Sans" pitchFamily="34" charset="-120"/>
              </a:rPr>
              <a:t> (LS Electric, Rede D'Or, Zhejiang Expressway, Atlas Arteria)</a:t>
            </a:r>
            <a:endParaRPr lang="en-US" sz="1300" dirty="0"/>
          </a:p>
        </p:txBody>
      </p:sp>
      <p:sp>
        <p:nvSpPr>
          <p:cNvPr id="7" name="Shape 5"/>
          <p:cNvSpPr/>
          <p:nvPr/>
        </p:nvSpPr>
        <p:spPr>
          <a:xfrm>
            <a:off x="6762021" y="1960789"/>
            <a:ext cx="4617186" cy="980372"/>
          </a:xfrm>
          <a:prstGeom prst="roundRect">
            <a:avLst>
              <a:gd name="adj" fmla="val 7773"/>
            </a:avLst>
          </a:prstGeom>
          <a:solidFill>
            <a:srgbClr val="E7EFE9"/>
          </a:solidFill>
          <a:ln/>
        </p:spPr>
      </p:sp>
      <p:sp>
        <p:nvSpPr>
          <p:cNvPr id="8" name="Text 6"/>
          <p:cNvSpPr/>
          <p:nvPr/>
        </p:nvSpPr>
        <p:spPr>
          <a:xfrm>
            <a:off x="6939818" y="2087773"/>
            <a:ext cx="4389441"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No country slots</a:t>
            </a:r>
            <a:endParaRPr lang="en-US" sz="1400" dirty="0"/>
          </a:p>
        </p:txBody>
      </p:sp>
      <p:sp>
        <p:nvSpPr>
          <p:cNvPr id="9" name="Text 7"/>
          <p:cNvSpPr/>
          <p:nvPr/>
        </p:nvSpPr>
        <p:spPr>
          <a:xfrm>
            <a:off x="6939818" y="2351887"/>
            <a:ext cx="438944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943"/>
                </a:solidFill>
                <a:latin typeface="IBM Plex Sans" pitchFamily="34" charset="0"/>
                <a:ea typeface="IBM Plex Sans" pitchFamily="34" charset="-122"/>
                <a:cs typeface="IBM Plex Sans" pitchFamily="34" charset="-120"/>
              </a:rPr>
              <a:t>No regions, no quota, no cap. Where the fund lands is an output of the tests.</a:t>
            </a:r>
            <a:endParaRPr lang="en-US" sz="1300" dirty="0"/>
          </a:p>
        </p:txBody>
      </p:sp>
      <p:sp>
        <p:nvSpPr>
          <p:cNvPr id="10" name="Shape 8"/>
          <p:cNvSpPr/>
          <p:nvPr/>
        </p:nvSpPr>
        <p:spPr>
          <a:xfrm>
            <a:off x="6765196" y="3058595"/>
            <a:ext cx="4610836" cy="1163367"/>
          </a:xfrm>
          <a:prstGeom prst="roundRect">
            <a:avLst>
              <a:gd name="adj" fmla="val 6277"/>
            </a:avLst>
          </a:prstGeom>
          <a:solidFill>
            <a:srgbClr val="FBFBF7"/>
          </a:solidFill>
          <a:ln w="6350">
            <a:solidFill>
              <a:srgbClr val="DCE0D9"/>
            </a:solidFill>
            <a:prstDash val="solid"/>
          </a:ln>
        </p:spPr>
      </p:sp>
      <p:sp>
        <p:nvSpPr>
          <p:cNvPr id="11" name="Text 9"/>
          <p:cNvSpPr/>
          <p:nvPr/>
        </p:nvSpPr>
        <p:spPr>
          <a:xfrm>
            <a:off x="6945615" y="3188202"/>
            <a:ext cx="4377499"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Every holding gets an eligibility note</a:t>
            </a:r>
            <a:endParaRPr lang="en-US" sz="1400" dirty="0"/>
          </a:p>
        </p:txBody>
      </p:sp>
      <p:sp>
        <p:nvSpPr>
          <p:cNvPr id="12" name="Text 10"/>
          <p:cNvSpPr/>
          <p:nvPr/>
        </p:nvSpPr>
        <p:spPr>
          <a:xfrm>
            <a:off x="6945615" y="3452316"/>
            <a:ext cx="4377499"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The capacity · why it is hard to replace (licence, network scale, permits, specialist skill, time to rebuild) · how it earns · the main competitive or regulatory risk</a:t>
            </a:r>
            <a:endParaRPr lang="en-US" sz="1200" dirty="0"/>
          </a:p>
        </p:txBody>
      </p:sp>
      <p:sp>
        <p:nvSpPr>
          <p:cNvPr id="13" name="Text 11"/>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Market values: stockanalysis.com (S&amp;P Global Market Intelligence data), 8 Oct 2026 · only 12 water, 9 port and 19 airport &amp; toll-road companies of size are listed, so those lists are shorter · mainland China A-shares not in the universe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2361"/>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F7A45"/>
                </a:solidFill>
                <a:latin typeface="IBM Plex Mono" pitchFamily="49" charset="0"/>
                <a:ea typeface="IBM Plex Mono" pitchFamily="49" charset="-122"/>
                <a:cs typeface="IBM Plex Mono" pitchFamily="49" charset="-120"/>
              </a:rPr>
              <a:t>V · VERIFY THE INVESTMENT</a:t>
            </a:r>
            <a:endParaRPr lang="en-US" sz="1196" dirty="0"/>
          </a:p>
        </p:txBody>
      </p:sp>
      <p:sp>
        <p:nvSpPr>
          <p:cNvPr id="3" name="Text 1"/>
          <p:cNvSpPr/>
          <p:nvPr>
            <p:ph type="title"/>
          </p:nvPr>
        </p:nvSpPr>
        <p:spPr>
          <a:xfrm>
            <a:off x="812765" y="994321"/>
            <a:ext cx="10883436" cy="784409"/>
          </a:xfrm>
          <a:prstGeom prst="rect">
            <a:avLst/>
          </a:prstGeom>
          <a:noFill/>
          <a:ln/>
        </p:spPr>
        <p:txBody>
          <a:bodyPr wrap="square" lIns="0" tIns="0" rIns="0" bIns="0" rtlCol="0" anchor="t">
            <a:normAutofit/>
          </a:bodyPr>
          <a:lstStyle/>
          <a:p>
            <a:pPr algn="l" indent="0" marL="0">
              <a:lnSpc>
                <a:spcPts val="3013"/>
              </a:lnSpc>
              <a:buNone/>
            </a:pPr>
            <a:r>
              <a:rPr lang="en-US" sz="2739" b="1" i="0" dirty="0">
                <a:solidFill>
                  <a:srgbClr val="142019"/>
                </a:solidFill>
                <a:latin typeface="Source Serif 4" pitchFamily="18" charset="0"/>
                <a:ea typeface="Source Serif 4" pitchFamily="18" charset="-122"/>
                <a:cs typeface="Source Serif 4" pitchFamily="18" charset="-120"/>
              </a:rPr>
              <a:t>Can it carry its debt in a bad year, and is the price justified against its peers?</a:t>
            </a:r>
            <a:endParaRPr lang="en-US" sz="2739" dirty="0"/>
          </a:p>
        </p:txBody>
      </p:sp>
      <p:sp>
        <p:nvSpPr>
          <p:cNvPr id="4" name="Shape 2"/>
          <p:cNvSpPr/>
          <p:nvPr/>
        </p:nvSpPr>
        <p:spPr>
          <a:xfrm>
            <a:off x="815940" y="1934301"/>
            <a:ext cx="4825542" cy="2002398"/>
          </a:xfrm>
          <a:prstGeom prst="roundRect">
            <a:avLst>
              <a:gd name="adj" fmla="val 3647"/>
            </a:avLst>
          </a:prstGeom>
          <a:solidFill>
            <a:srgbClr val="FBFBF7"/>
          </a:solidFill>
          <a:ln w="6350">
            <a:solidFill>
              <a:srgbClr val="DCE0D9"/>
            </a:solidFill>
            <a:prstDash val="solid"/>
          </a:ln>
        </p:spPr>
      </p:sp>
      <p:sp>
        <p:nvSpPr>
          <p:cNvPr id="5" name="Text 3"/>
          <p:cNvSpPr/>
          <p:nvPr/>
        </p:nvSpPr>
        <p:spPr>
          <a:xfrm>
            <a:off x="996358" y="2063908"/>
            <a:ext cx="4598646" cy="230550"/>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019"/>
                </a:solidFill>
                <a:latin typeface="IBM Plex Sans" pitchFamily="34" charset="0"/>
                <a:ea typeface="IBM Plex Sans" pitchFamily="34" charset="-122"/>
                <a:cs typeface="IBM Plex Sans" pitchFamily="34" charset="-120"/>
              </a:rPr>
              <a:t>Reject</a:t>
            </a:r>
            <a:endParaRPr lang="en-US" sz="1352" dirty="0"/>
          </a:p>
        </p:txBody>
      </p:sp>
      <p:sp>
        <p:nvSpPr>
          <p:cNvPr id="6" name="Text 4"/>
          <p:cNvSpPr/>
          <p:nvPr/>
        </p:nvSpPr>
        <p:spPr>
          <a:xfrm>
            <a:off x="996358" y="2319824"/>
            <a:ext cx="4598646" cy="846271"/>
          </a:xfrm>
          <a:prstGeom prst="rect">
            <a:avLst/>
          </a:prstGeom>
          <a:noFill/>
          <a:ln/>
        </p:spPr>
        <p:txBody>
          <a:bodyPr wrap="square" lIns="0" tIns="0" rIns="0" bIns="0" rtlCol="0" anchor="t">
            <a:normAutofit/>
          </a:bodyPr>
          <a:lstStyle/>
          <a:p>
            <a:pPr algn="l" indent="0" marL="0">
              <a:lnSpc>
                <a:spcPts val="1648"/>
              </a:lnSpc>
              <a:buNone/>
            </a:pPr>
            <a:r>
              <a:rPr lang="en-US" sz="1177" b="1" dirty="0">
                <a:solidFill>
                  <a:srgbClr val="3D4943"/>
                </a:solidFill>
                <a:latin typeface="IBM Plex Sans" pitchFamily="34" charset="0"/>
                <a:ea typeface="IBM Plex Sans" pitchFamily="34" charset="-122"/>
                <a:cs typeface="IBM Plex Sans" pitchFamily="34" charset="-120"/>
              </a:rPr>
              <a:t>Debt under stress:</a:t>
            </a:r>
            <a:r>
              <a:rPr lang="en-US" sz="1177" dirty="0">
                <a:solidFill>
                  <a:srgbClr val="3D4943"/>
                </a:solidFill>
                <a:latin typeface="IBM Plex Sans" pitchFamily="34" charset="0"/>
                <a:ea typeface="IBM Plex Sans" pitchFamily="34" charset="-122"/>
                <a:cs typeface="IBM Plex Sans" pitchFamily="34" charset="-120"/>
              </a:rPr>
              <a:t> interest cover after a shock set per type, at least 1.5×. Shock: water 10%, power and networks 15%, hospitals 25%, ports 30%, grid equipment 35%, chips 50%, airports 60%.</a:t>
            </a:r>
            <a:endParaRPr lang="en-US" sz="1177" dirty="0"/>
          </a:p>
        </p:txBody>
      </p:sp>
      <p:sp>
        <p:nvSpPr>
          <p:cNvPr id="7" name="Text 5"/>
          <p:cNvSpPr/>
          <p:nvPr/>
        </p:nvSpPr>
        <p:spPr>
          <a:xfrm>
            <a:off x="996358" y="3191464"/>
            <a:ext cx="4598646" cy="641031"/>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3D4943"/>
                </a:solidFill>
                <a:latin typeface="IBM Plex Sans" pitchFamily="34" charset="0"/>
                <a:ea typeface="IBM Plex Sans" pitchFamily="34" charset="-122"/>
                <a:cs typeface="IBM Plex Sans" pitchFamily="34" charset="-120"/>
              </a:rPr>
              <a:t>Leverage outlier:</a:t>
            </a:r>
            <a:r>
              <a:rPr lang="en-US" sz="1159" dirty="0">
                <a:solidFill>
                  <a:srgbClr val="3D4943"/>
                </a:solidFill>
                <a:latin typeface="IBM Plex Sans" pitchFamily="34" charset="0"/>
                <a:ea typeface="IBM Plex Sans" pitchFamily="34" charset="-122"/>
                <a:cs typeface="IBM Plex Sans" pitchFamily="34" charset="-120"/>
              </a:rPr>
              <a:t> more than 2 turns above its type's median. </a:t>
            </a:r>
            <a:r>
              <a:rPr lang="en-US" sz="1159" b="1" dirty="0">
                <a:solidFill>
                  <a:srgbClr val="3D4943"/>
                </a:solidFill>
                <a:latin typeface="IBM Plex Sans" pitchFamily="34" charset="0"/>
                <a:ea typeface="IBM Plex Sans" pitchFamily="34" charset="-122"/>
                <a:cs typeface="IBM Plex Sans" pitchFamily="34" charset="-120"/>
              </a:rPr>
              <a:t>Investability:</a:t>
            </a:r>
            <a:r>
              <a:rPr lang="en-US" sz="1159" dirty="0">
                <a:solidFill>
                  <a:srgbClr val="3D4943"/>
                </a:solidFill>
                <a:latin typeface="IBM Plex Sans" pitchFamily="34" charset="0"/>
                <a:ea typeface="IBM Plex Sans" pitchFamily="34" charset="-122"/>
                <a:cs typeface="IBM Plex Sans" pitchFamily="34" charset="-120"/>
              </a:rPr>
              <a:t> a position can't be built. </a:t>
            </a:r>
            <a:r>
              <a:rPr lang="en-US" sz="1159" b="1" dirty="0">
                <a:solidFill>
                  <a:srgbClr val="3D4943"/>
                </a:solidFill>
                <a:latin typeface="IBM Plex Sans" pitchFamily="34" charset="0"/>
                <a:ea typeface="IBM Plex Sans" pitchFamily="34" charset="-122"/>
                <a:cs typeface="IBM Plex Sans" pitchFamily="34" charset="-120"/>
              </a:rPr>
              <a:t>Governance:</a:t>
            </a:r>
            <a:r>
              <a:rPr lang="en-US" sz="1159" dirty="0">
                <a:solidFill>
                  <a:srgbClr val="3D4943"/>
                </a:solidFill>
                <a:latin typeface="IBM Plex Sans" pitchFamily="34" charset="0"/>
                <a:ea typeface="IBM Plex Sans" pitchFamily="34" charset="-122"/>
                <a:cs typeface="IBM Plex Sans" pitchFamily="34" charset="-120"/>
              </a:rPr>
              <a:t> on public record.</a:t>
            </a:r>
            <a:endParaRPr lang="en-US" sz="1159" dirty="0"/>
          </a:p>
        </p:txBody>
      </p:sp>
      <p:sp>
        <p:nvSpPr>
          <p:cNvPr id="8" name="Shape 6"/>
          <p:cNvSpPr/>
          <p:nvPr/>
        </p:nvSpPr>
        <p:spPr>
          <a:xfrm>
            <a:off x="815940" y="4031949"/>
            <a:ext cx="4825542" cy="925112"/>
          </a:xfrm>
          <a:prstGeom prst="roundRect">
            <a:avLst>
              <a:gd name="adj" fmla="val 7894"/>
            </a:avLst>
          </a:prstGeom>
          <a:solidFill>
            <a:srgbClr val="FBFBF7"/>
          </a:solidFill>
          <a:ln w="6350">
            <a:solidFill>
              <a:srgbClr val="DCE0D9"/>
            </a:solidFill>
            <a:prstDash val="solid"/>
          </a:ln>
        </p:spPr>
      </p:sp>
      <p:sp>
        <p:nvSpPr>
          <p:cNvPr id="9" name="Text 7"/>
          <p:cNvSpPr/>
          <p:nvPr/>
        </p:nvSpPr>
        <p:spPr>
          <a:xfrm>
            <a:off x="996358" y="4161554"/>
            <a:ext cx="4598646" cy="230414"/>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019"/>
                </a:solidFill>
                <a:latin typeface="IBM Plex Sans" pitchFamily="34" charset="0"/>
                <a:ea typeface="IBM Plex Sans" pitchFamily="34" charset="-122"/>
                <a:cs typeface="IBM Plex Sans" pitchFamily="34" charset="-120"/>
              </a:rPr>
              <a:t>Watchlist</a:t>
            </a:r>
            <a:endParaRPr lang="en-US" sz="1352" dirty="0"/>
          </a:p>
        </p:txBody>
      </p:sp>
      <p:sp>
        <p:nvSpPr>
          <p:cNvPr id="10" name="Text 8"/>
          <p:cNvSpPr/>
          <p:nvPr/>
        </p:nvSpPr>
        <p:spPr>
          <a:xfrm>
            <a:off x="996358" y="4417337"/>
            <a:ext cx="4598646" cy="435519"/>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3D4943"/>
                </a:solidFill>
                <a:latin typeface="IBM Plex Sans" pitchFamily="34" charset="0"/>
                <a:ea typeface="IBM Plex Sans" pitchFamily="34" charset="-122"/>
                <a:cs typeface="IBM Plex Sans" pitchFamily="34" charset="-120"/>
              </a:rPr>
              <a:t>Cash conversion under 50% of EBITDA · price above 2× its type's median · merit in the bottom half of its type</a:t>
            </a:r>
            <a:endParaRPr lang="en-US" sz="1166" dirty="0"/>
          </a:p>
        </p:txBody>
      </p:sp>
      <p:sp>
        <p:nvSpPr>
          <p:cNvPr id="11" name="Shape 9"/>
          <p:cNvSpPr/>
          <p:nvPr/>
        </p:nvSpPr>
        <p:spPr>
          <a:xfrm>
            <a:off x="812765" y="5049134"/>
            <a:ext cx="4831892" cy="919869"/>
          </a:xfrm>
          <a:prstGeom prst="roundRect">
            <a:avLst>
              <a:gd name="adj" fmla="val 8284"/>
            </a:avLst>
          </a:prstGeom>
          <a:solidFill>
            <a:srgbClr val="E7EFE9"/>
          </a:solidFill>
          <a:ln/>
        </p:spPr>
      </p:sp>
      <p:sp>
        <p:nvSpPr>
          <p:cNvPr id="12" name="Text 10"/>
          <p:cNvSpPr/>
          <p:nvPr/>
        </p:nvSpPr>
        <p:spPr>
          <a:xfrm>
            <a:off x="990562" y="5176118"/>
            <a:ext cx="4610587" cy="230414"/>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019"/>
                </a:solidFill>
                <a:latin typeface="IBM Plex Sans" pitchFamily="34" charset="0"/>
                <a:ea typeface="IBM Plex Sans" pitchFamily="34" charset="-122"/>
                <a:cs typeface="IBM Plex Sans" pitchFamily="34" charset="-120"/>
              </a:rPr>
              <a:t>Merit, among same-type peers</a:t>
            </a:r>
            <a:endParaRPr lang="en-US" sz="1352" dirty="0"/>
          </a:p>
        </p:txBody>
      </p:sp>
      <p:sp>
        <p:nvSpPr>
          <p:cNvPr id="13" name="Text 11"/>
          <p:cNvSpPr/>
          <p:nvPr/>
        </p:nvSpPr>
        <p:spPr>
          <a:xfrm>
            <a:off x="990562" y="5431898"/>
            <a:ext cx="4610587" cy="435519"/>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3D4943"/>
                </a:solidFill>
                <a:latin typeface="IBM Plex Sans" pitchFamily="34" charset="0"/>
                <a:ea typeface="IBM Plex Sans" pitchFamily="34" charset="-122"/>
                <a:cs typeface="IBM Plex Sans" pitchFamily="34" charset="-120"/>
              </a:rPr>
              <a:t>Half valuation (EV/EBITDA, and cash yield after maintenance spending), half quality (return on capital minus its cost)</a:t>
            </a:r>
            <a:endParaRPr lang="en-US" sz="1166" dirty="0"/>
          </a:p>
        </p:txBody>
      </p:sp>
      <p:sp>
        <p:nvSpPr>
          <p:cNvPr id="14" name="Text 12"/>
          <p:cNvSpPr/>
          <p:nvPr/>
        </p:nvSpPr>
        <p:spPr>
          <a:xfrm>
            <a:off x="5822453" y="1931126"/>
            <a:ext cx="5723411"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Worked example · port operators</a:t>
            </a:r>
            <a:r>
              <a:rPr lang="en-US" sz="1300" dirty="0">
                <a:solidFill>
                  <a:srgbClr val="142019"/>
                </a:solidFill>
                <a:latin typeface="IBM Plex Sans" pitchFamily="34" charset="0"/>
                <a:ea typeface="IBM Plex Sans" pitchFamily="34" charset="-122"/>
                <a:cs typeface="IBM Plex Sans" pitchFamily="34" charset="-120"/>
              </a:rPr>
              <a:t> (COSCO Ports and HHLA also fail the debt stress)</a:t>
            </a:r>
            <a:endParaRPr lang="en-US" sz="1300" dirty="0"/>
          </a:p>
        </p:txBody>
      </p:sp>
      <p:sp>
        <p:nvSpPr>
          <p:cNvPr id="15" name="Shape 13"/>
          <p:cNvSpPr/>
          <p:nvPr/>
        </p:nvSpPr>
        <p:spPr>
          <a:xfrm>
            <a:off x="5822453" y="2469589"/>
            <a:ext cx="5556709" cy="2745748"/>
          </a:xfrm>
          <a:prstGeom prst="rect">
            <a:avLst/>
          </a:prstGeom>
          <a:solidFill>
            <a:srgbClr val="FBFBF7"/>
          </a:solidFill>
          <a:ln/>
        </p:spPr>
      </p:sp>
      <p:sp>
        <p:nvSpPr>
          <p:cNvPr id="16" name="Shape 14"/>
          <p:cNvSpPr/>
          <p:nvPr/>
        </p:nvSpPr>
        <p:spPr>
          <a:xfrm>
            <a:off x="11375987" y="2469589"/>
            <a:ext cx="0" cy="2745748"/>
          </a:xfrm>
          <a:prstGeom prst="line">
            <a:avLst/>
          </a:prstGeom>
          <a:noFill/>
          <a:ln w="6350">
            <a:solidFill>
              <a:srgbClr val="DCE0D9"/>
            </a:solidFill>
            <a:prstDash val="solid"/>
          </a:ln>
        </p:spPr>
      </p:sp>
      <p:sp>
        <p:nvSpPr>
          <p:cNvPr id="17" name="Shape 15"/>
          <p:cNvSpPr/>
          <p:nvPr/>
        </p:nvSpPr>
        <p:spPr>
          <a:xfrm>
            <a:off x="5822453" y="5212162"/>
            <a:ext cx="5556709" cy="0"/>
          </a:xfrm>
          <a:prstGeom prst="line">
            <a:avLst/>
          </a:prstGeom>
          <a:noFill/>
          <a:ln w="6350">
            <a:solidFill>
              <a:srgbClr val="DCE0D9"/>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834047" y="2481182"/>
          <a:ext cx="5539319" cy="2728358"/>
        </p:xfrm>
        <a:graphic>
          <a:graphicData uri="http://schemas.openxmlformats.org/drawingml/2006/table">
            <a:tbl>
              <a:tblPr/>
              <a:tblGrid>
                <a:gridCol w="1661796"/>
                <a:gridCol w="720111"/>
                <a:gridCol w="720111"/>
                <a:gridCol w="664718"/>
                <a:gridCol w="1772582"/>
              </a:tblGrid>
              <a:tr h="514369">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Operator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EV/EBITDA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Cash yield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Gap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Westports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Eligible · 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ICTSI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14.8×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Eligible · 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Kamigumi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8.8×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Eligible · watchlist (P)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China Merchants 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Eligible · watchlist (P)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JSW Infrastructure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Watchlist: price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Qube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Reject: debt stress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Adani 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Reject: governance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9" name="Text 16"/>
          <p:cNvSpPr/>
          <p:nvPr/>
        </p:nvSpPr>
        <p:spPr>
          <a:xfrm>
            <a:off x="5822453" y="5291510"/>
            <a:ext cx="5723411"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Gap = ROIC − WACC, percentage points · Kamigumi and China Merchants passed V and lost at P (they added too little diversification)</a:t>
            </a:r>
            <a:endParaRPr lang="en-US" sz="1200" dirty="0"/>
          </a:p>
        </p:txBody>
      </p:sp>
      <p:sp>
        <p:nvSpPr>
          <p:cNvPr id="20" name="Text 17"/>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Ratios: stockanalysis.com, trailing twelve months, read 8 Oct 2026 · stress shocks set per type from each type's worst observed episode, before any results were run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M, V AND P TOGETHER</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140 companies in, 31 held, every exit recorded</a:t>
            </a:r>
            <a:endParaRPr lang="en-US" sz="2800" dirty="0"/>
          </a:p>
        </p:txBody>
      </p:sp>
      <p:sp>
        <p:nvSpPr>
          <p:cNvPr id="4" name="Text 2"/>
          <p:cNvSpPr/>
          <p:nvPr/>
        </p:nvSpPr>
        <p:spPr>
          <a:xfrm>
            <a:off x="812765" y="1619145"/>
            <a:ext cx="23545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Global universe</a:t>
            </a:r>
            <a:endParaRPr lang="en-US" sz="1300" dirty="0"/>
          </a:p>
        </p:txBody>
      </p:sp>
      <p:sp>
        <p:nvSpPr>
          <p:cNvPr id="5" name="Shape 3"/>
          <p:cNvSpPr/>
          <p:nvPr/>
        </p:nvSpPr>
        <p:spPr>
          <a:xfrm>
            <a:off x="3251150" y="1569647"/>
            <a:ext cx="6984969" cy="330187"/>
          </a:xfrm>
          <a:prstGeom prst="roundRect">
            <a:avLst>
              <a:gd name="adj" fmla="val 11539"/>
            </a:avLst>
          </a:prstGeom>
          <a:solidFill>
            <a:srgbClr val="9FC8B0"/>
          </a:solidFill>
          <a:ln/>
        </p:spPr>
      </p:sp>
      <p:sp>
        <p:nvSpPr>
          <p:cNvPr id="6" name="Text 4"/>
          <p:cNvSpPr/>
          <p:nvPr/>
        </p:nvSpPr>
        <p:spPr>
          <a:xfrm>
            <a:off x="10388510" y="1610268"/>
            <a:ext cx="384051"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9"/>
                </a:solidFill>
                <a:latin typeface="IBM Plex Mono" pitchFamily="49" charset="0"/>
                <a:ea typeface="IBM Plex Mono" pitchFamily="49" charset="-122"/>
                <a:cs typeface="IBM Plex Mono" pitchFamily="49" charset="-120"/>
              </a:rPr>
              <a:t>140</a:t>
            </a:r>
            <a:endParaRPr lang="en-US" sz="1400" dirty="0"/>
          </a:p>
        </p:txBody>
      </p:sp>
      <p:sp>
        <p:nvSpPr>
          <p:cNvPr id="7" name="Text 5"/>
          <p:cNvSpPr/>
          <p:nvPr/>
        </p:nvSpPr>
        <p:spPr>
          <a:xfrm>
            <a:off x="812765" y="2063592"/>
            <a:ext cx="23545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Pass M (theme)</a:t>
            </a:r>
            <a:endParaRPr lang="en-US" sz="1300" dirty="0"/>
          </a:p>
        </p:txBody>
      </p:sp>
      <p:sp>
        <p:nvSpPr>
          <p:cNvPr id="8" name="Shape 6"/>
          <p:cNvSpPr/>
          <p:nvPr/>
        </p:nvSpPr>
        <p:spPr>
          <a:xfrm>
            <a:off x="3251150" y="2014094"/>
            <a:ext cx="6432514" cy="330187"/>
          </a:xfrm>
          <a:prstGeom prst="roundRect">
            <a:avLst>
              <a:gd name="adj" fmla="val 11539"/>
            </a:avLst>
          </a:prstGeom>
          <a:solidFill>
            <a:srgbClr val="9FC8B0"/>
          </a:solidFill>
          <a:ln/>
        </p:spPr>
      </p:sp>
      <p:sp>
        <p:nvSpPr>
          <p:cNvPr id="9" name="Text 7"/>
          <p:cNvSpPr/>
          <p:nvPr/>
        </p:nvSpPr>
        <p:spPr>
          <a:xfrm>
            <a:off x="9836055" y="2054715"/>
            <a:ext cx="384051"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9"/>
                </a:solidFill>
                <a:latin typeface="IBM Plex Mono" pitchFamily="49" charset="0"/>
                <a:ea typeface="IBM Plex Mono" pitchFamily="49" charset="-122"/>
                <a:cs typeface="IBM Plex Mono" pitchFamily="49" charset="-120"/>
              </a:rPr>
              <a:t>129</a:t>
            </a:r>
            <a:endParaRPr lang="en-US" sz="1400" dirty="0"/>
          </a:p>
        </p:txBody>
      </p:sp>
      <p:sp>
        <p:nvSpPr>
          <p:cNvPr id="10" name="Text 8"/>
          <p:cNvSpPr/>
          <p:nvPr/>
        </p:nvSpPr>
        <p:spPr>
          <a:xfrm>
            <a:off x="812765" y="2508036"/>
            <a:ext cx="23545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Not rejected at V</a:t>
            </a:r>
            <a:endParaRPr lang="en-US" sz="1300" dirty="0"/>
          </a:p>
        </p:txBody>
      </p:sp>
      <p:sp>
        <p:nvSpPr>
          <p:cNvPr id="11" name="Shape 9"/>
          <p:cNvSpPr/>
          <p:nvPr/>
        </p:nvSpPr>
        <p:spPr>
          <a:xfrm>
            <a:off x="3251150" y="2458538"/>
            <a:ext cx="4686294" cy="330187"/>
          </a:xfrm>
          <a:prstGeom prst="roundRect">
            <a:avLst>
              <a:gd name="adj" fmla="val 11539"/>
            </a:avLst>
          </a:prstGeom>
          <a:solidFill>
            <a:srgbClr val="9FC8B0"/>
          </a:solidFill>
          <a:ln/>
        </p:spPr>
      </p:sp>
      <p:sp>
        <p:nvSpPr>
          <p:cNvPr id="12" name="Text 10"/>
          <p:cNvSpPr/>
          <p:nvPr/>
        </p:nvSpPr>
        <p:spPr>
          <a:xfrm>
            <a:off x="8089835" y="2499162"/>
            <a:ext cx="26414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9"/>
                </a:solidFill>
                <a:latin typeface="IBM Plex Mono" pitchFamily="49" charset="0"/>
                <a:ea typeface="IBM Plex Mono" pitchFamily="49" charset="-122"/>
                <a:cs typeface="IBM Plex Mono" pitchFamily="49" charset="-120"/>
              </a:rPr>
              <a:t>94</a:t>
            </a:r>
            <a:endParaRPr lang="en-US" sz="1400" dirty="0"/>
          </a:p>
        </p:txBody>
      </p:sp>
      <p:sp>
        <p:nvSpPr>
          <p:cNvPr id="13" name="Text 11"/>
          <p:cNvSpPr/>
          <p:nvPr/>
        </p:nvSpPr>
        <p:spPr>
          <a:xfrm>
            <a:off x="812765" y="2952483"/>
            <a:ext cx="23545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Eligible after V</a:t>
            </a:r>
            <a:endParaRPr lang="en-US" sz="1300" dirty="0"/>
          </a:p>
        </p:txBody>
      </p:sp>
      <p:sp>
        <p:nvSpPr>
          <p:cNvPr id="14" name="Shape 12"/>
          <p:cNvSpPr/>
          <p:nvPr/>
        </p:nvSpPr>
        <p:spPr>
          <a:xfrm>
            <a:off x="3251150" y="2902986"/>
            <a:ext cx="2444726" cy="330187"/>
          </a:xfrm>
          <a:prstGeom prst="roundRect">
            <a:avLst>
              <a:gd name="adj" fmla="val 11539"/>
            </a:avLst>
          </a:prstGeom>
          <a:solidFill>
            <a:srgbClr val="9FC8B0"/>
          </a:solidFill>
          <a:ln/>
        </p:spPr>
      </p:sp>
      <p:sp>
        <p:nvSpPr>
          <p:cNvPr id="15" name="Text 13"/>
          <p:cNvSpPr/>
          <p:nvPr/>
        </p:nvSpPr>
        <p:spPr>
          <a:xfrm>
            <a:off x="5848267" y="2943606"/>
            <a:ext cx="26414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9"/>
                </a:solidFill>
                <a:latin typeface="IBM Plex Mono" pitchFamily="49" charset="0"/>
                <a:ea typeface="IBM Plex Mono" pitchFamily="49" charset="-122"/>
                <a:cs typeface="IBM Plex Mono" pitchFamily="49" charset="-120"/>
              </a:rPr>
              <a:t>49</a:t>
            </a:r>
            <a:endParaRPr lang="en-US" sz="1400" dirty="0"/>
          </a:p>
        </p:txBody>
      </p:sp>
      <p:sp>
        <p:nvSpPr>
          <p:cNvPr id="16" name="Text 14"/>
          <p:cNvSpPr/>
          <p:nvPr/>
        </p:nvSpPr>
        <p:spPr>
          <a:xfrm>
            <a:off x="812765" y="3396931"/>
            <a:ext cx="2354575"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Held after P</a:t>
            </a:r>
            <a:endParaRPr lang="en-US" sz="1300" dirty="0"/>
          </a:p>
        </p:txBody>
      </p:sp>
      <p:sp>
        <p:nvSpPr>
          <p:cNvPr id="17" name="Shape 15"/>
          <p:cNvSpPr/>
          <p:nvPr/>
        </p:nvSpPr>
        <p:spPr>
          <a:xfrm>
            <a:off x="3251150" y="3347430"/>
            <a:ext cx="1543017" cy="330187"/>
          </a:xfrm>
          <a:prstGeom prst="roundRect">
            <a:avLst>
              <a:gd name="adj" fmla="val 11539"/>
            </a:avLst>
          </a:prstGeom>
          <a:solidFill>
            <a:srgbClr val="0F7A45"/>
          </a:solidFill>
          <a:ln/>
        </p:spPr>
      </p:sp>
      <p:sp>
        <p:nvSpPr>
          <p:cNvPr id="18" name="Text 16"/>
          <p:cNvSpPr/>
          <p:nvPr/>
        </p:nvSpPr>
        <p:spPr>
          <a:xfrm>
            <a:off x="4946558" y="3388054"/>
            <a:ext cx="26414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19"/>
                </a:solidFill>
                <a:latin typeface="IBM Plex Mono" pitchFamily="49" charset="0"/>
                <a:ea typeface="IBM Plex Mono" pitchFamily="49" charset="-122"/>
                <a:cs typeface="IBM Plex Mono" pitchFamily="49" charset="-120"/>
              </a:rPr>
              <a:t>31</a:t>
            </a:r>
            <a:endParaRPr lang="en-US" sz="1400" dirty="0"/>
          </a:p>
        </p:txBody>
      </p:sp>
      <p:sp>
        <p:nvSpPr>
          <p:cNvPr id="19" name="Text 17"/>
          <p:cNvSpPr/>
          <p:nvPr/>
        </p:nvSpPr>
        <p:spPr>
          <a:xfrm>
            <a:off x="815940" y="3858589"/>
            <a:ext cx="3431111" cy="899253"/>
          </a:xfrm>
          <a:prstGeom prst="roundRect">
            <a:avLst>
              <a:gd name="adj" fmla="val 8121"/>
            </a:avLst>
          </a:prstGeom>
          <a:solidFill>
            <a:srgbClr val="FBFBF7"/>
          </a:solidFill>
          <a:ln w="6350">
            <a:solidFill>
              <a:srgbClr val="DCE0D9"/>
            </a:solidFill>
            <a:prstDash val="solid"/>
          </a:ln>
        </p:spPr>
        <p:txBody>
          <a:bodyPr wrap="square" lIns="159030" tIns="108233" rIns="66922"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Debt took 32:</a:t>
            </a:r>
            <a:r>
              <a:rPr lang="en-US" sz="1200" dirty="0">
                <a:solidFill>
                  <a:srgbClr val="3D4943"/>
                </a:solidFill>
                <a:latin typeface="IBM Plex Sans" pitchFamily="34" charset="0"/>
                <a:ea typeface="IBM Plex Sans" pitchFamily="34" charset="-122"/>
                <a:cs typeface="IBM Plex Sans" pitchFamily="34" charset="-120"/>
              </a:rPr>
              <a:t> stress tests (Transurban, Fraport, Intel, Vodafone) and leverage far above peers (NextEra, American Tower)</a:t>
            </a:r>
            <a:endParaRPr lang="en-US" sz="1200" dirty="0"/>
          </a:p>
        </p:txBody>
      </p:sp>
      <p:sp>
        <p:nvSpPr>
          <p:cNvPr id="20" name="Text 18"/>
          <p:cNvSpPr/>
          <p:nvPr/>
        </p:nvSpPr>
        <p:spPr>
          <a:xfrm>
            <a:off x="4380386" y="3858589"/>
            <a:ext cx="3431156" cy="899253"/>
          </a:xfrm>
          <a:prstGeom prst="roundRect">
            <a:avLst>
              <a:gd name="adj" fmla="val 8121"/>
            </a:avLst>
          </a:prstGeom>
          <a:solidFill>
            <a:srgbClr val="FBFBF7"/>
          </a:solidFill>
          <a:ln w="6350">
            <a:solidFill>
              <a:srgbClr val="DCE0D9"/>
            </a:solidFill>
            <a:prstDash val="solid"/>
          </a:ln>
        </p:spPr>
        <p:txBody>
          <a:bodyPr wrap="square" lIns="159030" tIns="108233" rIns="66921" bIns="10823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Watchlist on price, 12:</a:t>
            </a:r>
            <a:r>
              <a:rPr lang="en-US" sz="1200" dirty="0">
                <a:solidFill>
                  <a:srgbClr val="3D4943"/>
                </a:solidFill>
                <a:latin typeface="IBM Plex Sans" pitchFamily="34" charset="0"/>
                <a:ea typeface="IBM Plex Sans" pitchFamily="34" charset="-122"/>
                <a:cs typeface="IBM Plex Sans" pitchFamily="34" charset="-120"/>
              </a:rPr>
              <a:t> GE Vernova, Equinix, AMD, Arm, Apollo Hospitals; </a:t>
            </a:r>
            <a:r>
              <a:rPr lang="en-US" sz="1200" b="1" dirty="0">
                <a:solidFill>
                  <a:srgbClr val="3D4943"/>
                </a:solidFill>
                <a:latin typeface="IBM Plex Sans" pitchFamily="34" charset="0"/>
                <a:ea typeface="IBM Plex Sans" pitchFamily="34" charset="-122"/>
                <a:cs typeface="IBM Plex Sans" pitchFamily="34" charset="-120"/>
              </a:rPr>
              <a:t>on merit, 29</a:t>
            </a:r>
            <a:endParaRPr lang="en-US" sz="1200" dirty="0"/>
          </a:p>
        </p:txBody>
      </p:sp>
      <p:sp>
        <p:nvSpPr>
          <p:cNvPr id="21" name="Text 19"/>
          <p:cNvSpPr/>
          <p:nvPr/>
        </p:nvSpPr>
        <p:spPr>
          <a:xfrm>
            <a:off x="7944876" y="3858589"/>
            <a:ext cx="3431111" cy="899253"/>
          </a:xfrm>
          <a:prstGeom prst="roundRect">
            <a:avLst>
              <a:gd name="adj" fmla="val 8121"/>
            </a:avLst>
          </a:prstGeom>
          <a:solidFill>
            <a:srgbClr val="FBFBF7"/>
          </a:solidFill>
          <a:ln w="6350">
            <a:solidFill>
              <a:srgbClr val="DCE0D9"/>
            </a:solidFill>
            <a:prstDash val="solid"/>
          </a:ln>
        </p:spPr>
        <p:txBody>
          <a:bodyPr wrap="square" lIns="159030" tIns="108233" rIns="66922"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Watchlist at P, 18:</a:t>
            </a:r>
            <a:r>
              <a:rPr lang="en-US" sz="1200" dirty="0">
                <a:solidFill>
                  <a:srgbClr val="3D4943"/>
                </a:solidFill>
                <a:latin typeface="IBM Plex Sans" pitchFamily="34" charset="0"/>
                <a:ea typeface="IBM Plex Sans" pitchFamily="34" charset="-122"/>
                <a:cs typeface="IBM Plex Sans" pitchFamily="34" charset="-120"/>
              </a:rPr>
              <a:t> eligible but added too little diversification, e.g. Endesa, TSMC, Veolia, Verizon</a:t>
            </a:r>
            <a:endParaRPr lang="en-US" sz="1200" dirty="0"/>
          </a:p>
        </p:txBody>
      </p:sp>
      <p:sp>
        <p:nvSpPr>
          <p:cNvPr id="22" name="Text 20"/>
          <p:cNvSpPr/>
          <p:nvPr/>
        </p:nvSpPr>
        <p:spPr>
          <a:xfrm>
            <a:off x="812765" y="6314452"/>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Bar lengths are to scale · full decision record for all 140 companies in the supporting proposal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P · POSITION THE RISK</a:t>
            </a:r>
            <a:endParaRPr lang="en-US" sz="1200" dirty="0"/>
          </a:p>
        </p:txBody>
      </p:sp>
      <p:sp>
        <p:nvSpPr>
          <p:cNvPr id="3" name="Text 1"/>
          <p:cNvSpPr/>
          <p:nvPr>
            <p:ph type="title"/>
          </p:nvPr>
        </p:nvSpPr>
        <p:spPr>
          <a:xfrm>
            <a:off x="812765" y="1000708"/>
            <a:ext cx="11379235"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The holdings count and every weight come out of the process</a:t>
            </a:r>
            <a:endParaRPr lang="en-US" sz="2800" dirty="0"/>
          </a:p>
        </p:txBody>
      </p:sp>
      <p:sp>
        <p:nvSpPr>
          <p:cNvPr id="4" name="Text 2"/>
          <p:cNvSpPr/>
          <p:nvPr/>
        </p:nvSpPr>
        <p:spPr>
          <a:xfrm>
            <a:off x="812765" y="1569647"/>
            <a:ext cx="5350153"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Who gets in, in merit order</a:t>
            </a:r>
            <a:endParaRPr lang="en-US" sz="1400" dirty="0"/>
          </a:p>
        </p:txBody>
      </p:sp>
      <p:sp>
        <p:nvSpPr>
          <p:cNvPr id="5" name="Text 3"/>
          <p:cNvSpPr/>
          <p:nvPr/>
        </p:nvSpPr>
        <p:spPr>
          <a:xfrm>
            <a:off x="815940" y="1875067"/>
            <a:ext cx="5187973" cy="685906"/>
          </a:xfrm>
          <a:prstGeom prst="roundRect">
            <a:avLst>
              <a:gd name="adj" fmla="val 10647"/>
            </a:avLst>
          </a:prstGeom>
          <a:solidFill>
            <a:srgbClr val="FBFBF7"/>
          </a:solidFill>
          <a:ln w="6350">
            <a:solidFill>
              <a:srgbClr val="DCE0D9"/>
            </a:solidFill>
            <a:prstDash val="solid"/>
          </a:ln>
        </p:spPr>
        <p:txBody>
          <a:bodyPr wrap="square" lIns="159030" tIns="108233" rIns="14216"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1 · Not a duplicate:</a:t>
            </a:r>
            <a:r>
              <a:rPr lang="en-US" sz="1200" dirty="0">
                <a:solidFill>
                  <a:srgbClr val="3D4943"/>
                </a:solidFill>
                <a:latin typeface="IBM Plex Sans" pitchFamily="34" charset="0"/>
                <a:ea typeface="IBM Plex Sans" pitchFamily="34" charset="-122"/>
                <a:cs typeface="IBM Plex Sans" pitchFamily="34" charset="-120"/>
              </a:rPr>
              <a:t> weekly correlation with a same-type holding at most 0.80</a:t>
            </a:r>
            <a:endParaRPr lang="en-US" sz="1200" dirty="0"/>
          </a:p>
        </p:txBody>
      </p:sp>
      <p:sp>
        <p:nvSpPr>
          <p:cNvPr id="6" name="Text 4"/>
          <p:cNvSpPr/>
          <p:nvPr/>
        </p:nvSpPr>
        <p:spPr>
          <a:xfrm>
            <a:off x="815940" y="2656222"/>
            <a:ext cx="5187973" cy="472560"/>
          </a:xfrm>
          <a:prstGeom prst="roundRect">
            <a:avLst>
              <a:gd name="adj" fmla="val 15453"/>
            </a:avLst>
          </a:prstGeom>
          <a:solidFill>
            <a:srgbClr val="FBFBF7"/>
          </a:solidFill>
          <a:ln w="6350">
            <a:solidFill>
              <a:srgbClr val="DCE0D9"/>
            </a:solidFill>
            <a:prstDash val="solid"/>
          </a:ln>
        </p:spPr>
        <p:txBody>
          <a:bodyPr wrap="square" lIns="159030" tIns="108233" rIns="14216"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2 · A sensible size:</a:t>
            </a:r>
            <a:r>
              <a:rPr lang="en-US" sz="1200" dirty="0">
                <a:solidFill>
                  <a:srgbClr val="3D4943"/>
                </a:solidFill>
                <a:latin typeface="IBM Plex Sans" pitchFamily="34" charset="0"/>
                <a:ea typeface="IBM Plex Sans" pitchFamily="34" charset="-122"/>
                <a:cs typeface="IBM Plex Sans" pitchFamily="34" charset="-120"/>
              </a:rPr>
              <a:t> its risk-based weight is at least 1.0% of the fund</a:t>
            </a:r>
            <a:endParaRPr lang="en-US" sz="1200" dirty="0"/>
          </a:p>
        </p:txBody>
      </p:sp>
      <p:sp>
        <p:nvSpPr>
          <p:cNvPr id="7" name="Text 5"/>
          <p:cNvSpPr/>
          <p:nvPr/>
        </p:nvSpPr>
        <p:spPr>
          <a:xfrm>
            <a:off x="815940" y="3224030"/>
            <a:ext cx="5187973" cy="685906"/>
          </a:xfrm>
          <a:prstGeom prst="roundRect">
            <a:avLst>
              <a:gd name="adj" fmla="val 10647"/>
            </a:avLst>
          </a:prstGeom>
          <a:solidFill>
            <a:srgbClr val="FBFBF7"/>
          </a:solidFill>
          <a:ln w="6350">
            <a:solidFill>
              <a:srgbClr val="DCE0D9"/>
            </a:solidFill>
            <a:prstDash val="solid"/>
          </a:ln>
        </p:spPr>
        <p:txBody>
          <a:bodyPr wrap="square" lIns="159030" tIns="108233" rIns="14216"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3 · Adds diversification:</a:t>
            </a:r>
            <a:r>
              <a:rPr lang="en-US" sz="1200" dirty="0">
                <a:solidFill>
                  <a:srgbClr val="3D4943"/>
                </a:solidFill>
                <a:latin typeface="IBM Plex Sans" pitchFamily="34" charset="0"/>
                <a:ea typeface="IBM Plex Sans" pitchFamily="34" charset="-122"/>
                <a:cs typeface="IBM Plex Sans" pitchFamily="34" charset="-120"/>
              </a:rPr>
              <a:t> raises the diversification ratio by at least 0.5%</a:t>
            </a:r>
            <a:endParaRPr lang="en-US" sz="1200" dirty="0"/>
          </a:p>
        </p:txBody>
      </p:sp>
      <p:sp>
        <p:nvSpPr>
          <p:cNvPr id="8" name="Text 6"/>
          <p:cNvSpPr/>
          <p:nvPr/>
        </p:nvSpPr>
        <p:spPr>
          <a:xfrm>
            <a:off x="812765" y="4002010"/>
            <a:ext cx="5350153"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Result: </a:t>
            </a:r>
            <a:r>
              <a:rPr lang="en-US" sz="1300" b="1" dirty="0">
                <a:solidFill>
                  <a:srgbClr val="142019"/>
                </a:solidFill>
                <a:latin typeface="IBM Plex Sans" pitchFamily="34" charset="0"/>
                <a:ea typeface="IBM Plex Sans" pitchFamily="34" charset="-122"/>
                <a:cs typeface="IBM Plex Sans" pitchFamily="34" charset="-120"/>
              </a:rPr>
              <a:t>31 holdings</a:t>
            </a:r>
            <a:r>
              <a:rPr lang="en-US" sz="1300" dirty="0">
                <a:solidFill>
                  <a:srgbClr val="142019"/>
                </a:solidFill>
                <a:latin typeface="IBM Plex Sans" pitchFamily="34" charset="0"/>
                <a:ea typeface="IBM Plex Sans" pitchFamily="34" charset="-122"/>
                <a:cs typeface="IBM Plex Sans" pitchFamily="34" charset="-120"/>
              </a:rPr>
              <a:t>. No target count was set.</a:t>
            </a:r>
            <a:endParaRPr lang="en-US" sz="1300" dirty="0"/>
          </a:p>
        </p:txBody>
      </p:sp>
      <p:sp>
        <p:nvSpPr>
          <p:cNvPr id="9" name="Text 7"/>
          <p:cNvSpPr/>
          <p:nvPr/>
        </p:nvSpPr>
        <p:spPr>
          <a:xfrm>
            <a:off x="6184884" y="1569647"/>
            <a:ext cx="5350153"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How much: equal risk contribution</a:t>
            </a:r>
            <a:endParaRPr lang="en-US" sz="1400" dirty="0"/>
          </a:p>
        </p:txBody>
      </p:sp>
      <p:sp>
        <p:nvSpPr>
          <p:cNvPr id="10" name="Text 8"/>
          <p:cNvSpPr/>
          <p:nvPr/>
        </p:nvSpPr>
        <p:spPr>
          <a:xfrm>
            <a:off x="6184884" y="1871892"/>
            <a:ext cx="5350153" cy="87878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Each holding is sized to add an equal share of the fund's risk, except where a limit binds (the eight telecoms share the 25% type limit), using only the previous three years of weekly peso returns, re-solved each quarter. Calm businesses get more money; volatile ones less.</a:t>
            </a:r>
            <a:endParaRPr lang="en-US" sz="1200" dirty="0"/>
          </a:p>
        </p:txBody>
      </p:sp>
      <p:sp>
        <p:nvSpPr>
          <p:cNvPr id="11" name="Shape 9"/>
          <p:cNvSpPr/>
          <p:nvPr/>
        </p:nvSpPr>
        <p:spPr>
          <a:xfrm>
            <a:off x="6184884" y="2814179"/>
            <a:ext cx="5194323" cy="2113180"/>
          </a:xfrm>
          <a:prstGeom prst="rect">
            <a:avLst/>
          </a:prstGeom>
          <a:solidFill>
            <a:srgbClr val="FBFBF7"/>
          </a:solidFill>
          <a:ln/>
        </p:spPr>
      </p:sp>
      <p:sp>
        <p:nvSpPr>
          <p:cNvPr id="12" name="Shape 10"/>
          <p:cNvSpPr/>
          <p:nvPr/>
        </p:nvSpPr>
        <p:spPr>
          <a:xfrm>
            <a:off x="11376032" y="2814179"/>
            <a:ext cx="0" cy="2113180"/>
          </a:xfrm>
          <a:prstGeom prst="line">
            <a:avLst/>
          </a:prstGeom>
          <a:noFill/>
          <a:ln w="6350">
            <a:solidFill>
              <a:srgbClr val="DCE0D9"/>
            </a:solidFill>
            <a:prstDash val="solid"/>
          </a:ln>
        </p:spPr>
      </p:sp>
      <p:sp>
        <p:nvSpPr>
          <p:cNvPr id="13" name="Shape 11"/>
          <p:cNvSpPr/>
          <p:nvPr/>
        </p:nvSpPr>
        <p:spPr>
          <a:xfrm>
            <a:off x="6184884" y="4924184"/>
            <a:ext cx="5194323" cy="0"/>
          </a:xfrm>
          <a:prstGeom prst="line">
            <a:avLst/>
          </a:prstGeom>
          <a:noFill/>
          <a:ln w="6350">
            <a:solidFill>
              <a:srgbClr val="DCE0D9"/>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96478" y="2825772"/>
          <a:ext cx="5176933" cy="2095790"/>
        </p:xfrm>
        <a:graphic>
          <a:graphicData uri="http://schemas.openxmlformats.org/drawingml/2006/table">
            <a:tbl>
              <a:tblPr/>
              <a:tblGrid>
                <a:gridCol w="1656618"/>
                <a:gridCol w="2070773"/>
                <a:gridCol w="1449541"/>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Limit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Largest 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Single issuer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 (BSP, regulatory)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5.81%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Company 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 (internal)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Razon 4.80%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Kind of 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 (internal)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Networks 25.00%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Liquidity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5 days at 20% of volume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None binding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Operating, ~3% (illustrative)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5" name="Text 12"/>
          <p:cNvSpPr/>
          <p:nvPr/>
        </p:nvSpPr>
        <p:spPr>
          <a:xfrm>
            <a:off x="6184884" y="5016255"/>
            <a:ext cx="5350153"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No country quotas, no owner/supplier quotas, no fixed reserve. All limits met at all 21 quarterly rebalances.</a:t>
            </a:r>
            <a:endParaRPr lang="en-US" sz="1200" dirty="0"/>
          </a:p>
        </p:txBody>
      </p:sp>
      <p:sp>
        <p:nvSpPr>
          <p:cNvPr id="16" name="Text 13"/>
          <p:cNvSpPr/>
          <p:nvPr/>
        </p:nvSpPr>
        <p:spPr>
          <a:xfrm>
            <a:off x="812765" y="6101107"/>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BSP Circular 1234 (2026), as reproduced by RCBC Trust: 20% single-issuer ceiling for UITFs in exchange-traded equities; above 15% must be that issuer's listed shares · the 20% is a ceiling, not a target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6095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THE PORTFOLIO · SOLVED ON DATA TO 2 OCTOBER 2026</a:t>
            </a:r>
            <a:endParaRPr lang="en-US" sz="1200" dirty="0"/>
          </a:p>
        </p:txBody>
      </p:sp>
      <p:sp>
        <p:nvSpPr>
          <p:cNvPr id="3" name="Text 1"/>
          <p:cNvSpPr/>
          <p:nvPr>
            <p:ph type="title"/>
          </p:nvPr>
        </p:nvSpPr>
        <p:spPr>
          <a:xfrm>
            <a:off x="812765" y="899083"/>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19"/>
                </a:solidFill>
                <a:latin typeface="Source Serif 4" pitchFamily="18" charset="0"/>
                <a:ea typeface="Source Serif 4" pitchFamily="18" charset="-122"/>
                <a:cs typeface="Source Serif 4" pitchFamily="18" charset="-120"/>
              </a:rPr>
              <a:t>31 holdings across eight kinds of capacity, plus 3% operating cash</a:t>
            </a:r>
            <a:endParaRPr lang="en-US" sz="2400" dirty="0"/>
          </a:p>
        </p:txBody>
      </p:sp>
      <p:sp>
        <p:nvSpPr>
          <p:cNvPr id="4" name="Shape 2"/>
          <p:cNvSpPr/>
          <p:nvPr/>
        </p:nvSpPr>
        <p:spPr>
          <a:xfrm>
            <a:off x="815940" y="1364500"/>
            <a:ext cx="5238785" cy="1087194"/>
          </a:xfrm>
          <a:prstGeom prst="roundRect">
            <a:avLst>
              <a:gd name="adj" fmla="val 6717"/>
            </a:avLst>
          </a:prstGeom>
          <a:solidFill>
            <a:srgbClr val="FBFBF7"/>
          </a:solidFill>
          <a:ln w="6350">
            <a:solidFill>
              <a:srgbClr val="DCE0D9"/>
            </a:solidFill>
            <a:prstDash val="solid"/>
          </a:ln>
        </p:spPr>
      </p:sp>
      <p:sp>
        <p:nvSpPr>
          <p:cNvPr id="5" name="Text 3"/>
          <p:cNvSpPr/>
          <p:nvPr/>
        </p:nvSpPr>
        <p:spPr>
          <a:xfrm>
            <a:off x="958227" y="1456023"/>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Digital networks · 25.00%</a:t>
            </a:r>
            <a:endParaRPr lang="en-US" sz="1200" dirty="0"/>
          </a:p>
        </p:txBody>
      </p:sp>
      <p:sp>
        <p:nvSpPr>
          <p:cNvPr id="6" name="Text 4"/>
          <p:cNvSpPr/>
          <p:nvPr/>
        </p:nvSpPr>
        <p:spPr>
          <a:xfrm>
            <a:off x="958227" y="1720137"/>
            <a:ext cx="5102838"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KDDI JP </a:t>
            </a:r>
            <a:r>
              <a:rPr lang="en-US" sz="1200" b="1" dirty="0">
                <a:solidFill>
                  <a:srgbClr val="142019"/>
                </a:solidFill>
                <a:latin typeface="IBM Plex Sans" pitchFamily="34" charset="0"/>
                <a:ea typeface="IBM Plex Sans" pitchFamily="34" charset="-122"/>
                <a:cs typeface="IBM Plex Sans" pitchFamily="34" charset="-120"/>
              </a:rPr>
              <a:t>3.81</a:t>
            </a:r>
            <a:r>
              <a:rPr lang="en-US" sz="1200" dirty="0">
                <a:solidFill>
                  <a:srgbClr val="142019"/>
                </a:solidFill>
                <a:latin typeface="IBM Plex Sans" pitchFamily="34" charset="0"/>
                <a:ea typeface="IBM Plex Sans" pitchFamily="34" charset="-122"/>
                <a:cs typeface="IBM Plex Sans" pitchFamily="34" charset="-120"/>
              </a:rPr>
              <a:t> · AT&amp;T US </a:t>
            </a:r>
            <a:r>
              <a:rPr lang="en-US" sz="1200" b="1" dirty="0">
                <a:solidFill>
                  <a:srgbClr val="142019"/>
                </a:solidFill>
                <a:latin typeface="IBM Plex Sans" pitchFamily="34" charset="0"/>
                <a:ea typeface="IBM Plex Sans" pitchFamily="34" charset="-122"/>
                <a:cs typeface="IBM Plex Sans" pitchFamily="34" charset="-120"/>
              </a:rPr>
              <a:t>3.77</a:t>
            </a:r>
            <a:r>
              <a:rPr lang="en-US" sz="1200" dirty="0">
                <a:solidFill>
                  <a:srgbClr val="142019"/>
                </a:solidFill>
                <a:latin typeface="IBM Plex Sans" pitchFamily="34" charset="0"/>
                <a:ea typeface="IBM Plex Sans" pitchFamily="34" charset="-122"/>
                <a:cs typeface="IBM Plex Sans" pitchFamily="34" charset="-120"/>
              </a:rPr>
              <a:t> · China Telecom HK </a:t>
            </a:r>
            <a:r>
              <a:rPr lang="en-US" sz="1200" b="1" dirty="0">
                <a:solidFill>
                  <a:srgbClr val="142019"/>
                </a:solidFill>
                <a:latin typeface="IBM Plex Sans" pitchFamily="34" charset="0"/>
                <a:ea typeface="IBM Plex Sans" pitchFamily="34" charset="-122"/>
                <a:cs typeface="IBM Plex Sans" pitchFamily="34" charset="-120"/>
              </a:rPr>
              <a:t>3.33</a:t>
            </a:r>
            <a:r>
              <a:rPr lang="en-US" sz="1200" dirty="0">
                <a:solidFill>
                  <a:srgbClr val="142019"/>
                </a:solidFill>
                <a:latin typeface="IBM Plex Sans" pitchFamily="34" charset="0"/>
                <a:ea typeface="IBM Plex Sans" pitchFamily="34" charset="-122"/>
                <a:cs typeface="IBM Plex Sans" pitchFamily="34" charset="-120"/>
              </a:rPr>
              <a:t> · China Mobile HK </a:t>
            </a:r>
            <a:r>
              <a:rPr lang="en-US" sz="1200" b="1" dirty="0">
                <a:solidFill>
                  <a:srgbClr val="142019"/>
                </a:solidFill>
                <a:latin typeface="IBM Plex Sans" pitchFamily="34" charset="0"/>
                <a:ea typeface="IBM Plex Sans" pitchFamily="34" charset="-122"/>
                <a:cs typeface="IBM Plex Sans" pitchFamily="34" charset="-120"/>
              </a:rPr>
              <a:t>3.29</a:t>
            </a:r>
            <a:r>
              <a:rPr lang="en-US" sz="1200" dirty="0">
                <a:solidFill>
                  <a:srgbClr val="142019"/>
                </a:solidFill>
                <a:latin typeface="IBM Plex Sans" pitchFamily="34" charset="0"/>
                <a:ea typeface="IBM Plex Sans" pitchFamily="34" charset="-122"/>
                <a:cs typeface="IBM Plex Sans" pitchFamily="34" charset="-120"/>
              </a:rPr>
              <a:t> · Saudi Telecom SA </a:t>
            </a:r>
            <a:r>
              <a:rPr lang="en-US" sz="1200" b="1" dirty="0">
                <a:solidFill>
                  <a:srgbClr val="142019"/>
                </a:solidFill>
                <a:latin typeface="IBM Plex Sans" pitchFamily="34" charset="0"/>
                <a:ea typeface="IBM Plex Sans" pitchFamily="34" charset="-122"/>
                <a:cs typeface="IBM Plex Sans" pitchFamily="34" charset="-120"/>
              </a:rPr>
              <a:t>2.97</a:t>
            </a:r>
            <a:r>
              <a:rPr lang="en-US" sz="1200" dirty="0">
                <a:solidFill>
                  <a:srgbClr val="142019"/>
                </a:solidFill>
                <a:latin typeface="IBM Plex Sans" pitchFamily="34" charset="0"/>
                <a:ea typeface="IBM Plex Sans" pitchFamily="34" charset="-122"/>
                <a:cs typeface="IBM Plex Sans" pitchFamily="34" charset="-120"/>
              </a:rPr>
              <a:t> · Bharti Airtel IN </a:t>
            </a:r>
            <a:r>
              <a:rPr lang="en-US" sz="1200" b="1" dirty="0">
                <a:solidFill>
                  <a:srgbClr val="142019"/>
                </a:solidFill>
                <a:latin typeface="IBM Plex Sans" pitchFamily="34" charset="0"/>
                <a:ea typeface="IBM Plex Sans" pitchFamily="34" charset="-122"/>
                <a:cs typeface="IBM Plex Sans" pitchFamily="34" charset="-120"/>
              </a:rPr>
              <a:t>2.97</a:t>
            </a:r>
            <a:r>
              <a:rPr lang="en-US" sz="1200" dirty="0">
                <a:solidFill>
                  <a:srgbClr val="142019"/>
                </a:solidFill>
                <a:latin typeface="IBM Plex Sans" pitchFamily="34" charset="0"/>
                <a:ea typeface="IBM Plex Sans" pitchFamily="34" charset="-122"/>
                <a:cs typeface="IBM Plex Sans" pitchFamily="34" charset="-120"/>
              </a:rPr>
              <a:t> · Deutsche Telekom DE </a:t>
            </a:r>
            <a:r>
              <a:rPr lang="en-US" sz="1200" b="1" dirty="0">
                <a:solidFill>
                  <a:srgbClr val="142019"/>
                </a:solidFill>
                <a:latin typeface="IBM Plex Sans" pitchFamily="34" charset="0"/>
                <a:ea typeface="IBM Plex Sans" pitchFamily="34" charset="-122"/>
                <a:cs typeface="IBM Plex Sans" pitchFamily="34" charset="-120"/>
              </a:rPr>
              <a:t>2.85</a:t>
            </a:r>
            <a:r>
              <a:rPr lang="en-US" sz="1200" dirty="0">
                <a:solidFill>
                  <a:srgbClr val="142019"/>
                </a:solidFill>
                <a:latin typeface="IBM Plex Sans" pitchFamily="34" charset="0"/>
                <a:ea typeface="IBM Plex Sans" pitchFamily="34" charset="-122"/>
                <a:cs typeface="IBM Plex Sans" pitchFamily="34" charset="-120"/>
              </a:rPr>
              <a:t> · América Móvil MX </a:t>
            </a:r>
            <a:r>
              <a:rPr lang="en-US" sz="1200" b="1" dirty="0">
                <a:solidFill>
                  <a:srgbClr val="142019"/>
                </a:solidFill>
                <a:latin typeface="IBM Plex Sans" pitchFamily="34" charset="0"/>
                <a:ea typeface="IBM Plex Sans" pitchFamily="34" charset="-122"/>
                <a:cs typeface="IBM Plex Sans" pitchFamily="34" charset="-120"/>
              </a:rPr>
              <a:t>2.01</a:t>
            </a:r>
            <a:endParaRPr lang="en-US" sz="1200" dirty="0"/>
          </a:p>
        </p:txBody>
      </p:sp>
      <p:sp>
        <p:nvSpPr>
          <p:cNvPr id="7" name="Shape 5"/>
          <p:cNvSpPr/>
          <p:nvPr/>
        </p:nvSpPr>
        <p:spPr>
          <a:xfrm>
            <a:off x="6137247" y="1364500"/>
            <a:ext cx="5238785" cy="1087194"/>
          </a:xfrm>
          <a:prstGeom prst="roundRect">
            <a:avLst>
              <a:gd name="adj" fmla="val 6717"/>
            </a:avLst>
          </a:prstGeom>
          <a:solidFill>
            <a:srgbClr val="FBFBF7"/>
          </a:solidFill>
          <a:ln w="6350">
            <a:solidFill>
              <a:srgbClr val="DCE0D9"/>
            </a:solidFill>
            <a:prstDash val="solid"/>
          </a:ln>
        </p:spPr>
      </p:sp>
      <p:sp>
        <p:nvSpPr>
          <p:cNvPr id="8" name="Text 6"/>
          <p:cNvSpPr/>
          <p:nvPr/>
        </p:nvSpPr>
        <p:spPr>
          <a:xfrm>
            <a:off x="6279534" y="1456023"/>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Healthcare facilities · 22.19%</a:t>
            </a:r>
            <a:endParaRPr lang="en-US" sz="1200" dirty="0"/>
          </a:p>
        </p:txBody>
      </p:sp>
      <p:sp>
        <p:nvSpPr>
          <p:cNvPr id="9" name="Text 7"/>
          <p:cNvSpPr/>
          <p:nvPr/>
        </p:nvSpPr>
        <p:spPr>
          <a:xfrm>
            <a:off x="6279534" y="1720137"/>
            <a:ext cx="5102838"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Bangkok Dusit TH </a:t>
            </a:r>
            <a:r>
              <a:rPr lang="en-US" sz="1200" b="1" dirty="0">
                <a:solidFill>
                  <a:srgbClr val="142019"/>
                </a:solidFill>
                <a:latin typeface="IBM Plex Sans" pitchFamily="34" charset="0"/>
                <a:ea typeface="IBM Plex Sans" pitchFamily="34" charset="-122"/>
                <a:cs typeface="IBM Plex Sans" pitchFamily="34" charset="-120"/>
              </a:rPr>
              <a:t>4.49</a:t>
            </a:r>
            <a:r>
              <a:rPr lang="en-US" sz="1200" dirty="0">
                <a:solidFill>
                  <a:srgbClr val="142019"/>
                </a:solidFill>
                <a:latin typeface="IBM Plex Sans" pitchFamily="34" charset="0"/>
                <a:ea typeface="IBM Plex Sans" pitchFamily="34" charset="-122"/>
                <a:cs typeface="IBM Plex Sans" pitchFamily="34" charset="-120"/>
              </a:rPr>
              <a:t> · Sulaiman Al Habib SA </a:t>
            </a:r>
            <a:r>
              <a:rPr lang="en-US" sz="1200" b="1" dirty="0">
                <a:solidFill>
                  <a:srgbClr val="142019"/>
                </a:solidFill>
                <a:latin typeface="IBM Plex Sans" pitchFamily="34" charset="0"/>
                <a:ea typeface="IBM Plex Sans" pitchFamily="34" charset="-122"/>
                <a:cs typeface="IBM Plex Sans" pitchFamily="34" charset="-120"/>
              </a:rPr>
              <a:t>4.41</a:t>
            </a:r>
            <a:r>
              <a:rPr lang="en-US" sz="1200" dirty="0">
                <a:solidFill>
                  <a:srgbClr val="142019"/>
                </a:solidFill>
                <a:latin typeface="IBM Plex Sans" pitchFamily="34" charset="0"/>
                <a:ea typeface="IBM Plex Sans" pitchFamily="34" charset="-122"/>
                <a:cs typeface="IBM Plex Sans" pitchFamily="34" charset="-120"/>
              </a:rPr>
              <a:t> · Encompass US </a:t>
            </a:r>
            <a:r>
              <a:rPr lang="en-US" sz="1200" b="1" dirty="0">
                <a:solidFill>
                  <a:srgbClr val="142019"/>
                </a:solidFill>
                <a:latin typeface="IBM Plex Sans" pitchFamily="34" charset="0"/>
                <a:ea typeface="IBM Plex Sans" pitchFamily="34" charset="-122"/>
                <a:cs typeface="IBM Plex Sans" pitchFamily="34" charset="-120"/>
              </a:rPr>
              <a:t>3.78</a:t>
            </a:r>
            <a:r>
              <a:rPr lang="en-US" sz="1200" dirty="0">
                <a:solidFill>
                  <a:srgbClr val="142019"/>
                </a:solidFill>
                <a:latin typeface="IBM Plex Sans" pitchFamily="34" charset="0"/>
                <a:ea typeface="IBM Plex Sans" pitchFamily="34" charset="-122"/>
                <a:cs typeface="IBM Plex Sans" pitchFamily="34" charset="-120"/>
              </a:rPr>
              <a:t> · Mouwasat SA </a:t>
            </a:r>
            <a:r>
              <a:rPr lang="en-US" sz="1200" b="1" dirty="0">
                <a:solidFill>
                  <a:srgbClr val="142019"/>
                </a:solidFill>
                <a:latin typeface="IBM Plex Sans" pitchFamily="34" charset="0"/>
                <a:ea typeface="IBM Plex Sans" pitchFamily="34" charset="-122"/>
                <a:cs typeface="IBM Plex Sans" pitchFamily="34" charset="-120"/>
              </a:rPr>
              <a:t>3.52</a:t>
            </a:r>
            <a:r>
              <a:rPr lang="en-US" sz="1200" dirty="0">
                <a:solidFill>
                  <a:srgbClr val="142019"/>
                </a:solidFill>
                <a:latin typeface="IBM Plex Sans" pitchFamily="34" charset="0"/>
                <a:ea typeface="IBM Plex Sans" pitchFamily="34" charset="-122"/>
                <a:cs typeface="IBM Plex Sans" pitchFamily="34" charset="-120"/>
              </a:rPr>
              <a:t> · HCA US </a:t>
            </a:r>
            <a:r>
              <a:rPr lang="en-US" sz="1200" b="1" dirty="0">
                <a:solidFill>
                  <a:srgbClr val="142019"/>
                </a:solidFill>
                <a:latin typeface="IBM Plex Sans" pitchFamily="34" charset="0"/>
                <a:ea typeface="IBM Plex Sans" pitchFamily="34" charset="-122"/>
                <a:cs typeface="IBM Plex Sans" pitchFamily="34" charset="-120"/>
              </a:rPr>
              <a:t>3.19</a:t>
            </a:r>
            <a:r>
              <a:rPr lang="en-US" sz="1200" dirty="0">
                <a:solidFill>
                  <a:srgbClr val="142019"/>
                </a:solidFill>
                <a:latin typeface="IBM Plex Sans" pitchFamily="34" charset="0"/>
                <a:ea typeface="IBM Plex Sans" pitchFamily="34" charset="-122"/>
                <a:cs typeface="IBM Plex Sans" pitchFamily="34" charset="-120"/>
              </a:rPr>
              <a:t> · Bumrungrad TH </a:t>
            </a:r>
            <a:r>
              <a:rPr lang="en-US" sz="1200" b="1" dirty="0">
                <a:solidFill>
                  <a:srgbClr val="142019"/>
                </a:solidFill>
                <a:latin typeface="IBM Plex Sans" pitchFamily="34" charset="0"/>
                <a:ea typeface="IBM Plex Sans" pitchFamily="34" charset="-122"/>
                <a:cs typeface="IBM Plex Sans" pitchFamily="34" charset="-120"/>
              </a:rPr>
              <a:t>2.79</a:t>
            </a:r>
            <a:endParaRPr lang="en-US" sz="1200" dirty="0"/>
          </a:p>
        </p:txBody>
      </p:sp>
      <p:sp>
        <p:nvSpPr>
          <p:cNvPr id="10" name="Shape 8"/>
          <p:cNvSpPr/>
          <p:nvPr/>
        </p:nvSpPr>
        <p:spPr>
          <a:xfrm>
            <a:off x="815940" y="2534221"/>
            <a:ext cx="5238785" cy="873847"/>
          </a:xfrm>
          <a:prstGeom prst="roundRect">
            <a:avLst>
              <a:gd name="adj" fmla="val 8357"/>
            </a:avLst>
          </a:prstGeom>
          <a:solidFill>
            <a:srgbClr val="FBFBF7"/>
          </a:solidFill>
          <a:ln w="6350">
            <a:solidFill>
              <a:srgbClr val="DCE0D9"/>
            </a:solidFill>
            <a:prstDash val="solid"/>
          </a:ln>
        </p:spPr>
      </p:sp>
      <p:sp>
        <p:nvSpPr>
          <p:cNvPr id="11" name="Text 9"/>
          <p:cNvSpPr/>
          <p:nvPr/>
        </p:nvSpPr>
        <p:spPr>
          <a:xfrm>
            <a:off x="958227" y="2625737"/>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Power &amp; grids · 19.22%</a:t>
            </a:r>
            <a:endParaRPr lang="en-US" sz="1200" dirty="0"/>
          </a:p>
        </p:txBody>
      </p:sp>
      <p:sp>
        <p:nvSpPr>
          <p:cNvPr id="12" name="Text 10"/>
          <p:cNvSpPr/>
          <p:nvPr/>
        </p:nvSpPr>
        <p:spPr>
          <a:xfrm>
            <a:off x="958227" y="2889852"/>
            <a:ext cx="5102838"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Exelon US </a:t>
            </a:r>
            <a:r>
              <a:rPr lang="en-US" sz="1200" b="1" dirty="0">
                <a:solidFill>
                  <a:srgbClr val="142019"/>
                </a:solidFill>
                <a:latin typeface="IBM Plex Sans" pitchFamily="34" charset="0"/>
                <a:ea typeface="IBM Plex Sans" pitchFamily="34" charset="-122"/>
                <a:cs typeface="IBM Plex Sans" pitchFamily="34" charset="-120"/>
              </a:rPr>
              <a:t>5.81</a:t>
            </a:r>
            <a:r>
              <a:rPr lang="en-US" sz="1200" dirty="0">
                <a:solidFill>
                  <a:srgbClr val="142019"/>
                </a:solidFill>
                <a:latin typeface="IBM Plex Sans" pitchFamily="34" charset="0"/>
                <a:ea typeface="IBM Plex Sans" pitchFamily="34" charset="-122"/>
                <a:cs typeface="IBM Plex Sans" pitchFamily="34" charset="-120"/>
              </a:rPr>
              <a:t> · Engie FR </a:t>
            </a:r>
            <a:r>
              <a:rPr lang="en-US" sz="1200" b="1" dirty="0">
                <a:solidFill>
                  <a:srgbClr val="142019"/>
                </a:solidFill>
                <a:latin typeface="IBM Plex Sans" pitchFamily="34" charset="0"/>
                <a:ea typeface="IBM Plex Sans" pitchFamily="34" charset="-122"/>
                <a:cs typeface="IBM Plex Sans" pitchFamily="34" charset="-120"/>
              </a:rPr>
              <a:t>4.57</a:t>
            </a:r>
            <a:r>
              <a:rPr lang="en-US" sz="1200" dirty="0">
                <a:solidFill>
                  <a:srgbClr val="142019"/>
                </a:solidFill>
                <a:latin typeface="IBM Plex Sans" pitchFamily="34" charset="0"/>
                <a:ea typeface="IBM Plex Sans" pitchFamily="34" charset="-122"/>
                <a:cs typeface="IBM Plex Sans" pitchFamily="34" charset="-120"/>
              </a:rPr>
              <a:t> · E.ON DE </a:t>
            </a:r>
            <a:r>
              <a:rPr lang="en-US" sz="1200" b="1" dirty="0">
                <a:solidFill>
                  <a:srgbClr val="142019"/>
                </a:solidFill>
                <a:latin typeface="IBM Plex Sans" pitchFamily="34" charset="0"/>
                <a:ea typeface="IBM Plex Sans" pitchFamily="34" charset="-122"/>
                <a:cs typeface="IBM Plex Sans" pitchFamily="34" charset="-120"/>
              </a:rPr>
              <a:t>4.48</a:t>
            </a:r>
            <a:r>
              <a:rPr lang="en-US" sz="1200" dirty="0">
                <a:solidFill>
                  <a:srgbClr val="142019"/>
                </a:solidFill>
                <a:latin typeface="IBM Plex Sans" pitchFamily="34" charset="0"/>
                <a:ea typeface="IBM Plex Sans" pitchFamily="34" charset="-122"/>
                <a:cs typeface="IBM Plex Sans" pitchFamily="34" charset="-120"/>
              </a:rPr>
              <a:t> · Enel IT </a:t>
            </a:r>
            <a:r>
              <a:rPr lang="en-US" sz="1200" b="1" dirty="0">
                <a:solidFill>
                  <a:srgbClr val="142019"/>
                </a:solidFill>
                <a:latin typeface="IBM Plex Sans" pitchFamily="34" charset="0"/>
                <a:ea typeface="IBM Plex Sans" pitchFamily="34" charset="-122"/>
                <a:cs typeface="IBM Plex Sans" pitchFamily="34" charset="-120"/>
              </a:rPr>
              <a:t>2.98</a:t>
            </a:r>
            <a:r>
              <a:rPr lang="en-US" sz="1200" dirty="0">
                <a:solidFill>
                  <a:srgbClr val="142019"/>
                </a:solidFill>
                <a:latin typeface="IBM Plex Sans" pitchFamily="34" charset="0"/>
                <a:ea typeface="IBM Plex Sans" pitchFamily="34" charset="-122"/>
                <a:cs typeface="IBM Plex Sans" pitchFamily="34" charset="-120"/>
              </a:rPr>
              <a:t> · Vistra US </a:t>
            </a:r>
            <a:r>
              <a:rPr lang="en-US" sz="1200" b="1" dirty="0">
                <a:solidFill>
                  <a:srgbClr val="142019"/>
                </a:solidFill>
                <a:latin typeface="IBM Plex Sans" pitchFamily="34" charset="0"/>
                <a:ea typeface="IBM Plex Sans" pitchFamily="34" charset="-122"/>
                <a:cs typeface="IBM Plex Sans" pitchFamily="34" charset="-120"/>
              </a:rPr>
              <a:t>1.38</a:t>
            </a:r>
            <a:endParaRPr lang="en-US" sz="1200" dirty="0"/>
          </a:p>
        </p:txBody>
      </p:sp>
      <p:sp>
        <p:nvSpPr>
          <p:cNvPr id="13" name="Shape 11"/>
          <p:cNvSpPr/>
          <p:nvPr/>
        </p:nvSpPr>
        <p:spPr>
          <a:xfrm>
            <a:off x="6137247" y="2534221"/>
            <a:ext cx="5238785" cy="873847"/>
          </a:xfrm>
          <a:prstGeom prst="roundRect">
            <a:avLst>
              <a:gd name="adj" fmla="val 8357"/>
            </a:avLst>
          </a:prstGeom>
          <a:solidFill>
            <a:srgbClr val="FBFBF7"/>
          </a:solidFill>
          <a:ln w="6350">
            <a:solidFill>
              <a:srgbClr val="DCE0D9"/>
            </a:solidFill>
            <a:prstDash val="solid"/>
          </a:ln>
        </p:spPr>
      </p:sp>
      <p:sp>
        <p:nvSpPr>
          <p:cNvPr id="14" name="Text 12"/>
          <p:cNvSpPr/>
          <p:nvPr/>
        </p:nvSpPr>
        <p:spPr>
          <a:xfrm>
            <a:off x="6279534" y="2625737"/>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Ports · 10.04%</a:t>
            </a:r>
            <a:endParaRPr lang="en-US" sz="1200" dirty="0"/>
          </a:p>
        </p:txBody>
      </p:sp>
      <p:sp>
        <p:nvSpPr>
          <p:cNvPr id="15" name="Text 13"/>
          <p:cNvSpPr/>
          <p:nvPr/>
        </p:nvSpPr>
        <p:spPr>
          <a:xfrm>
            <a:off x="6279534" y="2889852"/>
            <a:ext cx="510283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Westports MY </a:t>
            </a:r>
            <a:r>
              <a:rPr lang="en-US" sz="1200" b="1" dirty="0">
                <a:solidFill>
                  <a:srgbClr val="142019"/>
                </a:solidFill>
                <a:latin typeface="IBM Plex Sans" pitchFamily="34" charset="0"/>
                <a:ea typeface="IBM Plex Sans" pitchFamily="34" charset="-122"/>
                <a:cs typeface="IBM Plex Sans" pitchFamily="34" charset="-120"/>
              </a:rPr>
              <a:t>5.23</a:t>
            </a:r>
            <a:r>
              <a:rPr lang="en-US" sz="1200" dirty="0">
                <a:solidFill>
                  <a:srgbClr val="142019"/>
                </a:solidFill>
                <a:latin typeface="IBM Plex Sans" pitchFamily="34" charset="0"/>
                <a:ea typeface="IBM Plex Sans" pitchFamily="34" charset="-122"/>
                <a:cs typeface="IBM Plex Sans" pitchFamily="34" charset="-120"/>
              </a:rPr>
              <a:t> · ICTSI PH </a:t>
            </a:r>
            <a:r>
              <a:rPr lang="en-US" sz="1200" b="1" dirty="0">
                <a:solidFill>
                  <a:srgbClr val="142019"/>
                </a:solidFill>
                <a:latin typeface="IBM Plex Sans" pitchFamily="34" charset="0"/>
                <a:ea typeface="IBM Plex Sans" pitchFamily="34" charset="-122"/>
                <a:cs typeface="IBM Plex Sans" pitchFamily="34" charset="-120"/>
              </a:rPr>
              <a:t>4.80</a:t>
            </a:r>
            <a:endParaRPr lang="en-US" sz="1200" dirty="0"/>
          </a:p>
        </p:txBody>
      </p:sp>
      <p:sp>
        <p:nvSpPr>
          <p:cNvPr id="16" name="Shape 14"/>
          <p:cNvSpPr/>
          <p:nvPr/>
        </p:nvSpPr>
        <p:spPr>
          <a:xfrm>
            <a:off x="815940" y="3490590"/>
            <a:ext cx="5238785" cy="873847"/>
          </a:xfrm>
          <a:prstGeom prst="roundRect">
            <a:avLst>
              <a:gd name="adj" fmla="val 8357"/>
            </a:avLst>
          </a:prstGeom>
          <a:solidFill>
            <a:srgbClr val="FBFBF7"/>
          </a:solidFill>
          <a:ln w="6350">
            <a:solidFill>
              <a:srgbClr val="DCE0D9"/>
            </a:solidFill>
            <a:prstDash val="solid"/>
          </a:ln>
        </p:spPr>
      </p:sp>
      <p:sp>
        <p:nvSpPr>
          <p:cNvPr id="17" name="Text 15"/>
          <p:cNvSpPr/>
          <p:nvPr/>
        </p:nvSpPr>
        <p:spPr>
          <a:xfrm>
            <a:off x="958227" y="3582107"/>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Semiconductors · 8.13%</a:t>
            </a:r>
            <a:endParaRPr lang="en-US" sz="1200" dirty="0"/>
          </a:p>
        </p:txBody>
      </p:sp>
      <p:sp>
        <p:nvSpPr>
          <p:cNvPr id="18" name="Text 16"/>
          <p:cNvSpPr/>
          <p:nvPr/>
        </p:nvSpPr>
        <p:spPr>
          <a:xfrm>
            <a:off x="958227" y="3846221"/>
            <a:ext cx="5102838"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Qualcomm US </a:t>
            </a:r>
            <a:r>
              <a:rPr lang="en-US" sz="1200" b="1" dirty="0">
                <a:solidFill>
                  <a:srgbClr val="142019"/>
                </a:solidFill>
                <a:latin typeface="IBM Plex Sans" pitchFamily="34" charset="0"/>
                <a:ea typeface="IBM Plex Sans" pitchFamily="34" charset="-122"/>
                <a:cs typeface="IBM Plex Sans" pitchFamily="34" charset="-120"/>
              </a:rPr>
              <a:t>2.27</a:t>
            </a:r>
            <a:r>
              <a:rPr lang="en-US" sz="1200" dirty="0">
                <a:solidFill>
                  <a:srgbClr val="142019"/>
                </a:solidFill>
                <a:latin typeface="IBM Plex Sans" pitchFamily="34" charset="0"/>
                <a:ea typeface="IBM Plex Sans" pitchFamily="34" charset="-122"/>
                <a:cs typeface="IBM Plex Sans" pitchFamily="34" charset="-120"/>
              </a:rPr>
              <a:t> · Advantest JP </a:t>
            </a:r>
            <a:r>
              <a:rPr lang="en-US" sz="1200" b="1" dirty="0">
                <a:solidFill>
                  <a:srgbClr val="142019"/>
                </a:solidFill>
                <a:latin typeface="IBM Plex Sans" pitchFamily="34" charset="0"/>
                <a:ea typeface="IBM Plex Sans" pitchFamily="34" charset="-122"/>
                <a:cs typeface="IBM Plex Sans" pitchFamily="34" charset="-120"/>
              </a:rPr>
              <a:t>1.74</a:t>
            </a:r>
            <a:r>
              <a:rPr lang="en-US" sz="1200" dirty="0">
                <a:solidFill>
                  <a:srgbClr val="142019"/>
                </a:solidFill>
                <a:latin typeface="IBM Plex Sans" pitchFamily="34" charset="0"/>
                <a:ea typeface="IBM Plex Sans" pitchFamily="34" charset="-122"/>
                <a:cs typeface="IBM Plex Sans" pitchFamily="34" charset="-120"/>
              </a:rPr>
              <a:t> · NVIDIA US </a:t>
            </a:r>
            <a:r>
              <a:rPr lang="en-US" sz="1200" b="1" dirty="0">
                <a:solidFill>
                  <a:srgbClr val="142019"/>
                </a:solidFill>
                <a:latin typeface="IBM Plex Sans" pitchFamily="34" charset="0"/>
                <a:ea typeface="IBM Plex Sans" pitchFamily="34" charset="-122"/>
                <a:cs typeface="IBM Plex Sans" pitchFamily="34" charset="-120"/>
              </a:rPr>
              <a:t>1.64</a:t>
            </a:r>
            <a:r>
              <a:rPr lang="en-US" sz="1200" dirty="0">
                <a:solidFill>
                  <a:srgbClr val="142019"/>
                </a:solidFill>
                <a:latin typeface="IBM Plex Sans" pitchFamily="34" charset="0"/>
                <a:ea typeface="IBM Plex Sans" pitchFamily="34" charset="-122"/>
                <a:cs typeface="IBM Plex Sans" pitchFamily="34" charset="-120"/>
              </a:rPr>
              <a:t> · SK hynix KR </a:t>
            </a:r>
            <a:r>
              <a:rPr lang="en-US" sz="1200" b="1" dirty="0">
                <a:solidFill>
                  <a:srgbClr val="142019"/>
                </a:solidFill>
                <a:latin typeface="IBM Plex Sans" pitchFamily="34" charset="0"/>
                <a:ea typeface="IBM Plex Sans" pitchFamily="34" charset="-122"/>
                <a:cs typeface="IBM Plex Sans" pitchFamily="34" charset="-120"/>
              </a:rPr>
              <a:t>1.37</a:t>
            </a:r>
            <a:r>
              <a:rPr lang="en-US" sz="1200" dirty="0">
                <a:solidFill>
                  <a:srgbClr val="142019"/>
                </a:solidFill>
                <a:latin typeface="IBM Plex Sans" pitchFamily="34" charset="0"/>
                <a:ea typeface="IBM Plex Sans" pitchFamily="34" charset="-122"/>
                <a:cs typeface="IBM Plex Sans" pitchFamily="34" charset="-120"/>
              </a:rPr>
              <a:t> · Micron US </a:t>
            </a:r>
            <a:r>
              <a:rPr lang="en-US" sz="1200" b="1" dirty="0">
                <a:solidFill>
                  <a:srgbClr val="142019"/>
                </a:solidFill>
                <a:latin typeface="IBM Plex Sans" pitchFamily="34" charset="0"/>
                <a:ea typeface="IBM Plex Sans" pitchFamily="34" charset="-122"/>
                <a:cs typeface="IBM Plex Sans" pitchFamily="34" charset="-120"/>
              </a:rPr>
              <a:t>1.12</a:t>
            </a:r>
            <a:endParaRPr lang="en-US" sz="1200" dirty="0"/>
          </a:p>
        </p:txBody>
      </p:sp>
      <p:sp>
        <p:nvSpPr>
          <p:cNvPr id="19" name="Shape 17"/>
          <p:cNvSpPr/>
          <p:nvPr/>
        </p:nvSpPr>
        <p:spPr>
          <a:xfrm>
            <a:off x="6137247" y="3490590"/>
            <a:ext cx="5238785" cy="873847"/>
          </a:xfrm>
          <a:prstGeom prst="roundRect">
            <a:avLst>
              <a:gd name="adj" fmla="val 8357"/>
            </a:avLst>
          </a:prstGeom>
          <a:solidFill>
            <a:srgbClr val="FBFBF7"/>
          </a:solidFill>
          <a:ln w="6350">
            <a:solidFill>
              <a:srgbClr val="DCE0D9"/>
            </a:solidFill>
            <a:prstDash val="solid"/>
          </a:ln>
        </p:spPr>
      </p:sp>
      <p:sp>
        <p:nvSpPr>
          <p:cNvPr id="20" name="Text 18"/>
          <p:cNvSpPr/>
          <p:nvPr/>
        </p:nvSpPr>
        <p:spPr>
          <a:xfrm>
            <a:off x="6279534" y="3582107"/>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Water · 7.68%</a:t>
            </a:r>
            <a:endParaRPr lang="en-US" sz="1200" dirty="0"/>
          </a:p>
        </p:txBody>
      </p:sp>
      <p:sp>
        <p:nvSpPr>
          <p:cNvPr id="21" name="Text 19"/>
          <p:cNvSpPr/>
          <p:nvPr/>
        </p:nvSpPr>
        <p:spPr>
          <a:xfrm>
            <a:off x="6279534" y="3846221"/>
            <a:ext cx="510283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Guangdong Inv. HK </a:t>
            </a:r>
            <a:r>
              <a:rPr lang="en-US" sz="1200" b="1" dirty="0">
                <a:solidFill>
                  <a:srgbClr val="142019"/>
                </a:solidFill>
                <a:latin typeface="IBM Plex Sans" pitchFamily="34" charset="0"/>
                <a:ea typeface="IBM Plex Sans" pitchFamily="34" charset="-122"/>
                <a:cs typeface="IBM Plex Sans" pitchFamily="34" charset="-120"/>
              </a:rPr>
              <a:t>4.36</a:t>
            </a:r>
            <a:r>
              <a:rPr lang="en-US" sz="1200" dirty="0">
                <a:solidFill>
                  <a:srgbClr val="142019"/>
                </a:solidFill>
                <a:latin typeface="IBM Plex Sans" pitchFamily="34" charset="0"/>
                <a:ea typeface="IBM Plex Sans" pitchFamily="34" charset="-122"/>
                <a:cs typeface="IBM Plex Sans" pitchFamily="34" charset="-120"/>
              </a:rPr>
              <a:t> · Sabesp BR </a:t>
            </a:r>
            <a:r>
              <a:rPr lang="en-US" sz="1200" b="1" dirty="0">
                <a:solidFill>
                  <a:srgbClr val="142019"/>
                </a:solidFill>
                <a:latin typeface="IBM Plex Sans" pitchFamily="34" charset="0"/>
                <a:ea typeface="IBM Plex Sans" pitchFamily="34" charset="-122"/>
                <a:cs typeface="IBM Plex Sans" pitchFamily="34" charset="-120"/>
              </a:rPr>
              <a:t>3.31</a:t>
            </a:r>
            <a:endParaRPr lang="en-US" sz="1200" dirty="0"/>
          </a:p>
        </p:txBody>
      </p:sp>
      <p:sp>
        <p:nvSpPr>
          <p:cNvPr id="22" name="Shape 20"/>
          <p:cNvSpPr/>
          <p:nvPr/>
        </p:nvSpPr>
        <p:spPr>
          <a:xfrm>
            <a:off x="815940" y="4446960"/>
            <a:ext cx="5238785" cy="660500"/>
          </a:xfrm>
          <a:prstGeom prst="roundRect">
            <a:avLst>
              <a:gd name="adj" fmla="val 11056"/>
            </a:avLst>
          </a:prstGeom>
          <a:solidFill>
            <a:srgbClr val="FBFBF7"/>
          </a:solidFill>
          <a:ln w="6350">
            <a:solidFill>
              <a:srgbClr val="DCE0D9"/>
            </a:solidFill>
            <a:prstDash val="solid"/>
          </a:ln>
        </p:spPr>
      </p:sp>
      <p:sp>
        <p:nvSpPr>
          <p:cNvPr id="23" name="Text 21"/>
          <p:cNvSpPr/>
          <p:nvPr/>
        </p:nvSpPr>
        <p:spPr>
          <a:xfrm>
            <a:off x="958227" y="4538476"/>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Grid &amp; power equipment · 2.76%</a:t>
            </a:r>
            <a:endParaRPr lang="en-US" sz="1200" dirty="0"/>
          </a:p>
        </p:txBody>
      </p:sp>
      <p:sp>
        <p:nvSpPr>
          <p:cNvPr id="24" name="Text 22"/>
          <p:cNvSpPr/>
          <p:nvPr/>
        </p:nvSpPr>
        <p:spPr>
          <a:xfrm>
            <a:off x="958227" y="4802591"/>
            <a:ext cx="510283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HD Hyundai Elec. KR </a:t>
            </a:r>
            <a:r>
              <a:rPr lang="en-US" sz="1200" b="1" dirty="0">
                <a:solidFill>
                  <a:srgbClr val="142019"/>
                </a:solidFill>
                <a:latin typeface="IBM Plex Sans" pitchFamily="34" charset="0"/>
                <a:ea typeface="IBM Plex Sans" pitchFamily="34" charset="-122"/>
                <a:cs typeface="IBM Plex Sans" pitchFamily="34" charset="-120"/>
              </a:rPr>
              <a:t>1.65</a:t>
            </a:r>
            <a:r>
              <a:rPr lang="en-US" sz="1200" dirty="0">
                <a:solidFill>
                  <a:srgbClr val="142019"/>
                </a:solidFill>
                <a:latin typeface="IBM Plex Sans" pitchFamily="34" charset="0"/>
                <a:ea typeface="IBM Plex Sans" pitchFamily="34" charset="-122"/>
                <a:cs typeface="IBM Plex Sans" pitchFamily="34" charset="-120"/>
              </a:rPr>
              <a:t> · Siemens Energy DE </a:t>
            </a:r>
            <a:r>
              <a:rPr lang="en-US" sz="1200" b="1" dirty="0">
                <a:solidFill>
                  <a:srgbClr val="142019"/>
                </a:solidFill>
                <a:latin typeface="IBM Plex Sans" pitchFamily="34" charset="0"/>
                <a:ea typeface="IBM Plex Sans" pitchFamily="34" charset="-122"/>
                <a:cs typeface="IBM Plex Sans" pitchFamily="34" charset="-120"/>
              </a:rPr>
              <a:t>1.11</a:t>
            </a:r>
            <a:endParaRPr lang="en-US" sz="1200" dirty="0"/>
          </a:p>
        </p:txBody>
      </p:sp>
      <p:sp>
        <p:nvSpPr>
          <p:cNvPr id="25" name="Shape 23"/>
          <p:cNvSpPr/>
          <p:nvPr/>
        </p:nvSpPr>
        <p:spPr>
          <a:xfrm>
            <a:off x="6137247" y="4446960"/>
            <a:ext cx="5238785" cy="660500"/>
          </a:xfrm>
          <a:prstGeom prst="roundRect">
            <a:avLst>
              <a:gd name="adj" fmla="val 11056"/>
            </a:avLst>
          </a:prstGeom>
          <a:solidFill>
            <a:srgbClr val="FBFBF7"/>
          </a:solidFill>
          <a:ln w="6350">
            <a:solidFill>
              <a:srgbClr val="DCE0D9"/>
            </a:solidFill>
            <a:prstDash val="solid"/>
          </a:ln>
        </p:spPr>
      </p:sp>
      <p:sp>
        <p:nvSpPr>
          <p:cNvPr id="26" name="Text 24"/>
          <p:cNvSpPr/>
          <p:nvPr/>
        </p:nvSpPr>
        <p:spPr>
          <a:xfrm>
            <a:off x="6279534" y="4538476"/>
            <a:ext cx="5102838"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Airports &amp; toll roads · 1.98%</a:t>
            </a:r>
            <a:endParaRPr lang="en-US" sz="1200" dirty="0"/>
          </a:p>
        </p:txBody>
      </p:sp>
      <p:sp>
        <p:nvSpPr>
          <p:cNvPr id="27" name="Text 25"/>
          <p:cNvSpPr/>
          <p:nvPr/>
        </p:nvSpPr>
        <p:spPr>
          <a:xfrm>
            <a:off x="6279534" y="4802591"/>
            <a:ext cx="510283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OMA MX </a:t>
            </a:r>
            <a:r>
              <a:rPr lang="en-US" sz="1200" b="1" dirty="0">
                <a:solidFill>
                  <a:srgbClr val="142019"/>
                </a:solidFill>
                <a:latin typeface="IBM Plex Sans" pitchFamily="34" charset="0"/>
                <a:ea typeface="IBM Plex Sans" pitchFamily="34" charset="-122"/>
                <a:cs typeface="IBM Plex Sans" pitchFamily="34" charset="-120"/>
              </a:rPr>
              <a:t>1.98</a:t>
            </a:r>
            <a:endParaRPr lang="en-US" sz="1200" dirty="0"/>
          </a:p>
        </p:txBody>
      </p:sp>
      <p:sp>
        <p:nvSpPr>
          <p:cNvPr id="28" name="Text 26"/>
          <p:cNvSpPr/>
          <p:nvPr/>
        </p:nvSpPr>
        <p:spPr>
          <a:xfrm>
            <a:off x="812765" y="6314449"/>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Weights in % of the fund · who is held came from V and P's inclusion tests; how much came from the risk model, not from rank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634969"/>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HOLDING EXAMPLE 1 · ICTSI · PHILIPPINES · 4.80%</a:t>
            </a:r>
            <a:endParaRPr lang="en-US" sz="1200" dirty="0"/>
          </a:p>
        </p:txBody>
      </p:sp>
      <p:sp>
        <p:nvSpPr>
          <p:cNvPr id="3" name="Text 1"/>
          <p:cNvSpPr/>
          <p:nvPr>
            <p:ph type="title"/>
          </p:nvPr>
        </p:nvSpPr>
        <p:spPr>
          <a:xfrm>
            <a:off x="812765" y="924483"/>
            <a:ext cx="10883436" cy="751803"/>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019"/>
                </a:solidFill>
                <a:latin typeface="Source Serif 4" pitchFamily="18" charset="0"/>
                <a:ea typeface="Source Serif 4" pitchFamily="18" charset="-122"/>
                <a:cs typeface="Source Serif 4" pitchFamily="18" charset="-120"/>
              </a:rPr>
              <a:t>A Filipino company that earned its place against every port operator in the world</a:t>
            </a:r>
            <a:endParaRPr lang="en-US" sz="2600" dirty="0"/>
          </a:p>
        </p:txBody>
      </p:sp>
      <p:sp>
        <p:nvSpPr>
          <p:cNvPr id="4" name="Shape 2"/>
          <p:cNvSpPr/>
          <p:nvPr/>
        </p:nvSpPr>
        <p:spPr>
          <a:xfrm>
            <a:off x="812765" y="1755645"/>
            <a:ext cx="10566443" cy="0"/>
          </a:xfrm>
          <a:prstGeom prst="line">
            <a:avLst/>
          </a:prstGeom>
          <a:noFill/>
          <a:ln w="6350">
            <a:solidFill>
              <a:srgbClr val="DCE0D9"/>
            </a:solidFill>
            <a:prstDash val="solid"/>
          </a:ln>
        </p:spPr>
      </p:sp>
      <p:sp>
        <p:nvSpPr>
          <p:cNvPr id="5" name="Text 3"/>
          <p:cNvSpPr/>
          <p:nvPr/>
        </p:nvSpPr>
        <p:spPr>
          <a:xfrm>
            <a:off x="812765" y="1847162"/>
            <a:ext cx="2158337" cy="87878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Theme &amp; milestone</a:t>
            </a:r>
            <a:endParaRPr lang="en-US" sz="1200" dirty="0"/>
          </a:p>
        </p:txBody>
      </p:sp>
      <p:sp>
        <p:nvSpPr>
          <p:cNvPr id="6" name="Text 4"/>
          <p:cNvSpPr/>
          <p:nvPr/>
        </p:nvSpPr>
        <p:spPr>
          <a:xfrm>
            <a:off x="3060628" y="1847162"/>
            <a:ext cx="8568136" cy="87878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Global container-port operator; home base Manila International Container Terminal. Hard to replace: Multi-decade port concessions; MICT renewed for another 25 years in 2026. Earns: Handling fees under long concessions in emerging markets. Supporting evidence: US$300M to expand MICT, South Luzon and Mindanao terminals by 2028. </a:t>
            </a:r>
            <a:r>
              <a:rPr lang="en-US" sz="1200" i="1" dirty="0">
                <a:solidFill>
                  <a:srgbClr val="142019"/>
                </a:solidFill>
                <a:latin typeface="IBM Plex Sans" pitchFamily="34" charset="0"/>
                <a:ea typeface="IBM Plex Sans" pitchFamily="34" charset="-122"/>
                <a:cs typeface="IBM Plex Sans" pitchFamily="34" charset="-120"/>
              </a:rPr>
              <a:t>Story: First business: goods coming in and going out.</a:t>
            </a:r>
            <a:endParaRPr lang="en-US" sz="1200" dirty="0"/>
          </a:p>
        </p:txBody>
      </p:sp>
      <p:sp>
        <p:nvSpPr>
          <p:cNvPr id="7" name="Shape 5"/>
          <p:cNvSpPr/>
          <p:nvPr/>
        </p:nvSpPr>
        <p:spPr>
          <a:xfrm>
            <a:off x="812765" y="2792623"/>
            <a:ext cx="10566443" cy="0"/>
          </a:xfrm>
          <a:prstGeom prst="line">
            <a:avLst/>
          </a:prstGeom>
          <a:noFill/>
          <a:ln w="6350">
            <a:solidFill>
              <a:srgbClr val="DCE0D9"/>
            </a:solidFill>
            <a:prstDash val="solid"/>
          </a:ln>
        </p:spPr>
      </p:sp>
      <p:sp>
        <p:nvSpPr>
          <p:cNvPr id="8" name="Text 6"/>
          <p:cNvSpPr/>
          <p:nvPr/>
        </p:nvSpPr>
        <p:spPr>
          <a:xfrm>
            <a:off x="812765" y="2884140"/>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Fundamentals &amp; valuation</a:t>
            </a:r>
            <a:endParaRPr lang="en-US" sz="1200" dirty="0"/>
          </a:p>
        </p:txBody>
      </p:sp>
      <p:sp>
        <p:nvSpPr>
          <p:cNvPr id="9" name="Text 7"/>
          <p:cNvSpPr/>
          <p:nvPr/>
        </p:nvSpPr>
        <p:spPr>
          <a:xfrm>
            <a:off x="3060628" y="2884140"/>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EV/EBITDA 14.8× (peer median 13.0×) · cash yield 5.0% (median 5.0%) · ROIC − WACC +13.9 pts (median +4.5) · merit #2 of 5 · net debt 2.18× EBITDA; interest cover 5.6× after a 30% EBITDA shock</a:t>
            </a:r>
            <a:endParaRPr lang="en-US" sz="1200" dirty="0"/>
          </a:p>
        </p:txBody>
      </p:sp>
      <p:sp>
        <p:nvSpPr>
          <p:cNvPr id="10" name="Shape 8"/>
          <p:cNvSpPr/>
          <p:nvPr/>
        </p:nvSpPr>
        <p:spPr>
          <a:xfrm>
            <a:off x="812765" y="3402912"/>
            <a:ext cx="10566443" cy="0"/>
          </a:xfrm>
          <a:prstGeom prst="line">
            <a:avLst/>
          </a:prstGeom>
          <a:noFill/>
          <a:ln w="6350">
            <a:solidFill>
              <a:srgbClr val="DCE0D9"/>
            </a:solidFill>
            <a:prstDash val="solid"/>
          </a:ln>
        </p:spPr>
      </p:sp>
      <p:sp>
        <p:nvSpPr>
          <p:cNvPr id="11" name="Text 9"/>
          <p:cNvSpPr/>
          <p:nvPr/>
        </p:nvSpPr>
        <p:spPr>
          <a:xfrm>
            <a:off x="812765" y="3494429"/>
            <a:ext cx="2158337"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Key risks</a:t>
            </a:r>
            <a:endParaRPr lang="en-US" sz="1200" dirty="0"/>
          </a:p>
        </p:txBody>
      </p:sp>
      <p:sp>
        <p:nvSpPr>
          <p:cNvPr id="12" name="Text 10"/>
          <p:cNvSpPr/>
          <p:nvPr/>
        </p:nvSpPr>
        <p:spPr>
          <a:xfrm>
            <a:off x="3060628" y="3494429"/>
            <a:ext cx="856813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Emerging-market concession, currency and political risk</a:t>
            </a:r>
            <a:endParaRPr lang="en-US" sz="1200" dirty="0"/>
          </a:p>
        </p:txBody>
      </p:sp>
      <p:sp>
        <p:nvSpPr>
          <p:cNvPr id="13" name="Shape 11"/>
          <p:cNvSpPr/>
          <p:nvPr/>
        </p:nvSpPr>
        <p:spPr>
          <a:xfrm>
            <a:off x="812765" y="3799849"/>
            <a:ext cx="10566443" cy="0"/>
          </a:xfrm>
          <a:prstGeom prst="line">
            <a:avLst/>
          </a:prstGeom>
          <a:noFill/>
          <a:ln w="6350">
            <a:solidFill>
              <a:srgbClr val="DCE0D9"/>
            </a:solidFill>
            <a:prstDash val="solid"/>
          </a:ln>
        </p:spPr>
      </p:sp>
      <p:sp>
        <p:nvSpPr>
          <p:cNvPr id="14" name="Text 12"/>
          <p:cNvSpPr/>
          <p:nvPr/>
        </p:nvSpPr>
        <p:spPr>
          <a:xfrm>
            <a:off x="812765" y="3891372"/>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Portfolio role</a:t>
            </a:r>
            <a:endParaRPr lang="en-US" sz="1200" dirty="0"/>
          </a:p>
        </p:txBody>
      </p:sp>
      <p:sp>
        <p:nvSpPr>
          <p:cNvPr id="15" name="Text 13"/>
          <p:cNvSpPr/>
          <p:nvPr/>
        </p:nvSpPr>
        <p:spPr>
          <a:xfrm>
            <a:off x="3060628" y="3891372"/>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Ports 10.0% of the fund with Westports. ICTSI's average correlation with the other holdings is 0.02, among the lowest: it moves on its own. It is our only Philippine holding.</a:t>
            </a:r>
            <a:endParaRPr lang="en-US" sz="1200" dirty="0"/>
          </a:p>
        </p:txBody>
      </p:sp>
      <p:sp>
        <p:nvSpPr>
          <p:cNvPr id="16" name="Shape 14"/>
          <p:cNvSpPr/>
          <p:nvPr/>
        </p:nvSpPr>
        <p:spPr>
          <a:xfrm>
            <a:off x="812765" y="4410137"/>
            <a:ext cx="10566443" cy="0"/>
          </a:xfrm>
          <a:prstGeom prst="line">
            <a:avLst/>
          </a:prstGeom>
          <a:noFill/>
          <a:ln w="6350">
            <a:solidFill>
              <a:srgbClr val="DCE0D9"/>
            </a:solidFill>
            <a:prstDash val="solid"/>
          </a:ln>
        </p:spPr>
      </p:sp>
      <p:sp>
        <p:nvSpPr>
          <p:cNvPr id="17" name="Text 15"/>
          <p:cNvSpPr/>
          <p:nvPr/>
        </p:nvSpPr>
        <p:spPr>
          <a:xfrm>
            <a:off x="812765" y="4501654"/>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Weighting rationale</a:t>
            </a:r>
            <a:endParaRPr lang="en-US" sz="1200" dirty="0"/>
          </a:p>
        </p:txBody>
      </p:sp>
      <p:sp>
        <p:nvSpPr>
          <p:cNvPr id="18" name="Text 16"/>
          <p:cNvSpPr/>
          <p:nvPr/>
        </p:nvSpPr>
        <p:spPr>
          <a:xfrm>
            <a:off x="3060628" y="4501654"/>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4.80% = an equal 3.6% share of fund risk at 29.8% volatility. No limit binds. Not a home bias: the same rules applied to Kamigumi and China Merchants put them on the watchlist.</a:t>
            </a:r>
            <a:endParaRPr lang="en-US" sz="1200" dirty="0"/>
          </a:p>
        </p:txBody>
      </p:sp>
      <p:sp>
        <p:nvSpPr>
          <p:cNvPr id="19" name="Text 17"/>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Ratios: stockanalysis.com, 8 Oct 2026 · weight and risk from the quarterly solve on data to 2 Oct 2026 · full table for all 31 holdings in the supporting proposal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634969"/>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HOLDING EXAMPLE 2 · NVIDIA · UNITED STATES · 1.64%</a:t>
            </a:r>
            <a:endParaRPr lang="en-US" sz="1200" dirty="0"/>
          </a:p>
        </p:txBody>
      </p:sp>
      <p:sp>
        <p:nvSpPr>
          <p:cNvPr id="3" name="Text 1"/>
          <p:cNvSpPr/>
          <p:nvPr>
            <p:ph type="title"/>
          </p:nvPr>
        </p:nvSpPr>
        <p:spPr>
          <a:xfrm>
            <a:off x="812765" y="924489"/>
            <a:ext cx="11379235" cy="38860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019"/>
                </a:solidFill>
                <a:latin typeface="Source Serif 4" pitchFamily="18" charset="0"/>
                <a:ea typeface="Source Serif 4" pitchFamily="18" charset="-122"/>
                <a:cs typeface="Source Serif 4" pitchFamily="18" charset="-120"/>
              </a:rPr>
              <a:t>The AI chip leader is in the fund, and the risk model keeps it small</a:t>
            </a:r>
            <a:endParaRPr lang="en-US" sz="2600" dirty="0"/>
          </a:p>
        </p:txBody>
      </p:sp>
      <p:sp>
        <p:nvSpPr>
          <p:cNvPr id="4" name="Shape 2"/>
          <p:cNvSpPr/>
          <p:nvPr/>
        </p:nvSpPr>
        <p:spPr>
          <a:xfrm>
            <a:off x="812765" y="1392442"/>
            <a:ext cx="10566443" cy="0"/>
          </a:xfrm>
          <a:prstGeom prst="line">
            <a:avLst/>
          </a:prstGeom>
          <a:noFill/>
          <a:ln w="6350">
            <a:solidFill>
              <a:srgbClr val="DCE0D9"/>
            </a:solidFill>
            <a:prstDash val="solid"/>
          </a:ln>
        </p:spPr>
      </p:sp>
      <p:sp>
        <p:nvSpPr>
          <p:cNvPr id="5" name="Text 3"/>
          <p:cNvSpPr/>
          <p:nvPr/>
        </p:nvSpPr>
        <p:spPr>
          <a:xfrm>
            <a:off x="812765" y="1483965"/>
            <a:ext cx="2158337" cy="6654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Theme &amp; milestone</a:t>
            </a:r>
            <a:endParaRPr lang="en-US" sz="1200" dirty="0"/>
          </a:p>
        </p:txBody>
      </p:sp>
      <p:sp>
        <p:nvSpPr>
          <p:cNvPr id="6" name="Text 4"/>
          <p:cNvSpPr/>
          <p:nvPr/>
        </p:nvSpPr>
        <p:spPr>
          <a:xfrm>
            <a:off x="3060628" y="1483965"/>
            <a:ext cx="8568136"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AI accelerator chips and data-centre networking. Hard to replace: CUDA software ecosystem and design scale competitors have not matched. Earns: Hardware and systems sales to cloud and enterprise data centres. </a:t>
            </a:r>
            <a:r>
              <a:rPr lang="en-US" sz="1200" i="1" dirty="0">
                <a:solidFill>
                  <a:srgbClr val="142019"/>
                </a:solidFill>
                <a:latin typeface="IBM Plex Sans" pitchFamily="34" charset="0"/>
                <a:ea typeface="IBM Plex Sans" pitchFamily="34" charset="-122"/>
                <a:cs typeface="IBM Plex Sans" pitchFamily="34" charset="-120"/>
              </a:rPr>
              <a:t>Story: Every first: the chips inside phones, laptops and data centres.</a:t>
            </a:r>
            <a:endParaRPr lang="en-US" sz="1200" dirty="0"/>
          </a:p>
        </p:txBody>
      </p:sp>
      <p:sp>
        <p:nvSpPr>
          <p:cNvPr id="7" name="Shape 5"/>
          <p:cNvSpPr/>
          <p:nvPr/>
        </p:nvSpPr>
        <p:spPr>
          <a:xfrm>
            <a:off x="812765" y="2216076"/>
            <a:ext cx="10566443" cy="0"/>
          </a:xfrm>
          <a:prstGeom prst="line">
            <a:avLst/>
          </a:prstGeom>
          <a:noFill/>
          <a:ln w="6350">
            <a:solidFill>
              <a:srgbClr val="DCE0D9"/>
            </a:solidFill>
            <a:prstDash val="solid"/>
          </a:ln>
        </p:spPr>
      </p:sp>
      <p:sp>
        <p:nvSpPr>
          <p:cNvPr id="8" name="Text 6"/>
          <p:cNvSpPr/>
          <p:nvPr/>
        </p:nvSpPr>
        <p:spPr>
          <a:xfrm>
            <a:off x="812765" y="2307599"/>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Fundamentals &amp; valuation</a:t>
            </a:r>
            <a:endParaRPr lang="en-US" sz="1200" dirty="0"/>
          </a:p>
        </p:txBody>
      </p:sp>
      <p:sp>
        <p:nvSpPr>
          <p:cNvPr id="9" name="Text 7"/>
          <p:cNvSpPr/>
          <p:nvPr/>
        </p:nvSpPr>
        <p:spPr>
          <a:xfrm>
            <a:off x="3060628" y="2307599"/>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EV/EBITDA 28.4× (peer median 35.9×) · cash yield 2.3% (median 1.7%) · ROIC − WACC +75.7 pts (median +22.8) · merit #2 of 17 · net cash; stressed interest cover passes easily</a:t>
            </a:r>
            <a:endParaRPr lang="en-US" sz="1200" dirty="0"/>
          </a:p>
        </p:txBody>
      </p:sp>
      <p:sp>
        <p:nvSpPr>
          <p:cNvPr id="10" name="Shape 8"/>
          <p:cNvSpPr/>
          <p:nvPr/>
        </p:nvSpPr>
        <p:spPr>
          <a:xfrm>
            <a:off x="812765" y="2826364"/>
            <a:ext cx="10566443" cy="0"/>
          </a:xfrm>
          <a:prstGeom prst="line">
            <a:avLst/>
          </a:prstGeom>
          <a:noFill/>
          <a:ln w="6350">
            <a:solidFill>
              <a:srgbClr val="DCE0D9"/>
            </a:solidFill>
            <a:prstDash val="solid"/>
          </a:ln>
        </p:spPr>
      </p:sp>
      <p:sp>
        <p:nvSpPr>
          <p:cNvPr id="11" name="Text 9"/>
          <p:cNvSpPr/>
          <p:nvPr/>
        </p:nvSpPr>
        <p:spPr>
          <a:xfrm>
            <a:off x="812765" y="2917887"/>
            <a:ext cx="2158337"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Key risks</a:t>
            </a:r>
            <a:endParaRPr lang="en-US" sz="1200" dirty="0"/>
          </a:p>
        </p:txBody>
      </p:sp>
      <p:sp>
        <p:nvSpPr>
          <p:cNvPr id="12" name="Text 10"/>
          <p:cNvSpPr/>
          <p:nvPr/>
        </p:nvSpPr>
        <p:spPr>
          <a:xfrm>
            <a:off x="3060628" y="2917887"/>
            <a:ext cx="856813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Customer concentration; export controls; AI capex cycle</a:t>
            </a:r>
            <a:endParaRPr lang="en-US" sz="1200" dirty="0"/>
          </a:p>
        </p:txBody>
      </p:sp>
      <p:sp>
        <p:nvSpPr>
          <p:cNvPr id="13" name="Shape 11"/>
          <p:cNvSpPr/>
          <p:nvPr/>
        </p:nvSpPr>
        <p:spPr>
          <a:xfrm>
            <a:off x="812765" y="3223307"/>
            <a:ext cx="10566443" cy="0"/>
          </a:xfrm>
          <a:prstGeom prst="line">
            <a:avLst/>
          </a:prstGeom>
          <a:noFill/>
          <a:ln w="6350">
            <a:solidFill>
              <a:srgbClr val="DCE0D9"/>
            </a:solidFill>
            <a:prstDash val="solid"/>
          </a:ln>
        </p:spPr>
      </p:sp>
      <p:sp>
        <p:nvSpPr>
          <p:cNvPr id="14" name="Text 12"/>
          <p:cNvSpPr/>
          <p:nvPr/>
        </p:nvSpPr>
        <p:spPr>
          <a:xfrm>
            <a:off x="812765" y="3314824"/>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Portfolio role</a:t>
            </a:r>
            <a:endParaRPr lang="en-US" sz="1200" dirty="0"/>
          </a:p>
        </p:txBody>
      </p:sp>
      <p:sp>
        <p:nvSpPr>
          <p:cNvPr id="15" name="Text 13"/>
          <p:cNvSpPr/>
          <p:nvPr/>
        </p:nvSpPr>
        <p:spPr>
          <a:xfrm>
            <a:off x="3060628" y="3314824"/>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Semiconductors 8.1% of the fund across five names; with grid equipment, about 11% rides on the data-centre build-out. That overlap is reported, not hidden.</a:t>
            </a:r>
            <a:endParaRPr lang="en-US" sz="1200" dirty="0"/>
          </a:p>
        </p:txBody>
      </p:sp>
      <p:sp>
        <p:nvSpPr>
          <p:cNvPr id="16" name="Shape 14"/>
          <p:cNvSpPr/>
          <p:nvPr/>
        </p:nvSpPr>
        <p:spPr>
          <a:xfrm>
            <a:off x="812765" y="3833589"/>
            <a:ext cx="10566443" cy="0"/>
          </a:xfrm>
          <a:prstGeom prst="line">
            <a:avLst/>
          </a:prstGeom>
          <a:noFill/>
          <a:ln w="6350">
            <a:solidFill>
              <a:srgbClr val="DCE0D9"/>
            </a:solidFill>
            <a:prstDash val="solid"/>
          </a:ln>
        </p:spPr>
      </p:sp>
      <p:sp>
        <p:nvSpPr>
          <p:cNvPr id="17" name="Text 15"/>
          <p:cNvSpPr/>
          <p:nvPr/>
        </p:nvSpPr>
        <p:spPr>
          <a:xfrm>
            <a:off x="812765" y="3925112"/>
            <a:ext cx="215833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Weighting rationale</a:t>
            </a:r>
            <a:endParaRPr lang="en-US" sz="1200" dirty="0"/>
          </a:p>
        </p:txBody>
      </p:sp>
      <p:sp>
        <p:nvSpPr>
          <p:cNvPr id="18" name="Text 16"/>
          <p:cNvSpPr/>
          <p:nvPr/>
        </p:nvSpPr>
        <p:spPr>
          <a:xfrm>
            <a:off x="3060628" y="3925112"/>
            <a:ext cx="8568136"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1.64%: its price swings 45% a year, so an equal 3.4% share of risk buys little. Equal weighting would hold 3.13%; that is the concentration we choose not to take.</a:t>
            </a:r>
            <a:endParaRPr lang="en-US" sz="1200" dirty="0"/>
          </a:p>
        </p:txBody>
      </p:sp>
      <p:sp>
        <p:nvSpPr>
          <p:cNvPr id="19" name="Text 17"/>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Ratios: stockanalysis.com, 8 Oct 2026 · weight and risk from the quarterly solve on data to 2 Oct 2026 · full table for all 31 holdings in the supporting proposal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1"/>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PORTFOLIO ROLE · EXPOSURE AND OVERLAP</a:t>
            </a:r>
            <a:endParaRPr lang="en-US" sz="1200" dirty="0"/>
          </a:p>
        </p:txBody>
      </p:sp>
      <p:sp>
        <p:nvSpPr>
          <p:cNvPr id="3" name="Text 1"/>
          <p:cNvSpPr/>
          <p:nvPr>
            <p:ph type="title"/>
          </p:nvPr>
        </p:nvSpPr>
        <p:spPr>
          <a:xfrm>
            <a:off x="812765" y="1000702"/>
            <a:ext cx="11379235"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Spread by what drives earnings, with every overlap reported</a:t>
            </a:r>
            <a:endParaRPr lang="en-US" sz="2800" dirty="0"/>
          </a:p>
        </p:txBody>
      </p:sp>
      <p:sp>
        <p:nvSpPr>
          <p:cNvPr id="4" name="Text 2"/>
          <p:cNvSpPr/>
          <p:nvPr/>
        </p:nvSpPr>
        <p:spPr>
          <a:xfrm>
            <a:off x="812765" y="1569647"/>
            <a:ext cx="54538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Weight by kind of capacity · bars scaled 0 to 25%, the limit</a:t>
            </a:r>
            <a:endParaRPr lang="en-US" sz="1200" dirty="0"/>
          </a:p>
        </p:txBody>
      </p:sp>
      <p:sp>
        <p:nvSpPr>
          <p:cNvPr id="5" name="Text 3"/>
          <p:cNvSpPr/>
          <p:nvPr/>
        </p:nvSpPr>
        <p:spPr>
          <a:xfrm>
            <a:off x="812765" y="2179160"/>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Digital networks</a:t>
            </a:r>
            <a:endParaRPr lang="en-US" sz="1200" dirty="0"/>
          </a:p>
        </p:txBody>
      </p:sp>
      <p:sp>
        <p:nvSpPr>
          <p:cNvPr id="6" name="Shape 4"/>
          <p:cNvSpPr/>
          <p:nvPr/>
        </p:nvSpPr>
        <p:spPr>
          <a:xfrm>
            <a:off x="2819339" y="2190620"/>
            <a:ext cx="3555977" cy="190477"/>
          </a:xfrm>
          <a:prstGeom prst="roundRect">
            <a:avLst>
              <a:gd name="adj" fmla="val 13335"/>
            </a:avLst>
          </a:prstGeom>
          <a:solidFill>
            <a:srgbClr val="0F7A45"/>
          </a:solidFill>
          <a:ln/>
        </p:spPr>
      </p:sp>
      <p:sp>
        <p:nvSpPr>
          <p:cNvPr id="7" name="Text 5"/>
          <p:cNvSpPr/>
          <p:nvPr/>
        </p:nvSpPr>
        <p:spPr>
          <a:xfrm>
            <a:off x="6476895" y="1859161"/>
            <a:ext cx="50800" cy="87878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25.0</a:t>
            </a:r>
            <a:endParaRPr lang="en-US" sz="1200" dirty="0"/>
          </a:p>
        </p:txBody>
      </p:sp>
      <p:sp>
        <p:nvSpPr>
          <p:cNvPr id="8" name="Text 6"/>
          <p:cNvSpPr/>
          <p:nvPr/>
        </p:nvSpPr>
        <p:spPr>
          <a:xfrm>
            <a:off x="812765" y="3108722"/>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Healthcare facilities</a:t>
            </a:r>
            <a:endParaRPr lang="en-US" sz="1200" dirty="0"/>
          </a:p>
        </p:txBody>
      </p:sp>
      <p:sp>
        <p:nvSpPr>
          <p:cNvPr id="9" name="Shape 7"/>
          <p:cNvSpPr/>
          <p:nvPr/>
        </p:nvSpPr>
        <p:spPr>
          <a:xfrm>
            <a:off x="2819339" y="3120175"/>
            <a:ext cx="3155912" cy="190477"/>
          </a:xfrm>
          <a:prstGeom prst="roundRect">
            <a:avLst>
              <a:gd name="adj" fmla="val 13335"/>
            </a:avLst>
          </a:prstGeom>
          <a:solidFill>
            <a:srgbClr val="0F7A45"/>
          </a:solidFill>
          <a:ln/>
        </p:spPr>
      </p:sp>
      <p:sp>
        <p:nvSpPr>
          <p:cNvPr id="10" name="Text 8"/>
          <p:cNvSpPr/>
          <p:nvPr/>
        </p:nvSpPr>
        <p:spPr>
          <a:xfrm>
            <a:off x="6076830" y="2788723"/>
            <a:ext cx="81731" cy="87878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22.2</a:t>
            </a:r>
            <a:endParaRPr lang="en-US" sz="1200" dirty="0"/>
          </a:p>
        </p:txBody>
      </p:sp>
      <p:sp>
        <p:nvSpPr>
          <p:cNvPr id="11" name="Text 9"/>
          <p:cNvSpPr/>
          <p:nvPr/>
        </p:nvSpPr>
        <p:spPr>
          <a:xfrm>
            <a:off x="812765" y="3718285"/>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Power &amp; grids</a:t>
            </a:r>
            <a:endParaRPr lang="en-US" sz="1200" dirty="0"/>
          </a:p>
        </p:txBody>
      </p:sp>
      <p:sp>
        <p:nvSpPr>
          <p:cNvPr id="12" name="Shape 10"/>
          <p:cNvSpPr/>
          <p:nvPr/>
        </p:nvSpPr>
        <p:spPr>
          <a:xfrm>
            <a:off x="2819339" y="3729695"/>
            <a:ext cx="2730486" cy="190477"/>
          </a:xfrm>
          <a:prstGeom prst="roundRect">
            <a:avLst>
              <a:gd name="adj" fmla="val 13335"/>
            </a:avLst>
          </a:prstGeom>
          <a:solidFill>
            <a:srgbClr val="0F7A45"/>
          </a:solidFill>
          <a:ln/>
        </p:spPr>
      </p:sp>
      <p:sp>
        <p:nvSpPr>
          <p:cNvPr id="13" name="Text 11"/>
          <p:cNvSpPr/>
          <p:nvPr/>
        </p:nvSpPr>
        <p:spPr>
          <a:xfrm>
            <a:off x="5651404" y="3718285"/>
            <a:ext cx="438939"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19.2</a:t>
            </a:r>
            <a:endParaRPr lang="en-US" sz="1200" dirty="0"/>
          </a:p>
        </p:txBody>
      </p:sp>
      <p:sp>
        <p:nvSpPr>
          <p:cNvPr id="14" name="Text 12"/>
          <p:cNvSpPr/>
          <p:nvPr/>
        </p:nvSpPr>
        <p:spPr>
          <a:xfrm>
            <a:off x="812765" y="4007805"/>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Ports</a:t>
            </a:r>
            <a:endParaRPr lang="en-US" sz="1200" dirty="0"/>
          </a:p>
        </p:txBody>
      </p:sp>
      <p:sp>
        <p:nvSpPr>
          <p:cNvPr id="15" name="Shape 13"/>
          <p:cNvSpPr/>
          <p:nvPr/>
        </p:nvSpPr>
        <p:spPr>
          <a:xfrm>
            <a:off x="2819339" y="4019215"/>
            <a:ext cx="1422373" cy="190477"/>
          </a:xfrm>
          <a:prstGeom prst="roundRect">
            <a:avLst>
              <a:gd name="adj" fmla="val 13335"/>
            </a:avLst>
          </a:prstGeom>
          <a:solidFill>
            <a:srgbClr val="0F7A45"/>
          </a:solidFill>
          <a:ln/>
        </p:spPr>
      </p:sp>
      <p:sp>
        <p:nvSpPr>
          <p:cNvPr id="16" name="Text 14"/>
          <p:cNvSpPr/>
          <p:nvPr/>
        </p:nvSpPr>
        <p:spPr>
          <a:xfrm>
            <a:off x="4343291" y="4007805"/>
            <a:ext cx="438939"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10.0</a:t>
            </a:r>
            <a:endParaRPr lang="en-US" sz="1200" dirty="0"/>
          </a:p>
        </p:txBody>
      </p:sp>
      <p:sp>
        <p:nvSpPr>
          <p:cNvPr id="17" name="Text 15"/>
          <p:cNvSpPr/>
          <p:nvPr/>
        </p:nvSpPr>
        <p:spPr>
          <a:xfrm>
            <a:off x="812765" y="4297325"/>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Semiconductors</a:t>
            </a:r>
            <a:endParaRPr lang="en-US" sz="1200" dirty="0"/>
          </a:p>
        </p:txBody>
      </p:sp>
      <p:sp>
        <p:nvSpPr>
          <p:cNvPr id="18" name="Shape 16"/>
          <p:cNvSpPr/>
          <p:nvPr/>
        </p:nvSpPr>
        <p:spPr>
          <a:xfrm>
            <a:off x="2819339" y="4308735"/>
            <a:ext cx="1155678" cy="190477"/>
          </a:xfrm>
          <a:prstGeom prst="roundRect">
            <a:avLst>
              <a:gd name="adj" fmla="val 13335"/>
            </a:avLst>
          </a:prstGeom>
          <a:solidFill>
            <a:srgbClr val="3557A8"/>
          </a:solidFill>
          <a:ln/>
        </p:spPr>
      </p:sp>
      <p:sp>
        <p:nvSpPr>
          <p:cNvPr id="19" name="Text 17"/>
          <p:cNvSpPr/>
          <p:nvPr/>
        </p:nvSpPr>
        <p:spPr>
          <a:xfrm>
            <a:off x="4076596" y="4297325"/>
            <a:ext cx="32921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8.1</a:t>
            </a:r>
            <a:endParaRPr lang="en-US" sz="1200" dirty="0"/>
          </a:p>
        </p:txBody>
      </p:sp>
      <p:sp>
        <p:nvSpPr>
          <p:cNvPr id="20" name="Text 18"/>
          <p:cNvSpPr/>
          <p:nvPr/>
        </p:nvSpPr>
        <p:spPr>
          <a:xfrm>
            <a:off x="812765" y="4586839"/>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Water</a:t>
            </a:r>
            <a:endParaRPr lang="en-US" sz="1200" dirty="0"/>
          </a:p>
        </p:txBody>
      </p:sp>
      <p:sp>
        <p:nvSpPr>
          <p:cNvPr id="21" name="Shape 19"/>
          <p:cNvSpPr/>
          <p:nvPr/>
        </p:nvSpPr>
        <p:spPr>
          <a:xfrm>
            <a:off x="2819339" y="4598256"/>
            <a:ext cx="1085845" cy="190477"/>
          </a:xfrm>
          <a:prstGeom prst="roundRect">
            <a:avLst>
              <a:gd name="adj" fmla="val 13335"/>
            </a:avLst>
          </a:prstGeom>
          <a:solidFill>
            <a:srgbClr val="0F7A45"/>
          </a:solidFill>
          <a:ln/>
        </p:spPr>
      </p:sp>
      <p:sp>
        <p:nvSpPr>
          <p:cNvPr id="22" name="Text 20"/>
          <p:cNvSpPr/>
          <p:nvPr/>
        </p:nvSpPr>
        <p:spPr>
          <a:xfrm>
            <a:off x="4006763" y="4586839"/>
            <a:ext cx="32921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7.7</a:t>
            </a:r>
            <a:endParaRPr lang="en-US" sz="1200" dirty="0"/>
          </a:p>
        </p:txBody>
      </p:sp>
      <p:sp>
        <p:nvSpPr>
          <p:cNvPr id="23" name="Text 21"/>
          <p:cNvSpPr/>
          <p:nvPr/>
        </p:nvSpPr>
        <p:spPr>
          <a:xfrm>
            <a:off x="812765" y="4876360"/>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Grid &amp; power equipment</a:t>
            </a:r>
            <a:endParaRPr lang="en-US" sz="1200" dirty="0"/>
          </a:p>
        </p:txBody>
      </p:sp>
      <p:sp>
        <p:nvSpPr>
          <p:cNvPr id="24" name="Shape 22"/>
          <p:cNvSpPr/>
          <p:nvPr/>
        </p:nvSpPr>
        <p:spPr>
          <a:xfrm>
            <a:off x="2819339" y="4887776"/>
            <a:ext cx="387339" cy="190477"/>
          </a:xfrm>
          <a:prstGeom prst="roundRect">
            <a:avLst>
              <a:gd name="adj" fmla="val 13335"/>
            </a:avLst>
          </a:prstGeom>
          <a:solidFill>
            <a:srgbClr val="3557A8"/>
          </a:solidFill>
          <a:ln/>
        </p:spPr>
      </p:sp>
      <p:sp>
        <p:nvSpPr>
          <p:cNvPr id="25" name="Text 23"/>
          <p:cNvSpPr/>
          <p:nvPr/>
        </p:nvSpPr>
        <p:spPr>
          <a:xfrm>
            <a:off x="3308257" y="4876360"/>
            <a:ext cx="32921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2.8</a:t>
            </a:r>
            <a:endParaRPr lang="en-US" sz="1200" dirty="0"/>
          </a:p>
        </p:txBody>
      </p:sp>
      <p:sp>
        <p:nvSpPr>
          <p:cNvPr id="26" name="Text 24"/>
          <p:cNvSpPr/>
          <p:nvPr/>
        </p:nvSpPr>
        <p:spPr>
          <a:xfrm>
            <a:off x="812765" y="5165880"/>
            <a:ext cx="19621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Airports &amp; toll roads</a:t>
            </a:r>
            <a:endParaRPr lang="en-US" sz="1200" dirty="0"/>
          </a:p>
        </p:txBody>
      </p:sp>
      <p:sp>
        <p:nvSpPr>
          <p:cNvPr id="27" name="Shape 25"/>
          <p:cNvSpPr/>
          <p:nvPr/>
        </p:nvSpPr>
        <p:spPr>
          <a:xfrm>
            <a:off x="2819339" y="5177290"/>
            <a:ext cx="279375" cy="190477"/>
          </a:xfrm>
          <a:prstGeom prst="roundRect">
            <a:avLst>
              <a:gd name="adj" fmla="val 13335"/>
            </a:avLst>
          </a:prstGeom>
          <a:solidFill>
            <a:srgbClr val="0F7A45"/>
          </a:solidFill>
          <a:ln/>
        </p:spPr>
      </p:sp>
      <p:sp>
        <p:nvSpPr>
          <p:cNvPr id="28" name="Text 26"/>
          <p:cNvSpPr/>
          <p:nvPr/>
        </p:nvSpPr>
        <p:spPr>
          <a:xfrm>
            <a:off x="3200293" y="5165880"/>
            <a:ext cx="32921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9"/>
                </a:solidFill>
                <a:latin typeface="IBM Plex Mono" pitchFamily="49" charset="0"/>
                <a:ea typeface="IBM Plex Mono" pitchFamily="49" charset="-122"/>
                <a:cs typeface="IBM Plex Mono" pitchFamily="49" charset="-120"/>
              </a:rPr>
              <a:t>2.0</a:t>
            </a:r>
            <a:endParaRPr lang="en-US" sz="1200" dirty="0"/>
          </a:p>
        </p:txBody>
      </p:sp>
      <p:sp>
        <p:nvSpPr>
          <p:cNvPr id="29" name="Text 27"/>
          <p:cNvSpPr/>
          <p:nvPr/>
        </p:nvSpPr>
        <p:spPr>
          <a:xfrm>
            <a:off x="812765" y="5455400"/>
            <a:ext cx="5453846"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Green = owners/operators · blue = suppliers</a:t>
            </a:r>
            <a:endParaRPr lang="en-US" sz="1200" dirty="0"/>
          </a:p>
        </p:txBody>
      </p:sp>
      <p:sp>
        <p:nvSpPr>
          <p:cNvPr id="30" name="Text 28"/>
          <p:cNvSpPr/>
          <p:nvPr/>
        </p:nvSpPr>
        <p:spPr>
          <a:xfrm>
            <a:off x="6339499" y="1572822"/>
            <a:ext cx="5036534" cy="1112600"/>
          </a:xfrm>
          <a:prstGeom prst="roundRect">
            <a:avLst>
              <a:gd name="adj" fmla="val 6563"/>
            </a:avLst>
          </a:prstGeom>
          <a:solidFill>
            <a:srgbClr val="FBFBF7"/>
          </a:solidFill>
          <a:ln w="6350">
            <a:solidFill>
              <a:srgbClr val="DCE0D9"/>
            </a:solidFill>
            <a:prstDash val="solid"/>
          </a:ln>
        </p:spPr>
        <p:txBody>
          <a:bodyPr wrap="square" lIns="159030" tIns="108233" rIns="18759"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Overlaps we report</a:t>
            </a:r>
            <a:endParaRPr lang="en-US" sz="1200" dirty="0"/>
          </a:p>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Data-centre build-out (chips + grid equipment) 10.9% · US health policy (HCA, Encompass) 7.0% · Chinese state telecoms 6.6% · Saudi Arabia 10.9%</a:t>
            </a:r>
            <a:endParaRPr lang="en-US" sz="1200" dirty="0"/>
          </a:p>
        </p:txBody>
      </p:sp>
      <p:sp>
        <p:nvSpPr>
          <p:cNvPr id="31" name="Text 29"/>
          <p:cNvSpPr/>
          <p:nvPr/>
        </p:nvSpPr>
        <p:spPr>
          <a:xfrm>
            <a:off x="6339499" y="2793349"/>
            <a:ext cx="5036534" cy="899253"/>
          </a:xfrm>
          <a:prstGeom prst="roundRect">
            <a:avLst>
              <a:gd name="adj" fmla="val 8121"/>
            </a:avLst>
          </a:prstGeom>
          <a:solidFill>
            <a:srgbClr val="FBFBF7"/>
          </a:solidFill>
          <a:ln w="6350">
            <a:solidFill>
              <a:srgbClr val="DCE0D9"/>
            </a:solidFill>
            <a:prstDash val="solid"/>
          </a:ln>
        </p:spPr>
        <p:txBody>
          <a:bodyPr wrap="square" lIns="159030" tIns="108233" rIns="18759"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Countries are an output</a:t>
            </a:r>
            <a:endParaRPr lang="en-US" sz="1200" dirty="0"/>
          </a:p>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US 23.0 · HK 11.0 · SA 10.9 · DE 8.4 · TH 7.3 · JP 5.6 · 8 others · listing country, not where revenue is earned</a:t>
            </a:r>
            <a:endParaRPr lang="en-US" sz="1200" dirty="0"/>
          </a:p>
        </p:txBody>
      </p:sp>
      <p:sp>
        <p:nvSpPr>
          <p:cNvPr id="32" name="Text 30"/>
          <p:cNvSpPr/>
          <p:nvPr/>
        </p:nvSpPr>
        <p:spPr>
          <a:xfrm>
            <a:off x="6336324" y="3797356"/>
            <a:ext cx="5042884" cy="680663"/>
          </a:xfrm>
          <a:prstGeom prst="roundRect">
            <a:avLst>
              <a:gd name="adj" fmla="val 11195"/>
            </a:avLst>
          </a:prstGeom>
          <a:solidFill>
            <a:srgbClr val="E7EFE9"/>
          </a:solidFill>
          <a:ln/>
        </p:spPr>
        <p:txBody>
          <a:bodyPr wrap="square" lIns="155479" tIns="104682" rIns="14860" bIns="79251"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About 9.4 independent exposures</a:t>
            </a:r>
            <a:r>
              <a:rPr lang="en-US" sz="1200" dirty="0">
                <a:solidFill>
                  <a:srgbClr val="3D4943"/>
                </a:solidFill>
                <a:latin typeface="IBM Plex Sans" pitchFamily="34" charset="0"/>
                <a:ea typeface="IBM Plex Sans" pitchFamily="34" charset="-122"/>
                <a:cs typeface="IBM Plex Sans" pitchFamily="34" charset="-120"/>
              </a:rPr>
              <a:t>; the two largest shared forces explain 25% of risk</a:t>
            </a:r>
            <a:endParaRPr lang="en-US" sz="1200" dirty="0"/>
          </a:p>
        </p:txBody>
      </p:sp>
      <p:sp>
        <p:nvSpPr>
          <p:cNvPr id="33" name="Text 31"/>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Weights solved on data to 2 Oct 2026 · independent exposures = diversification ratio squared · countries by listing; ICTSI, América Móvil and others earn across many countries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THE QUESTION EVERY JUDGE WILL ASK</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Why only 4.8% in Philippine companies?</a:t>
            </a:r>
            <a:endParaRPr lang="en-US" sz="2800" dirty="0"/>
          </a:p>
        </p:txBody>
      </p:sp>
      <p:sp>
        <p:nvSpPr>
          <p:cNvPr id="4" name="Shape 2"/>
          <p:cNvSpPr/>
          <p:nvPr/>
        </p:nvSpPr>
        <p:spPr>
          <a:xfrm>
            <a:off x="815940" y="1572822"/>
            <a:ext cx="3414174" cy="1671351"/>
          </a:xfrm>
          <a:prstGeom prst="roundRect">
            <a:avLst>
              <a:gd name="adj" fmla="val 4369"/>
            </a:avLst>
          </a:prstGeom>
          <a:solidFill>
            <a:srgbClr val="FBFBF7"/>
          </a:solidFill>
          <a:ln w="6350">
            <a:solidFill>
              <a:srgbClr val="DCE0D9"/>
            </a:solidFill>
            <a:prstDash val="solid"/>
          </a:ln>
        </p:spPr>
      </p:sp>
      <p:sp>
        <p:nvSpPr>
          <p:cNvPr id="5" name="Text 3"/>
          <p:cNvSpPr/>
          <p:nvPr/>
        </p:nvSpPr>
        <p:spPr>
          <a:xfrm>
            <a:off x="996358" y="1702426"/>
            <a:ext cx="3144937"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F7A45"/>
                </a:solidFill>
                <a:latin typeface="Source Serif 4" pitchFamily="18" charset="0"/>
                <a:ea typeface="Source Serif 4" pitchFamily="18" charset="-122"/>
                <a:cs typeface="Source Serif 4" pitchFamily="18" charset="-120"/>
              </a:rPr>
              <a:t>4.80%</a:t>
            </a:r>
            <a:endParaRPr lang="en-US" sz="3600" dirty="0"/>
          </a:p>
        </p:txBody>
      </p:sp>
      <p:sp>
        <p:nvSpPr>
          <p:cNvPr id="6" name="Text 4"/>
          <p:cNvSpPr/>
          <p:nvPr/>
        </p:nvSpPr>
        <p:spPr>
          <a:xfrm>
            <a:off x="996358" y="2210414"/>
            <a:ext cx="3144937"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ICTSI, held</a:t>
            </a:r>
            <a:endParaRPr lang="en-US" sz="1400" dirty="0"/>
          </a:p>
        </p:txBody>
      </p:sp>
      <p:sp>
        <p:nvSpPr>
          <p:cNvPr id="7" name="Text 5"/>
          <p:cNvSpPr/>
          <p:nvPr/>
        </p:nvSpPr>
        <p:spPr>
          <a:xfrm>
            <a:off x="996358" y="2474528"/>
            <a:ext cx="3144937"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Second on merit of the five port operators that passed Verify's reject tests; earns 13.9 points above its cost of capital</a:t>
            </a:r>
            <a:endParaRPr lang="en-US" sz="1200" dirty="0"/>
          </a:p>
        </p:txBody>
      </p:sp>
      <p:sp>
        <p:nvSpPr>
          <p:cNvPr id="8" name="Shape 6"/>
          <p:cNvSpPr/>
          <p:nvPr/>
        </p:nvSpPr>
        <p:spPr>
          <a:xfrm>
            <a:off x="4388854" y="1572822"/>
            <a:ext cx="3414219" cy="1671351"/>
          </a:xfrm>
          <a:prstGeom prst="roundRect">
            <a:avLst>
              <a:gd name="adj" fmla="val 4369"/>
            </a:avLst>
          </a:prstGeom>
          <a:solidFill>
            <a:srgbClr val="FBFBF7"/>
          </a:solidFill>
          <a:ln w="6350">
            <a:solidFill>
              <a:srgbClr val="DCE0D9"/>
            </a:solidFill>
            <a:prstDash val="solid"/>
          </a:ln>
        </p:spPr>
      </p:sp>
      <p:sp>
        <p:nvSpPr>
          <p:cNvPr id="9" name="Text 7"/>
          <p:cNvSpPr/>
          <p:nvPr/>
        </p:nvSpPr>
        <p:spPr>
          <a:xfrm>
            <a:off x="4569273" y="1702426"/>
            <a:ext cx="3144984"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2019"/>
                </a:solidFill>
                <a:latin typeface="Source Serif 4" pitchFamily="18" charset="0"/>
                <a:ea typeface="Source Serif 4" pitchFamily="18" charset="-122"/>
                <a:cs typeface="Source Serif 4" pitchFamily="18" charset="-120"/>
              </a:rPr>
              <a:t>Watchlist</a:t>
            </a:r>
            <a:endParaRPr lang="en-US" sz="3600" dirty="0"/>
          </a:p>
        </p:txBody>
      </p:sp>
      <p:sp>
        <p:nvSpPr>
          <p:cNvPr id="10" name="Text 8"/>
          <p:cNvSpPr/>
          <p:nvPr/>
        </p:nvSpPr>
        <p:spPr>
          <a:xfrm>
            <a:off x="4569273" y="2210414"/>
            <a:ext cx="314498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Manila Water</a:t>
            </a:r>
            <a:endParaRPr lang="en-US" sz="1400" dirty="0"/>
          </a:p>
        </p:txBody>
      </p:sp>
      <p:sp>
        <p:nvSpPr>
          <p:cNvPr id="11" name="Text 9"/>
          <p:cNvSpPr/>
          <p:nvPr/>
        </p:nvSpPr>
        <p:spPr>
          <a:xfrm>
            <a:off x="4569273" y="2474528"/>
            <a:ext cx="3144984"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Cheap at 8.2× EBITDA, but operating cash flow is only 28% of EBITDA, under our 50% test. It returns when cash catches up.</a:t>
            </a:r>
            <a:endParaRPr lang="en-US" sz="1200" dirty="0"/>
          </a:p>
        </p:txBody>
      </p:sp>
      <p:sp>
        <p:nvSpPr>
          <p:cNvPr id="12" name="Shape 10"/>
          <p:cNvSpPr/>
          <p:nvPr/>
        </p:nvSpPr>
        <p:spPr>
          <a:xfrm>
            <a:off x="7961814" y="1572822"/>
            <a:ext cx="3414219" cy="1671351"/>
          </a:xfrm>
          <a:prstGeom prst="roundRect">
            <a:avLst>
              <a:gd name="adj" fmla="val 4369"/>
            </a:avLst>
          </a:prstGeom>
          <a:solidFill>
            <a:srgbClr val="FBFBF7"/>
          </a:solidFill>
          <a:ln w="6350">
            <a:solidFill>
              <a:srgbClr val="DCE0D9"/>
            </a:solidFill>
            <a:prstDash val="solid"/>
          </a:ln>
        </p:spPr>
      </p:sp>
      <p:sp>
        <p:nvSpPr>
          <p:cNvPr id="13" name="Text 11"/>
          <p:cNvSpPr/>
          <p:nvPr/>
        </p:nvSpPr>
        <p:spPr>
          <a:xfrm>
            <a:off x="8142232" y="1702426"/>
            <a:ext cx="3144984"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2019"/>
                </a:solidFill>
                <a:latin typeface="Source Serif 4" pitchFamily="18" charset="0"/>
                <a:ea typeface="Source Serif 4" pitchFamily="18" charset="-122"/>
                <a:cs typeface="Source Serif 4" pitchFamily="18" charset="-120"/>
              </a:rPr>
              <a:t>Outside</a:t>
            </a:r>
            <a:endParaRPr lang="en-US" sz="3600" dirty="0"/>
          </a:p>
        </p:txBody>
      </p:sp>
      <p:sp>
        <p:nvSpPr>
          <p:cNvPr id="14" name="Text 12"/>
          <p:cNvSpPr/>
          <p:nvPr/>
        </p:nvSpPr>
        <p:spPr>
          <a:xfrm>
            <a:off x="8142232" y="2210414"/>
            <a:ext cx="3230626"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Meralco, PLDT, Globe, Aboitiz Power</a:t>
            </a:r>
            <a:endParaRPr lang="en-US" sz="1400" dirty="0"/>
          </a:p>
        </p:txBody>
      </p:sp>
      <p:sp>
        <p:nvSpPr>
          <p:cNvPr id="15" name="Text 13"/>
          <p:cNvSpPr/>
          <p:nvPr/>
        </p:nvSpPr>
        <p:spPr>
          <a:xfrm>
            <a:off x="8142232" y="2474528"/>
            <a:ext cx="3144984"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Good companies below the 20 largest worldwide in their field: the same size floor every country faces</a:t>
            </a:r>
            <a:endParaRPr lang="en-US" sz="1200" dirty="0"/>
          </a:p>
        </p:txBody>
      </p:sp>
      <p:sp>
        <p:nvSpPr>
          <p:cNvPr id="16" name="Text 14"/>
          <p:cNvSpPr/>
          <p:nvPr/>
        </p:nvSpPr>
        <p:spPr>
          <a:xfrm>
            <a:off x="812765" y="3425143"/>
            <a:ext cx="10566443" cy="434302"/>
          </a:xfrm>
          <a:prstGeom prst="roundRect">
            <a:avLst>
              <a:gd name="adj" fmla="val 17545"/>
            </a:avLst>
          </a:prstGeom>
          <a:solidFill>
            <a:srgbClr val="FFF4E0"/>
          </a:solidFill>
          <a:ln/>
        </p:spPr>
        <p:txBody>
          <a:bodyPr wrap="square" lIns="193157" tIns="79282" rIns="0" bIns="53839" rtlCol="0" anchor="t">
            <a:normAutofit/>
          </a:bodyPr>
          <a:lstStyle/>
          <a:p>
            <a:pPr algn="l"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Our answer: we never set it. A quota would put the number in by assumption. The investor still saves, invests and redeems in pesos.</a:t>
            </a:r>
            <a:endParaRPr lang="en-US" sz="1300" dirty="0"/>
          </a:p>
        </p:txBody>
      </p:sp>
      <p:sp>
        <p:nvSpPr>
          <p:cNvPr id="17" name="Shape 15"/>
          <p:cNvSpPr/>
          <p:nvPr/>
        </p:nvSpPr>
        <p:spPr>
          <a:xfrm>
            <a:off x="812765" y="3425143"/>
            <a:ext cx="10566443" cy="434302"/>
          </a:xfrm>
          <a:custGeom>
            <a:avLst/>
            <a:gdLst/>
            <a:ahLst/>
            <a:cxnLst/>
            <a:rect l="l" t="t" r="r" b="b"/>
            <a:pathLst>
              <a:path w="10566443" h="434302">
                <a:moveTo>
                  <a:pt x="76200" y="434302"/>
                </a:moveTo>
                <a:lnTo>
                  <a:pt x="76200" y="434302"/>
                </a:lnTo>
                <a:arcTo hR="76200" wR="76200" stAng="5400000" swAng="5400000"/>
                <a:lnTo>
                  <a:pt x="0" y="76200"/>
                </a:lnTo>
                <a:arcTo hR="76200" wR="76200" stAng="10800000" swAng="5400000"/>
                <a:lnTo>
                  <a:pt x="76200" y="0"/>
                </a:lnTo>
                <a:arcTo hR="76200" wR="38100" stAng="16200000" swAng="-5400000"/>
                <a:lnTo>
                  <a:pt x="38100" y="358102"/>
                </a:lnTo>
                <a:arcTo hR="76200" wR="38100" stAng="10800000" swAng="-5400000"/>
                <a:close/>
              </a:path>
            </a:pathLst>
          </a:custGeom>
          <a:solidFill>
            <a:srgbClr val="C9761F"/>
          </a:solidFill>
          <a:ln/>
        </p:spPr>
      </p:sp>
      <p:sp>
        <p:nvSpPr>
          <p:cNvPr id="18" name="Text 16"/>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Philippine weight ranged 3.2%–5.3% across the 21 quarterly rebalances · Meralco US$7.4bn and PLDT US$3.9bn against a 20th-largest power or telecom company near US$39bn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1"/>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DOES THE RISK MODEL EARN ITS COMPLEXITY?</a:t>
            </a:r>
            <a:endParaRPr lang="en-US" sz="1200" dirty="0"/>
          </a:p>
        </p:txBody>
      </p:sp>
      <p:sp>
        <p:nvSpPr>
          <p:cNvPr id="3" name="Text 1"/>
          <p:cNvSpPr/>
          <p:nvPr>
            <p:ph type="title"/>
          </p:nvPr>
        </p:nvSpPr>
        <p:spPr>
          <a:xfrm>
            <a:off x="812765" y="1000702"/>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Same 31 holdings, three ways to weight them, same costs</a:t>
            </a:r>
            <a:endParaRPr lang="en-US" sz="2800" dirty="0"/>
          </a:p>
        </p:txBody>
      </p:sp>
      <p:sp>
        <p:nvSpPr>
          <p:cNvPr id="4" name="Shape 2"/>
          <p:cNvSpPr/>
          <p:nvPr/>
        </p:nvSpPr>
        <p:spPr>
          <a:xfrm>
            <a:off x="812765" y="1569647"/>
            <a:ext cx="5857505" cy="2623836"/>
          </a:xfrm>
          <a:prstGeom prst="rect">
            <a:avLst/>
          </a:prstGeom>
          <a:solidFill>
            <a:srgbClr val="FBFBF7"/>
          </a:solidFill>
          <a:ln/>
        </p:spPr>
      </p:sp>
      <p:sp>
        <p:nvSpPr>
          <p:cNvPr id="5" name="Shape 3"/>
          <p:cNvSpPr/>
          <p:nvPr/>
        </p:nvSpPr>
        <p:spPr>
          <a:xfrm>
            <a:off x="6667095" y="1569647"/>
            <a:ext cx="0" cy="2623836"/>
          </a:xfrm>
          <a:prstGeom prst="line">
            <a:avLst/>
          </a:prstGeom>
          <a:noFill/>
          <a:ln w="6350">
            <a:solidFill>
              <a:srgbClr val="DCE0D9"/>
            </a:solidFill>
            <a:prstDash val="solid"/>
          </a:ln>
        </p:spPr>
      </p:sp>
      <p:sp>
        <p:nvSpPr>
          <p:cNvPr id="6" name="Shape 4"/>
          <p:cNvSpPr/>
          <p:nvPr/>
        </p:nvSpPr>
        <p:spPr>
          <a:xfrm>
            <a:off x="812765" y="4190307"/>
            <a:ext cx="5857505" cy="0"/>
          </a:xfrm>
          <a:prstGeom prst="line">
            <a:avLst/>
          </a:prstGeom>
          <a:noFill/>
          <a:ln w="6350">
            <a:solidFill>
              <a:srgbClr val="DCE0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1581240"/>
          <a:ext cx="5840115" cy="2606445"/>
        </p:xfrm>
        <a:graphic>
          <a:graphicData uri="http://schemas.openxmlformats.org/drawingml/2006/table">
            <a:tbl>
              <a:tblPr/>
              <a:tblGrid>
                <a:gridCol w="2336046"/>
                <a:gridCol w="1168023"/>
                <a:gridCol w="1168023"/>
                <a:gridCol w="1168023"/>
              </a:tblGrid>
              <a:tr h="556305">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Risk model (ERC)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Inverse vol.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Equal weight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₱100 became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399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Return a year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Volatility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Worst fall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−7.4%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Semiconductors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8.1%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8.1%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Digital networks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34.1%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8" name="Text 5"/>
          <p:cNvSpPr/>
          <p:nvPr/>
        </p:nvSpPr>
        <p:spPr>
          <a:xfrm>
            <a:off x="6876603" y="1572822"/>
            <a:ext cx="4499430" cy="899253"/>
          </a:xfrm>
          <a:prstGeom prst="roundRect">
            <a:avLst>
              <a:gd name="adj" fmla="val 8121"/>
            </a:avLst>
          </a:prstGeom>
          <a:solidFill>
            <a:srgbClr val="FBFBF7"/>
          </a:solidFill>
          <a:ln w="6350">
            <a:solidFill>
              <a:srgbClr val="DCE0D9"/>
            </a:solidFill>
            <a:prstDash val="solid"/>
          </a:ln>
        </p:spPr>
        <p:txBody>
          <a:bodyPr wrap="square" lIns="159029" tIns="108233" rIns="34873"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Equal weight made more:</a:t>
            </a:r>
            <a:r>
              <a:rPr lang="en-US" sz="1200" dirty="0">
                <a:solidFill>
                  <a:srgbClr val="3D4943"/>
                </a:solidFill>
                <a:latin typeface="IBM Plex Sans" pitchFamily="34" charset="0"/>
                <a:ea typeface="IBM Plex Sans" pitchFamily="34" charset="-122"/>
                <a:cs typeface="IBM Plex Sans" pitchFamily="34" charset="-120"/>
              </a:rPr>
              <a:t> 31.8% a year, because it held about twice as much in chips through the AI boom. It also swung more and fell further.</a:t>
            </a:r>
            <a:endParaRPr lang="en-US" sz="1200" dirty="0"/>
          </a:p>
        </p:txBody>
      </p:sp>
      <p:sp>
        <p:nvSpPr>
          <p:cNvPr id="9" name="Text 6"/>
          <p:cNvSpPr/>
          <p:nvPr/>
        </p:nvSpPr>
        <p:spPr>
          <a:xfrm>
            <a:off x="6876603" y="2580004"/>
            <a:ext cx="4499430" cy="1112600"/>
          </a:xfrm>
          <a:prstGeom prst="roundRect">
            <a:avLst>
              <a:gd name="adj" fmla="val 6563"/>
            </a:avLst>
          </a:prstGeom>
          <a:solidFill>
            <a:srgbClr val="FBFBF7"/>
          </a:solidFill>
          <a:ln w="6350">
            <a:solidFill>
              <a:srgbClr val="DCE0D9"/>
            </a:solidFill>
            <a:prstDash val="solid"/>
          </a:ln>
        </p:spPr>
        <p:txBody>
          <a:bodyPr wrap="square" lIns="159029" tIns="108233" rIns="34873"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Inverse volatility came within 0.2 pts</a:t>
            </a:r>
            <a:r>
              <a:rPr lang="en-US" sz="1200" dirty="0">
                <a:solidFill>
                  <a:srgbClr val="3D4943"/>
                </a:solidFill>
                <a:latin typeface="IBM Plex Sans" pitchFamily="34" charset="0"/>
                <a:ea typeface="IBM Plex Sans" pitchFamily="34" charset="-122"/>
                <a:cs typeface="IBM Plex Sans" pitchFamily="34" charset="-120"/>
              </a:rPr>
              <a:t> of the risk model, but without our limits: it would put 34.1% in telecoms, over the 25% limit. ERC applies the limits inside the solve and accounts for correlation.</a:t>
            </a:r>
            <a:endParaRPr lang="en-US" sz="1200" dirty="0"/>
          </a:p>
        </p:txBody>
      </p:sp>
      <p:sp>
        <p:nvSpPr>
          <p:cNvPr id="10" name="Text 7"/>
          <p:cNvSpPr/>
          <p:nvPr/>
        </p:nvSpPr>
        <p:spPr>
          <a:xfrm>
            <a:off x="6873428" y="3797356"/>
            <a:ext cx="4505780" cy="680663"/>
          </a:xfrm>
          <a:prstGeom prst="roundRect">
            <a:avLst>
              <a:gd name="adj" fmla="val 11195"/>
            </a:avLst>
          </a:prstGeom>
          <a:solidFill>
            <a:srgbClr val="E7EFE9"/>
          </a:solidFill>
          <a:ln/>
        </p:spPr>
        <p:txBody>
          <a:bodyPr wrap="square" lIns="155478" tIns="104682" rIns="30973" bIns="79251"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We chose the method before testing</a:t>
            </a:r>
            <a:r>
              <a:rPr lang="en-US" sz="1200" dirty="0">
                <a:solidFill>
                  <a:srgbClr val="3D4943"/>
                </a:solidFill>
                <a:latin typeface="IBM Plex Sans" pitchFamily="34" charset="0"/>
                <a:ea typeface="IBM Plex Sans" pitchFamily="34" charset="-122"/>
                <a:cs typeface="IBM Plex Sans" pitchFamily="34" charset="-120"/>
              </a:rPr>
              <a:t> and do not switch to the winner after the fact.</a:t>
            </a:r>
            <a:endParaRPr lang="en-US" sz="1200" dirty="0"/>
          </a:p>
        </p:txBody>
      </p:sp>
      <p:sp>
        <p:nvSpPr>
          <p:cNvPr id="11" name="Text 8"/>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Weekly, 1 Oct 2021 – 2 Oct 2026, in pesos, after the 1.50% fee, 0.30% trading costs and estimated dividend withholding · historical performance of the currently selected portfolio, not a backtest of the process · inverse volatility and equal weight shown without the 25% type limit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HISTORICAL PERFORMANCE OF THE CURRENTLY SELECTED PORTFOLIO · AFTER ALL COSTS, IN PESOS</a:t>
            </a:r>
            <a:endParaRPr lang="en-US" sz="1200" dirty="0"/>
          </a:p>
        </p:txBody>
      </p:sp>
      <p:sp>
        <p:nvSpPr>
          <p:cNvPr id="3" name="Text 1"/>
          <p:cNvSpPr/>
          <p:nvPr>
            <p:ph type="title"/>
          </p:nvPr>
        </p:nvSpPr>
        <p:spPr>
          <a:xfrm>
            <a:off x="812765" y="1000708"/>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19"/>
                </a:solidFill>
                <a:latin typeface="Source Serif 4" pitchFamily="18" charset="0"/>
                <a:ea typeface="Source Serif 4" pitchFamily="18" charset="-122"/>
                <a:cs typeface="Source Serif 4" pitchFamily="18" charset="-120"/>
              </a:rPr>
              <a:t>Five years: ahead of the world and the PSEi, behind tech</a:t>
            </a:r>
            <a:endParaRPr lang="en-US" sz="2400" dirty="0"/>
          </a:p>
        </p:txBody>
      </p:sp>
      <p:sp>
        <p:nvSpPr>
          <p:cNvPr id="4" name="Text 2"/>
          <p:cNvSpPr/>
          <p:nvPr/>
        </p:nvSpPr>
        <p:spPr>
          <a:xfrm>
            <a:off x="1447779" y="1663663"/>
            <a:ext cx="4578308"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Growth of ₱100 · linear scale from zero</a:t>
            </a:r>
            <a:endParaRPr lang="en-US" sz="1200" dirty="0"/>
          </a:p>
        </p:txBody>
      </p:sp>
      <p:pic>
        <p:nvPicPr>
          <p:cNvPr id="5" name="Image 0" descr="Growth of 100 pesos, Oct 2021 to Oct 2026: Firsts Fund 306, global tech ETF 337, MSCI ACWI 213">    </p:cNvPr>
          <p:cNvPicPr>
            <a:picLocks noChangeAspect="1"/>
          </p:cNvPicPr>
          <p:nvPr/>
        </p:nvPicPr>
        <p:blipFill>
          <a:blip r:embed="rId1"/>
          <a:srcRect l="0" r="0" t="0" b="0"/>
          <a:stretch/>
        </p:blipFill>
        <p:spPr>
          <a:xfrm>
            <a:off x="1447779" y="1905000"/>
            <a:ext cx="6222971" cy="2793979"/>
          </a:xfrm>
          <a:prstGeom prst="rect">
            <a:avLst/>
          </a:prstGeom>
        </p:spPr>
      </p:pic>
      <p:sp>
        <p:nvSpPr>
          <p:cNvPr id="6" name="Text 3"/>
          <p:cNvSpPr/>
          <p:nvPr/>
        </p:nvSpPr>
        <p:spPr>
          <a:xfrm>
            <a:off x="761965" y="4591013"/>
            <a:ext cx="558784"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0</a:t>
            </a:r>
            <a:endParaRPr lang="en-US" sz="1200" dirty="0"/>
          </a:p>
        </p:txBody>
      </p:sp>
      <p:sp>
        <p:nvSpPr>
          <p:cNvPr id="7" name="Text 4"/>
          <p:cNvSpPr/>
          <p:nvPr/>
        </p:nvSpPr>
        <p:spPr>
          <a:xfrm>
            <a:off x="761965" y="3968725"/>
            <a:ext cx="558784"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100</a:t>
            </a:r>
            <a:endParaRPr lang="en-US" sz="1200" dirty="0"/>
          </a:p>
        </p:txBody>
      </p:sp>
      <p:sp>
        <p:nvSpPr>
          <p:cNvPr id="8" name="Text 5"/>
          <p:cNvSpPr/>
          <p:nvPr/>
        </p:nvSpPr>
        <p:spPr>
          <a:xfrm>
            <a:off x="761965" y="3346438"/>
            <a:ext cx="558784"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200</a:t>
            </a:r>
            <a:endParaRPr lang="en-US" sz="1200" dirty="0"/>
          </a:p>
        </p:txBody>
      </p:sp>
      <p:sp>
        <p:nvSpPr>
          <p:cNvPr id="9" name="Text 6"/>
          <p:cNvSpPr/>
          <p:nvPr/>
        </p:nvSpPr>
        <p:spPr>
          <a:xfrm>
            <a:off x="761965" y="2730488"/>
            <a:ext cx="558784"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300</a:t>
            </a:r>
            <a:endParaRPr lang="en-US" sz="1200" dirty="0"/>
          </a:p>
        </p:txBody>
      </p:sp>
      <p:sp>
        <p:nvSpPr>
          <p:cNvPr id="10" name="Text 7"/>
          <p:cNvSpPr/>
          <p:nvPr/>
        </p:nvSpPr>
        <p:spPr>
          <a:xfrm>
            <a:off x="761965" y="2108200"/>
            <a:ext cx="558784"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400</a:t>
            </a:r>
            <a:endParaRPr lang="en-US" sz="1200" dirty="0"/>
          </a:p>
        </p:txBody>
      </p:sp>
      <p:sp>
        <p:nvSpPr>
          <p:cNvPr id="11" name="Text 8"/>
          <p:cNvSpPr/>
          <p:nvPr/>
        </p:nvSpPr>
        <p:spPr>
          <a:xfrm>
            <a:off x="1479531" y="4775194"/>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2022</a:t>
            </a:r>
            <a:endParaRPr lang="en-US" sz="1200" dirty="0"/>
          </a:p>
        </p:txBody>
      </p:sp>
      <p:sp>
        <p:nvSpPr>
          <p:cNvPr id="12" name="Text 9"/>
          <p:cNvSpPr/>
          <p:nvPr/>
        </p:nvSpPr>
        <p:spPr>
          <a:xfrm>
            <a:off x="2724107" y="4775194"/>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2023</a:t>
            </a:r>
            <a:endParaRPr lang="en-US" sz="1200" dirty="0"/>
          </a:p>
        </p:txBody>
      </p:sp>
      <p:sp>
        <p:nvSpPr>
          <p:cNvPr id="13" name="Text 10"/>
          <p:cNvSpPr/>
          <p:nvPr/>
        </p:nvSpPr>
        <p:spPr>
          <a:xfrm>
            <a:off x="3968728" y="4775194"/>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2024</a:t>
            </a:r>
            <a:endParaRPr lang="en-US" sz="1200" dirty="0"/>
          </a:p>
        </p:txBody>
      </p:sp>
      <p:sp>
        <p:nvSpPr>
          <p:cNvPr id="14" name="Text 11"/>
          <p:cNvSpPr/>
          <p:nvPr/>
        </p:nvSpPr>
        <p:spPr>
          <a:xfrm>
            <a:off x="5213350" y="4775194"/>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2025</a:t>
            </a:r>
            <a:endParaRPr lang="en-US" sz="1200" dirty="0"/>
          </a:p>
        </p:txBody>
      </p:sp>
      <p:sp>
        <p:nvSpPr>
          <p:cNvPr id="15" name="Text 12"/>
          <p:cNvSpPr/>
          <p:nvPr/>
        </p:nvSpPr>
        <p:spPr>
          <a:xfrm>
            <a:off x="6457926" y="4775194"/>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2026</a:t>
            </a:r>
            <a:endParaRPr lang="en-US" sz="1200" dirty="0"/>
          </a:p>
        </p:txBody>
      </p:sp>
      <p:sp>
        <p:nvSpPr>
          <p:cNvPr id="16" name="Shape 13"/>
          <p:cNvSpPr/>
          <p:nvPr/>
        </p:nvSpPr>
        <p:spPr>
          <a:xfrm>
            <a:off x="8000982" y="1663663"/>
            <a:ext cx="3378180" cy="2905520"/>
          </a:xfrm>
          <a:prstGeom prst="rect">
            <a:avLst/>
          </a:prstGeom>
          <a:solidFill>
            <a:srgbClr val="FBFBF7"/>
          </a:solidFill>
          <a:ln/>
        </p:spPr>
      </p:sp>
      <p:sp>
        <p:nvSpPr>
          <p:cNvPr id="17" name="Shape 14"/>
          <p:cNvSpPr/>
          <p:nvPr/>
        </p:nvSpPr>
        <p:spPr>
          <a:xfrm>
            <a:off x="11375987" y="1663663"/>
            <a:ext cx="0" cy="2905520"/>
          </a:xfrm>
          <a:prstGeom prst="line">
            <a:avLst/>
          </a:prstGeom>
          <a:noFill/>
          <a:ln w="6350">
            <a:solidFill>
              <a:srgbClr val="DCE0D9"/>
            </a:solidFill>
            <a:prstDash val="solid"/>
          </a:ln>
        </p:spPr>
      </p:sp>
      <p:sp>
        <p:nvSpPr>
          <p:cNvPr id="18" name="Shape 15"/>
          <p:cNvSpPr/>
          <p:nvPr/>
        </p:nvSpPr>
        <p:spPr>
          <a:xfrm>
            <a:off x="8000982" y="4566008"/>
            <a:ext cx="3378180" cy="0"/>
          </a:xfrm>
          <a:prstGeom prst="line">
            <a:avLst/>
          </a:prstGeom>
          <a:noFill/>
          <a:ln w="6350">
            <a:solidFill>
              <a:srgbClr val="DCE0D9"/>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012576" y="1675256"/>
          <a:ext cx="3360790" cy="2888130"/>
        </p:xfrm>
        <a:graphic>
          <a:graphicData uri="http://schemas.openxmlformats.org/drawingml/2006/table">
            <a:tbl>
              <a:tblPr/>
              <a:tblGrid>
                <a:gridCol w="941021"/>
                <a:gridCol w="604942"/>
                <a:gridCol w="604942"/>
                <a:gridCol w="604942"/>
                <a:gridCol w="604942"/>
              </a:tblGrid>
              <a:tr h="514369">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World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C9761F"/>
                          </a:solidFill>
                          <a:latin typeface="IBM Plex Sans" pitchFamily="34" charset="0"/>
                          <a:ea typeface="IBM Plex Sans" pitchFamily="34" charset="-122"/>
                          <a:cs typeface="IBM Plex Sans" pitchFamily="34" charset="-120"/>
                        </a:rPr>
                        <a:t>PSEi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 year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Swings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14.8%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23.6%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Worst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20" name="Text 16"/>
          <p:cNvSpPr/>
          <p:nvPr/>
        </p:nvSpPr>
        <p:spPr>
          <a:xfrm>
            <a:off x="8000982" y="4670760"/>
            <a:ext cx="3479526" cy="87878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 Firsts Fund</a:t>
            </a:r>
            <a:endParaRPr lang="en-US" sz="1200" dirty="0"/>
          </a:p>
          <a:p>
            <a:pPr algn="l" indent="0" marL="0">
              <a:lnSpc>
                <a:spcPts val="1680"/>
              </a:lnSpc>
              <a:buNone/>
            </a:pPr>
            <a:r>
              <a:rPr lang="en-US" sz="1200" b="1" dirty="0">
                <a:solidFill>
                  <a:srgbClr val="6B7570"/>
                </a:solidFill>
                <a:latin typeface="IBM Plex Sans" pitchFamily="34" charset="0"/>
                <a:ea typeface="IBM Plex Sans" pitchFamily="34" charset="-122"/>
                <a:cs typeface="IBM Plex Sans" pitchFamily="34" charset="-120"/>
              </a:rPr>
              <a:t>━ MSCI ACWI ETF (reference)</a:t>
            </a:r>
            <a:endParaRPr lang="en-US" sz="1200" dirty="0"/>
          </a:p>
          <a:p>
            <a:pPr algn="l" indent="0" marL="0">
              <a:lnSpc>
                <a:spcPts val="1680"/>
              </a:lnSpc>
              <a:buNone/>
            </a:pPr>
            <a:r>
              <a:rPr lang="en-US" sz="1200" b="1" dirty="0">
                <a:solidFill>
                  <a:srgbClr val="C9761F"/>
                </a:solidFill>
                <a:latin typeface="IBM Plex Sans" pitchFamily="34" charset="0"/>
                <a:ea typeface="IBM Plex Sans" pitchFamily="34" charset="-122"/>
                <a:cs typeface="IBM Plex Sans" pitchFamily="34" charset="-120"/>
              </a:rPr>
              <a:t>━ PSEi, via the FMETF tracker (local reference)</a:t>
            </a:r>
            <a:endParaRPr lang="en-US" sz="1200" dirty="0"/>
          </a:p>
          <a:p>
            <a:pPr algn="l"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 Global tech ETF (context)</a:t>
            </a:r>
            <a:endParaRPr lang="en-US" sz="1200" dirty="0"/>
          </a:p>
        </p:txBody>
      </p:sp>
      <p:sp>
        <p:nvSpPr>
          <p:cNvPr id="21" name="Text 17"/>
          <p:cNvSpPr/>
          <p:nvPr/>
        </p:nvSpPr>
        <p:spPr>
          <a:xfrm>
            <a:off x="812765" y="5118063"/>
            <a:ext cx="10566398" cy="896591"/>
          </a:xfrm>
          <a:prstGeom prst="roundRect">
            <a:avLst>
              <a:gd name="adj" fmla="val 8499"/>
            </a:avLst>
          </a:prstGeom>
          <a:solidFill>
            <a:srgbClr val="FFF4E0"/>
          </a:solidFill>
          <a:ln/>
        </p:spPr>
        <p:txBody>
          <a:bodyPr wrap="square" lIns="193157" tIns="79282" rIns="0" bIns="53839" rtlCol="0" anchor="t">
            <a:normAutofit/>
          </a:bodyPr>
          <a:lstStyle/>
          <a:p>
            <a:pPr algn="l"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How we defend it:</a:t>
            </a:r>
            <a:r>
              <a:rPr lang="en-US" sz="1300" dirty="0">
                <a:solidFill>
                  <a:srgbClr val="142019"/>
                </a:solidFill>
                <a:latin typeface="IBM Plex Sans" pitchFamily="34" charset="0"/>
                <a:ea typeface="IBM Plex Sans" pitchFamily="34" charset="-122"/>
                <a:cs typeface="IBM Plex Sans" pitchFamily="34" charset="-120"/>
              </a:rPr>
              <a:t> these 31 were picked in October 2026 with today's numbers, so 25.0% is hindsight, not a forecast or a backtest of our process. The shallow falls (about 41% of the world index's worst) carry the same caveat; over 36 years the industry proxy's worst fall was 44%.</a:t>
            </a:r>
            <a:endParaRPr lang="en-US" sz="1300" dirty="0"/>
          </a:p>
        </p:txBody>
      </p:sp>
      <p:sp>
        <p:nvSpPr>
          <p:cNvPr id="22" name="Shape 18"/>
          <p:cNvSpPr/>
          <p:nvPr/>
        </p:nvSpPr>
        <p:spPr>
          <a:xfrm>
            <a:off x="812765" y="5118063"/>
            <a:ext cx="10566398" cy="896591"/>
          </a:xfrm>
          <a:custGeom>
            <a:avLst/>
            <a:gdLst/>
            <a:ahLst/>
            <a:cxnLst/>
            <a:rect l="l" t="t" r="r" b="b"/>
            <a:pathLst>
              <a:path w="10566398" h="896591">
                <a:moveTo>
                  <a:pt x="76200" y="896591"/>
                </a:moveTo>
                <a:lnTo>
                  <a:pt x="76200" y="896591"/>
                </a:lnTo>
                <a:arcTo hR="76200" wR="76200" stAng="5400000" swAng="5400000"/>
                <a:lnTo>
                  <a:pt x="0" y="76200"/>
                </a:lnTo>
                <a:arcTo hR="76200" wR="76200" stAng="10800000" swAng="5400000"/>
                <a:lnTo>
                  <a:pt x="76200" y="0"/>
                </a:lnTo>
                <a:arcTo hR="76200" wR="38100" stAng="16200000" swAng="-5400000"/>
                <a:lnTo>
                  <a:pt x="38100" y="820391"/>
                </a:lnTo>
                <a:arcTo hR="76200" wR="38100" stAng="10800000" swAng="-5400000"/>
                <a:close/>
              </a:path>
            </a:pathLst>
          </a:custGeom>
          <a:solidFill>
            <a:srgbClr val="C9761F"/>
          </a:solidFill>
          <a:ln/>
        </p:spPr>
      </p:sp>
      <p:sp>
        <p:nvSpPr>
          <p:cNvPr id="23" name="Text 19"/>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Weekly, 1 Oct 2021 – 2 Oct 2026 · net of fee, trading costs and withholding · ETFs after their own costs · PSEi = FMETF price, no dividends · none is the fund's benchmark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PREVIOUS RULES VS REVISED RULES</a:t>
            </a:r>
            <a:endParaRPr lang="en-US" sz="1200" dirty="0"/>
          </a:p>
        </p:txBody>
      </p:sp>
      <p:sp>
        <p:nvSpPr>
          <p:cNvPr id="3" name="Text 1"/>
          <p:cNvSpPr/>
          <p:nvPr>
            <p:ph type="title"/>
          </p:nvPr>
        </p:nvSpPr>
        <p:spPr>
          <a:xfrm>
            <a:off x="812765" y="1000702"/>
            <a:ext cx="10883436" cy="80768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Same five years, same costs: the new rules are more defensible, not proven better</a:t>
            </a:r>
            <a:endParaRPr lang="en-US" sz="2800" dirty="0"/>
          </a:p>
        </p:txBody>
      </p:sp>
      <p:sp>
        <p:nvSpPr>
          <p:cNvPr id="4" name="Shape 2"/>
          <p:cNvSpPr/>
          <p:nvPr/>
        </p:nvSpPr>
        <p:spPr>
          <a:xfrm>
            <a:off x="812765" y="1960792"/>
            <a:ext cx="5757376" cy="3092601"/>
          </a:xfrm>
          <a:prstGeom prst="rect">
            <a:avLst/>
          </a:prstGeom>
          <a:solidFill>
            <a:srgbClr val="FBFBF7"/>
          </a:solidFill>
          <a:ln/>
        </p:spPr>
      </p:sp>
      <p:sp>
        <p:nvSpPr>
          <p:cNvPr id="5" name="Shape 3"/>
          <p:cNvSpPr/>
          <p:nvPr/>
        </p:nvSpPr>
        <p:spPr>
          <a:xfrm>
            <a:off x="6566966" y="1960792"/>
            <a:ext cx="0" cy="3092601"/>
          </a:xfrm>
          <a:prstGeom prst="line">
            <a:avLst/>
          </a:prstGeom>
          <a:noFill/>
          <a:ln w="6350">
            <a:solidFill>
              <a:srgbClr val="DCE0D9"/>
            </a:solidFill>
            <a:prstDash val="solid"/>
          </a:ln>
        </p:spPr>
      </p:sp>
      <p:sp>
        <p:nvSpPr>
          <p:cNvPr id="6" name="Shape 4"/>
          <p:cNvSpPr/>
          <p:nvPr/>
        </p:nvSpPr>
        <p:spPr>
          <a:xfrm>
            <a:off x="812765" y="5050218"/>
            <a:ext cx="5757376" cy="0"/>
          </a:xfrm>
          <a:prstGeom prst="line">
            <a:avLst/>
          </a:prstGeom>
          <a:noFill/>
          <a:ln w="6350">
            <a:solidFill>
              <a:srgbClr val="DCE0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1972385"/>
          <a:ext cx="5739986" cy="3075211"/>
        </p:xfrm>
        <a:graphic>
          <a:graphicData uri="http://schemas.openxmlformats.org/drawingml/2006/table">
            <a:tbl>
              <a:tblPr/>
              <a:tblGrid>
                <a:gridCol w="2181195"/>
                <a:gridCol w="1779396"/>
                <a:gridCol w="1779396"/>
              </a:tblGrid>
              <a:tr h="341690">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Previous (v3)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Revised (v4)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Holdings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21 (top 3 per 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31 (process decides)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Philippines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Return a year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Volatility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Worst fall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−7.4%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Worst 12 months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+4.3%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2022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Independent exposures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about 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about 9.4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8" name="Text 5"/>
          <p:cNvSpPr/>
          <p:nvPr/>
        </p:nvSpPr>
        <p:spPr>
          <a:xfrm>
            <a:off x="6776473" y="1963967"/>
            <a:ext cx="4599560" cy="1325947"/>
          </a:xfrm>
          <a:prstGeom prst="roundRect">
            <a:avLst>
              <a:gd name="adj" fmla="val 5507"/>
            </a:avLst>
          </a:prstGeom>
          <a:solidFill>
            <a:srgbClr val="FBFBF7"/>
          </a:solidFill>
          <a:ln w="6350">
            <a:solidFill>
              <a:srgbClr val="DCE0D9"/>
            </a:solidFill>
            <a:prstDash val="solid"/>
          </a:ln>
        </p:spPr>
        <p:txBody>
          <a:bodyPr wrap="square" lIns="159030" tIns="108233" rIns="31868"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What changed:</a:t>
            </a:r>
            <a:r>
              <a:rPr lang="en-US" sz="1200" dirty="0">
                <a:solidFill>
                  <a:srgbClr val="3D4943"/>
                </a:solidFill>
                <a:latin typeface="IBM Plex Sans" pitchFamily="34" charset="0"/>
                <a:ea typeface="IBM Plex Sans" pitchFamily="34" charset="-122"/>
                <a:cs typeface="IBM Plex Sans" pitchFamily="34" charset="-120"/>
              </a:rPr>
              <a:t> no dated-target test, debt judged under a stress that fits each type, valuation against peers including cash yield, hospitals added, holdings count from the process, 20% regulatory ceiling instead of our 10% cap, operating cash instead of a 10% reserve.</a:t>
            </a:r>
            <a:endParaRPr lang="en-US" sz="1200" dirty="0"/>
          </a:p>
        </p:txBody>
      </p:sp>
      <p:sp>
        <p:nvSpPr>
          <p:cNvPr id="9" name="Text 6"/>
          <p:cNvSpPr/>
          <p:nvPr/>
        </p:nvSpPr>
        <p:spPr>
          <a:xfrm>
            <a:off x="6776473" y="3397839"/>
            <a:ext cx="4599560" cy="1112600"/>
          </a:xfrm>
          <a:prstGeom prst="roundRect">
            <a:avLst>
              <a:gd name="adj" fmla="val 6563"/>
            </a:avLst>
          </a:prstGeom>
          <a:solidFill>
            <a:srgbClr val="FBFBF7"/>
          </a:solidFill>
          <a:ln w="6350">
            <a:solidFill>
              <a:srgbClr val="DCE0D9"/>
            </a:solidFill>
            <a:prstDash val="solid"/>
          </a:ln>
        </p:spPr>
        <p:txBody>
          <a:bodyPr wrap="square" lIns="159030" tIns="108233" rIns="31868"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Why the better numbers prove little:</a:t>
            </a:r>
            <a:r>
              <a:rPr lang="en-US" sz="1200" dirty="0">
                <a:solidFill>
                  <a:srgbClr val="3D4943"/>
                </a:solidFill>
                <a:latin typeface="IBM Plex Sans" pitchFamily="34" charset="0"/>
                <a:ea typeface="IBM Plex Sans" pitchFamily="34" charset="-122"/>
                <a:cs typeface="IBM Plex Sans" pitchFamily="34" charset="-120"/>
              </a:rPr>
              <a:t> both lists were chosen with October 2026 data. The gain may mostly reflect hospitals and broader diversification in this period; we have not attributed it.</a:t>
            </a:r>
            <a:endParaRPr lang="en-US" sz="1200" dirty="0"/>
          </a:p>
        </p:txBody>
      </p:sp>
      <p:sp>
        <p:nvSpPr>
          <p:cNvPr id="10" name="Text 7"/>
          <p:cNvSpPr/>
          <p:nvPr/>
        </p:nvSpPr>
        <p:spPr>
          <a:xfrm>
            <a:off x="6773298" y="4615191"/>
            <a:ext cx="4605910" cy="680663"/>
          </a:xfrm>
          <a:prstGeom prst="roundRect">
            <a:avLst>
              <a:gd name="adj" fmla="val 11195"/>
            </a:avLst>
          </a:prstGeom>
          <a:solidFill>
            <a:srgbClr val="E7EFE9"/>
          </a:solidFill>
          <a:ln/>
        </p:spPr>
        <p:txBody>
          <a:bodyPr wrap="square" lIns="155478" tIns="104682" rIns="27969" bIns="79251"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What we can claim:</a:t>
            </a:r>
            <a:r>
              <a:rPr lang="en-US" sz="1200" dirty="0">
                <a:solidFill>
                  <a:srgbClr val="3D4943"/>
                </a:solidFill>
                <a:latin typeface="IBM Plex Sans" pitchFamily="34" charset="0"/>
                <a:ea typeface="IBM Plex Sans" pitchFamily="34" charset="-122"/>
                <a:cs typeface="IBM Plex Sans" pitchFamily="34" charset="-120"/>
              </a:rPr>
              <a:t> rules set before testing, each exit recorded, and less concentration.</a:t>
            </a:r>
            <a:endParaRPr lang="en-US" sz="1200" dirty="0"/>
          </a:p>
        </p:txBody>
      </p:sp>
      <p:sp>
        <p:nvSpPr>
          <p:cNvPr id="11" name="Text 8"/>
          <p:cNvSpPr/>
          <p:nvPr/>
        </p:nvSpPr>
        <p:spPr>
          <a:xfrm>
            <a:off x="812765" y="6101104"/>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Both: weekly, 1 Oct 2021 – 2 Oct 2026, in pesos, net of 1.50% fee, 0.30% trading costs, est. withholding, cash at BSP policy rate − 0.50 pt · v3 keeps its own 10% reserve and limits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SIDE BY SIDE · OUR FUND VS A TECH FUND</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Tech pays more, and asks more of the saver</a:t>
            </a:r>
            <a:endParaRPr lang="en-US" sz="2800" dirty="0"/>
          </a:p>
        </p:txBody>
      </p:sp>
      <p:sp>
        <p:nvSpPr>
          <p:cNvPr id="4" name="Text 2"/>
          <p:cNvSpPr/>
          <p:nvPr/>
        </p:nvSpPr>
        <p:spPr>
          <a:xfrm>
            <a:off x="812765" y="1531516"/>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36 years · Jan 1990 – Aug 2026 · industry proxy, context only</a:t>
            </a:r>
            <a:endParaRPr lang="en-US" sz="1200" dirty="0"/>
          </a:p>
        </p:txBody>
      </p:sp>
      <p:sp>
        <p:nvSpPr>
          <p:cNvPr id="5" name="Shape 3"/>
          <p:cNvSpPr/>
          <p:nvPr/>
        </p:nvSpPr>
        <p:spPr>
          <a:xfrm>
            <a:off x="812765" y="1821036"/>
            <a:ext cx="5181643" cy="2547663"/>
          </a:xfrm>
          <a:prstGeom prst="rect">
            <a:avLst/>
          </a:prstGeom>
          <a:solidFill>
            <a:srgbClr val="FBFBF7"/>
          </a:solidFill>
          <a:ln/>
        </p:spPr>
      </p:sp>
      <p:sp>
        <p:nvSpPr>
          <p:cNvPr id="6" name="Shape 4"/>
          <p:cNvSpPr/>
          <p:nvPr/>
        </p:nvSpPr>
        <p:spPr>
          <a:xfrm>
            <a:off x="5991233" y="1821036"/>
            <a:ext cx="0" cy="2547663"/>
          </a:xfrm>
          <a:prstGeom prst="line">
            <a:avLst/>
          </a:prstGeom>
          <a:noFill/>
          <a:ln w="6350">
            <a:solidFill>
              <a:srgbClr val="DCE0D9"/>
            </a:solidFill>
            <a:prstDash val="solid"/>
          </a:ln>
        </p:spPr>
      </p:sp>
      <p:sp>
        <p:nvSpPr>
          <p:cNvPr id="7" name="Shape 5"/>
          <p:cNvSpPr/>
          <p:nvPr/>
        </p:nvSpPr>
        <p:spPr>
          <a:xfrm>
            <a:off x="812765" y="4365524"/>
            <a:ext cx="5181643" cy="0"/>
          </a:xfrm>
          <a:prstGeom prst="line">
            <a:avLst/>
          </a:prstGeom>
          <a:noFill/>
          <a:ln w="6350">
            <a:solidFill>
              <a:srgbClr val="DCE0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358" y="1832630"/>
          <a:ext cx="5164252" cy="2530273"/>
        </p:xfrm>
        <a:graphic>
          <a:graphicData uri="http://schemas.openxmlformats.org/drawingml/2006/table">
            <a:tbl>
              <a:tblPr/>
              <a:tblGrid>
                <a:gridCol w="2375556"/>
                <a:gridCol w="1394348"/>
                <a:gridCol w="1394348"/>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In pesos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Return a year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₱100 grew 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₱6,304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₱21,231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Volatility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Largest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Months to recover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Worst 12 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Calendar years ahead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15.0 of 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22.0 of 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9" name="Text 6"/>
          <p:cNvSpPr/>
          <p:nvPr/>
        </p:nvSpPr>
        <p:spPr>
          <a:xfrm>
            <a:off x="6197565" y="1531516"/>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When it mattered · total over the episode</a:t>
            </a:r>
            <a:endParaRPr lang="en-US" sz="1200" dirty="0"/>
          </a:p>
        </p:txBody>
      </p:sp>
      <p:sp>
        <p:nvSpPr>
          <p:cNvPr id="10" name="Shape 7"/>
          <p:cNvSpPr/>
          <p:nvPr/>
        </p:nvSpPr>
        <p:spPr>
          <a:xfrm>
            <a:off x="6197565" y="1821036"/>
            <a:ext cx="5181643" cy="1598811"/>
          </a:xfrm>
          <a:prstGeom prst="rect">
            <a:avLst/>
          </a:prstGeom>
          <a:solidFill>
            <a:srgbClr val="FBFBF7"/>
          </a:solidFill>
          <a:ln/>
        </p:spPr>
      </p:sp>
      <p:sp>
        <p:nvSpPr>
          <p:cNvPr id="11" name="Shape 8"/>
          <p:cNvSpPr/>
          <p:nvPr/>
        </p:nvSpPr>
        <p:spPr>
          <a:xfrm>
            <a:off x="11376033" y="1821036"/>
            <a:ext cx="0" cy="1598811"/>
          </a:xfrm>
          <a:prstGeom prst="line">
            <a:avLst/>
          </a:prstGeom>
          <a:noFill/>
          <a:ln w="6350">
            <a:solidFill>
              <a:srgbClr val="DCE0D9"/>
            </a:solidFill>
            <a:prstDash val="solid"/>
          </a:ln>
        </p:spPr>
      </p:sp>
      <p:sp>
        <p:nvSpPr>
          <p:cNvPr id="12" name="Shape 9"/>
          <p:cNvSpPr/>
          <p:nvPr/>
        </p:nvSpPr>
        <p:spPr>
          <a:xfrm>
            <a:off x="6197565" y="3416672"/>
            <a:ext cx="5181643" cy="0"/>
          </a:xfrm>
          <a:prstGeom prst="line">
            <a:avLst/>
          </a:prstGeom>
          <a:noFill/>
          <a:ln w="6350">
            <a:solidFill>
              <a:srgbClr val="DCE0D9"/>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09159" y="1832630"/>
          <a:ext cx="5164252" cy="1581420"/>
        </p:xfrm>
        <a:graphic>
          <a:graphicData uri="http://schemas.openxmlformats.org/drawingml/2006/table">
            <a:tbl>
              <a:tblPr/>
              <a:tblGrid>
                <a:gridCol w="2375556"/>
                <a:gridCol w="1394348"/>
                <a:gridCol w="1394348"/>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Episode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Dot-com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2008 crisis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COVID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Rate shock, 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4" name="Text 10"/>
          <p:cNvSpPr/>
          <p:nvPr/>
        </p:nvSpPr>
        <p:spPr>
          <a:xfrm>
            <a:off x="6197565" y="3496022"/>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5 years · our 31 vs the global tech ETF</a:t>
            </a:r>
            <a:endParaRPr lang="en-US" sz="1200" dirty="0"/>
          </a:p>
        </p:txBody>
      </p:sp>
      <p:sp>
        <p:nvSpPr>
          <p:cNvPr id="15" name="Shape 11"/>
          <p:cNvSpPr/>
          <p:nvPr/>
        </p:nvSpPr>
        <p:spPr>
          <a:xfrm>
            <a:off x="6197565" y="3785543"/>
            <a:ext cx="5181643" cy="333674"/>
          </a:xfrm>
          <a:prstGeom prst="rect">
            <a:avLst/>
          </a:prstGeom>
          <a:solidFill>
            <a:srgbClr val="FBFBF7"/>
          </a:solidFill>
          <a:ln/>
        </p:spPr>
      </p:sp>
      <p:sp>
        <p:nvSpPr>
          <p:cNvPr id="16" name="Shape 12"/>
          <p:cNvSpPr/>
          <p:nvPr/>
        </p:nvSpPr>
        <p:spPr>
          <a:xfrm>
            <a:off x="11376033" y="3785543"/>
            <a:ext cx="0" cy="333674"/>
          </a:xfrm>
          <a:prstGeom prst="line">
            <a:avLst/>
          </a:prstGeom>
          <a:noFill/>
          <a:ln w="6350">
            <a:solidFill>
              <a:srgbClr val="DCE0D9"/>
            </a:solidFill>
            <a:prstDash val="solid"/>
          </a:ln>
        </p:spPr>
      </p:sp>
      <p:sp>
        <p:nvSpPr>
          <p:cNvPr id="17" name="Shape 13"/>
          <p:cNvSpPr/>
          <p:nvPr/>
        </p:nvSpPr>
        <p:spPr>
          <a:xfrm>
            <a:off x="6197565" y="4116042"/>
            <a:ext cx="5181643" cy="0"/>
          </a:xfrm>
          <a:prstGeom prst="line">
            <a:avLst/>
          </a:prstGeom>
          <a:noFill/>
          <a:ln w="6350">
            <a:solidFill>
              <a:srgbClr val="DCE0D9"/>
            </a:solidFill>
            <a:prstDash val="solid"/>
          </a:ln>
        </p:spPr>
      </p:sp>
      <p:graphicFrame>
        <p:nvGraphicFramePr>
          <p:cNvPr id="18" name="Table 2"/>
          <p:cNvGraphicFramePr>
            <a:graphicFrameLocks noGrp="1"/>
          </p:cNvGraphicFramePr>
          <p:nvPr>
            <p:extLst>
              <p:ext uri="{D42A27DB-BD31-4B8C-83A1-F6EECF244321}">
                <p14:modId xmlns:p14="http://schemas.microsoft.com/office/powerpoint/2010/main" val="1579011935"/>
              </p:ext>
            </p:extLst>
          </p:nvPr>
        </p:nvGraphicFramePr>
        <p:xfrm>
          <a:off x="6209159" y="3797136"/>
          <a:ext cx="5164252" cy="316284"/>
        </p:xfrm>
        <a:graphic>
          <a:graphicData uri="http://schemas.openxmlformats.org/drawingml/2006/table">
            <a:tbl>
              <a:tblPr/>
              <a:tblGrid>
                <a:gridCol w="1721417"/>
                <a:gridCol w="1721417"/>
                <a:gridCol w="1721417"/>
              </a:tblGrid>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Return · worst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25.0% · −7.4%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27.4% · −26.6%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9" name="Text 14"/>
          <p:cNvSpPr/>
          <p:nvPr/>
        </p:nvSpPr>
        <p:spPr>
          <a:xfrm>
            <a:off x="812765" y="4508364"/>
            <a:ext cx="10566443" cy="665446"/>
          </a:xfrm>
          <a:prstGeom prst="roundRect">
            <a:avLst>
              <a:gd name="adj" fmla="val 11451"/>
            </a:avLst>
          </a:prstGeom>
          <a:solidFill>
            <a:srgbClr val="FFF4E0"/>
          </a:solidFill>
          <a:ln/>
        </p:spPr>
        <p:txBody>
          <a:bodyPr wrap="square" lIns="193157" tIns="79282" rIns="0" bIns="53839" rtlCol="0" anchor="t">
            <a:normAutofit/>
          </a:bodyPr>
          <a:lstStyle/>
          <a:p>
            <a:pPr algn="l"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Our defense:</a:t>
            </a:r>
            <a:r>
              <a:rPr lang="en-US" sz="1300" dirty="0">
                <a:solidFill>
                  <a:srgbClr val="142019"/>
                </a:solidFill>
                <a:latin typeface="IBM Plex Sans" pitchFamily="34" charset="0"/>
                <a:ea typeface="IBM Plex Sans" pitchFamily="34" charset="-122"/>
                <a:cs typeface="IBM Plex Sans" pitchFamily="34" charset="-120"/>
              </a:rPr>
              <a:t> tech earned more, and we say so. A saver with a first five years away cannot plan around a −73% fall and 16 years under water.</a:t>
            </a:r>
            <a:endParaRPr lang="en-US" sz="1300" dirty="0"/>
          </a:p>
        </p:txBody>
      </p:sp>
      <p:sp>
        <p:nvSpPr>
          <p:cNvPr id="20" name="Shape 15"/>
          <p:cNvSpPr/>
          <p:nvPr/>
        </p:nvSpPr>
        <p:spPr>
          <a:xfrm>
            <a:off x="812765" y="4508364"/>
            <a:ext cx="10566443" cy="665446"/>
          </a:xfrm>
          <a:custGeom>
            <a:avLst/>
            <a:gdLst/>
            <a:ahLst/>
            <a:cxnLst/>
            <a:rect l="l" t="t" r="r" b="b"/>
            <a:pathLst>
              <a:path w="10566443" h="665446">
                <a:moveTo>
                  <a:pt x="76200" y="665446"/>
                </a:moveTo>
                <a:lnTo>
                  <a:pt x="76200" y="665446"/>
                </a:lnTo>
                <a:arcTo hR="76200" wR="76200" stAng="5400000" swAng="5400000"/>
                <a:lnTo>
                  <a:pt x="0" y="76200"/>
                </a:lnTo>
                <a:arcTo hR="76200" wR="76200" stAng="10800000" swAng="5400000"/>
                <a:lnTo>
                  <a:pt x="76200" y="0"/>
                </a:lnTo>
                <a:arcTo hR="76200" wR="38100" stAng="16200000" swAng="-5400000"/>
                <a:lnTo>
                  <a:pt x="38100" y="589246"/>
                </a:lnTo>
                <a:arcTo hR="76200" wR="38100" stAng="10800000" swAng="-5400000"/>
                <a:close/>
              </a:path>
            </a:pathLst>
          </a:custGeom>
          <a:solidFill>
            <a:srgbClr val="C9761F"/>
          </a:solidFill>
          <a:ln/>
        </p:spPr>
      </p:sp>
      <p:sp>
        <p:nvSpPr>
          <p:cNvPr id="21" name="Text 16"/>
          <p:cNvSpPr/>
          <p:nvPr/>
        </p:nvSpPr>
        <p:spPr>
          <a:xfrm>
            <a:off x="812765" y="6101110"/>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36 years: industry proxy, context only: six US industries standing in for the eight types, same weighting (ERC, 25% type limit), 1.50% fee and trading costs, no company screens; tech = hardware, software, chips, lab equipment · 5 years: historical performance of the currently selected portfolio, with hindsight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SIDE BY SIDE · OUR FUND VS A MARKET FUND</a:t>
            </a:r>
            <a:endParaRPr lang="en-US" sz="1200" dirty="0"/>
          </a:p>
        </p:txBody>
      </p:sp>
      <p:sp>
        <p:nvSpPr>
          <p:cNvPr id="3" name="Text 1"/>
          <p:cNvSpPr/>
          <p:nvPr>
            <p:ph type="title"/>
          </p:nvPr>
        </p:nvSpPr>
        <p:spPr>
          <a:xfrm>
            <a:off x="812765" y="1000708"/>
            <a:ext cx="11379235"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Over 36 years, about the market's return, with shallower falls</a:t>
            </a:r>
            <a:endParaRPr lang="en-US" sz="2800" dirty="0"/>
          </a:p>
        </p:txBody>
      </p:sp>
      <p:sp>
        <p:nvSpPr>
          <p:cNvPr id="4" name="Text 2"/>
          <p:cNvSpPr/>
          <p:nvPr/>
        </p:nvSpPr>
        <p:spPr>
          <a:xfrm>
            <a:off x="812765" y="1531516"/>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36 years · Jan 1990 – Aug 2026 · industry proxy, context only</a:t>
            </a:r>
            <a:endParaRPr lang="en-US" sz="1200" dirty="0"/>
          </a:p>
        </p:txBody>
      </p:sp>
      <p:sp>
        <p:nvSpPr>
          <p:cNvPr id="5" name="Shape 3"/>
          <p:cNvSpPr/>
          <p:nvPr/>
        </p:nvSpPr>
        <p:spPr>
          <a:xfrm>
            <a:off x="812765" y="1821036"/>
            <a:ext cx="5181643" cy="2547663"/>
          </a:xfrm>
          <a:prstGeom prst="rect">
            <a:avLst/>
          </a:prstGeom>
          <a:solidFill>
            <a:srgbClr val="FBFBF7"/>
          </a:solidFill>
          <a:ln/>
        </p:spPr>
      </p:sp>
      <p:sp>
        <p:nvSpPr>
          <p:cNvPr id="6" name="Shape 4"/>
          <p:cNvSpPr/>
          <p:nvPr/>
        </p:nvSpPr>
        <p:spPr>
          <a:xfrm>
            <a:off x="5991233" y="1821036"/>
            <a:ext cx="0" cy="2547663"/>
          </a:xfrm>
          <a:prstGeom prst="line">
            <a:avLst/>
          </a:prstGeom>
          <a:noFill/>
          <a:ln w="6350">
            <a:solidFill>
              <a:srgbClr val="DCE0D9"/>
            </a:solidFill>
            <a:prstDash val="solid"/>
          </a:ln>
        </p:spPr>
      </p:sp>
      <p:sp>
        <p:nvSpPr>
          <p:cNvPr id="7" name="Shape 5"/>
          <p:cNvSpPr/>
          <p:nvPr/>
        </p:nvSpPr>
        <p:spPr>
          <a:xfrm>
            <a:off x="812765" y="4365524"/>
            <a:ext cx="5181643" cy="0"/>
          </a:xfrm>
          <a:prstGeom prst="line">
            <a:avLst/>
          </a:prstGeom>
          <a:noFill/>
          <a:ln w="6350">
            <a:solidFill>
              <a:srgbClr val="DCE0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358" y="1832630"/>
          <a:ext cx="5164252" cy="2530273"/>
        </p:xfrm>
        <a:graphic>
          <a:graphicData uri="http://schemas.openxmlformats.org/drawingml/2006/table">
            <a:tbl>
              <a:tblPr/>
              <a:tblGrid>
                <a:gridCol w="2375556"/>
                <a:gridCol w="1394348"/>
                <a:gridCol w="1394348"/>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In pesos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Market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Return a year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₱100 grew 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₱6,304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₱6,915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Volatility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Largest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−46.8%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Months to recover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Worst 12 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Calendar years ahead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19.0 of 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18.0 of 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9" name="Text 6"/>
          <p:cNvSpPr/>
          <p:nvPr/>
        </p:nvSpPr>
        <p:spPr>
          <a:xfrm>
            <a:off x="6197565" y="1531516"/>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When it mattered · total over the episode</a:t>
            </a:r>
            <a:endParaRPr lang="en-US" sz="1200" dirty="0"/>
          </a:p>
        </p:txBody>
      </p:sp>
      <p:sp>
        <p:nvSpPr>
          <p:cNvPr id="10" name="Shape 7"/>
          <p:cNvSpPr/>
          <p:nvPr/>
        </p:nvSpPr>
        <p:spPr>
          <a:xfrm>
            <a:off x="6197565" y="1821036"/>
            <a:ext cx="5181643" cy="1598811"/>
          </a:xfrm>
          <a:prstGeom prst="rect">
            <a:avLst/>
          </a:prstGeom>
          <a:solidFill>
            <a:srgbClr val="FBFBF7"/>
          </a:solidFill>
          <a:ln/>
        </p:spPr>
      </p:sp>
      <p:sp>
        <p:nvSpPr>
          <p:cNvPr id="11" name="Shape 8"/>
          <p:cNvSpPr/>
          <p:nvPr/>
        </p:nvSpPr>
        <p:spPr>
          <a:xfrm>
            <a:off x="11376033" y="1821036"/>
            <a:ext cx="0" cy="1598811"/>
          </a:xfrm>
          <a:prstGeom prst="line">
            <a:avLst/>
          </a:prstGeom>
          <a:noFill/>
          <a:ln w="6350">
            <a:solidFill>
              <a:srgbClr val="DCE0D9"/>
            </a:solidFill>
            <a:prstDash val="solid"/>
          </a:ln>
        </p:spPr>
      </p:sp>
      <p:sp>
        <p:nvSpPr>
          <p:cNvPr id="12" name="Shape 9"/>
          <p:cNvSpPr/>
          <p:nvPr/>
        </p:nvSpPr>
        <p:spPr>
          <a:xfrm>
            <a:off x="6197565" y="3416672"/>
            <a:ext cx="5181643" cy="0"/>
          </a:xfrm>
          <a:prstGeom prst="line">
            <a:avLst/>
          </a:prstGeom>
          <a:noFill/>
          <a:ln w="6350">
            <a:solidFill>
              <a:srgbClr val="DCE0D9"/>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09159" y="1832630"/>
          <a:ext cx="5164252" cy="1581420"/>
        </p:xfrm>
        <a:graphic>
          <a:graphicData uri="http://schemas.openxmlformats.org/drawingml/2006/table">
            <a:tbl>
              <a:tblPr/>
              <a:tblGrid>
                <a:gridCol w="2375556"/>
                <a:gridCol w="1394348"/>
                <a:gridCol w="1394348"/>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Episode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Market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Dot-com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2008 crisis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COVID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Rate shock, 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4" name="Text 10"/>
          <p:cNvSpPr/>
          <p:nvPr/>
        </p:nvSpPr>
        <p:spPr>
          <a:xfrm>
            <a:off x="6197565" y="3496010"/>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5 years · our 31 vs the world index ETF</a:t>
            </a:r>
            <a:endParaRPr lang="en-US" sz="1200" dirty="0"/>
          </a:p>
        </p:txBody>
      </p:sp>
      <p:sp>
        <p:nvSpPr>
          <p:cNvPr id="15" name="Shape 11"/>
          <p:cNvSpPr/>
          <p:nvPr/>
        </p:nvSpPr>
        <p:spPr>
          <a:xfrm>
            <a:off x="6197565" y="3785530"/>
            <a:ext cx="5181643" cy="333674"/>
          </a:xfrm>
          <a:prstGeom prst="rect">
            <a:avLst/>
          </a:prstGeom>
          <a:solidFill>
            <a:srgbClr val="FBFBF7"/>
          </a:solidFill>
          <a:ln/>
        </p:spPr>
      </p:sp>
      <p:sp>
        <p:nvSpPr>
          <p:cNvPr id="16" name="Shape 12"/>
          <p:cNvSpPr/>
          <p:nvPr/>
        </p:nvSpPr>
        <p:spPr>
          <a:xfrm>
            <a:off x="11376033" y="3785530"/>
            <a:ext cx="0" cy="333674"/>
          </a:xfrm>
          <a:prstGeom prst="line">
            <a:avLst/>
          </a:prstGeom>
          <a:noFill/>
          <a:ln w="6350">
            <a:solidFill>
              <a:srgbClr val="DCE0D9"/>
            </a:solidFill>
            <a:prstDash val="solid"/>
          </a:ln>
        </p:spPr>
      </p:sp>
      <p:sp>
        <p:nvSpPr>
          <p:cNvPr id="17" name="Shape 13"/>
          <p:cNvSpPr/>
          <p:nvPr/>
        </p:nvSpPr>
        <p:spPr>
          <a:xfrm>
            <a:off x="6197565" y="4116029"/>
            <a:ext cx="5181643" cy="0"/>
          </a:xfrm>
          <a:prstGeom prst="line">
            <a:avLst/>
          </a:prstGeom>
          <a:noFill/>
          <a:ln w="6350">
            <a:solidFill>
              <a:srgbClr val="DCE0D9"/>
            </a:solidFill>
            <a:prstDash val="solid"/>
          </a:ln>
        </p:spPr>
      </p:sp>
      <p:graphicFrame>
        <p:nvGraphicFramePr>
          <p:cNvPr id="18" name="Table 2"/>
          <p:cNvGraphicFramePr>
            <a:graphicFrameLocks noGrp="1"/>
          </p:cNvGraphicFramePr>
          <p:nvPr>
            <p:extLst>
              <p:ext uri="{D42A27DB-BD31-4B8C-83A1-F6EECF244321}">
                <p14:modId xmlns:p14="http://schemas.microsoft.com/office/powerpoint/2010/main" val="1579011935"/>
              </p:ext>
            </p:extLst>
          </p:nvPr>
        </p:nvGraphicFramePr>
        <p:xfrm>
          <a:off x="6209159" y="3797124"/>
          <a:ext cx="5164252" cy="316284"/>
        </p:xfrm>
        <a:graphic>
          <a:graphicData uri="http://schemas.openxmlformats.org/drawingml/2006/table">
            <a:tbl>
              <a:tblPr/>
              <a:tblGrid>
                <a:gridCol w="1721417"/>
                <a:gridCol w="1721417"/>
                <a:gridCol w="1721417"/>
              </a:tblGrid>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Return · worst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25.0% · −7.4%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16.2% · −18.2%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9" name="Text 14"/>
          <p:cNvSpPr/>
          <p:nvPr/>
        </p:nvSpPr>
        <p:spPr>
          <a:xfrm>
            <a:off x="812765" y="4508364"/>
            <a:ext cx="10566443" cy="665446"/>
          </a:xfrm>
          <a:prstGeom prst="roundRect">
            <a:avLst>
              <a:gd name="adj" fmla="val 11451"/>
            </a:avLst>
          </a:prstGeom>
          <a:solidFill>
            <a:srgbClr val="FFF4E0"/>
          </a:solidFill>
          <a:ln/>
        </p:spPr>
        <p:txBody>
          <a:bodyPr wrap="square" lIns="193157" tIns="79282" rIns="0" bIns="53839" rtlCol="0" anchor="t">
            <a:normAutofit/>
          </a:bodyPr>
          <a:lstStyle/>
          <a:p>
            <a:pPr algn="l"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Our defense:</a:t>
            </a:r>
            <a:r>
              <a:rPr lang="en-US" sz="1300" dirty="0">
                <a:solidFill>
                  <a:srgbClr val="142019"/>
                </a:solidFill>
                <a:latin typeface="IBM Plex Sans" pitchFamily="34" charset="0"/>
                <a:ea typeface="IBM Plex Sans" pitchFamily="34" charset="-122"/>
                <a:cs typeface="IBM Plex Sans" pitchFamily="34" charset="-120"/>
              </a:rPr>
              <a:t> over the long run we do not beat the market on return (12.0% vs 12.2%). We offer about the same return with smaller worst falls, in a theme an investor can understand.</a:t>
            </a:r>
            <a:endParaRPr lang="en-US" sz="1300" dirty="0"/>
          </a:p>
        </p:txBody>
      </p:sp>
      <p:sp>
        <p:nvSpPr>
          <p:cNvPr id="20" name="Shape 15"/>
          <p:cNvSpPr/>
          <p:nvPr/>
        </p:nvSpPr>
        <p:spPr>
          <a:xfrm>
            <a:off x="812765" y="4508364"/>
            <a:ext cx="10566443" cy="665446"/>
          </a:xfrm>
          <a:custGeom>
            <a:avLst/>
            <a:gdLst/>
            <a:ahLst/>
            <a:cxnLst/>
            <a:rect l="l" t="t" r="r" b="b"/>
            <a:pathLst>
              <a:path w="10566443" h="665446">
                <a:moveTo>
                  <a:pt x="76200" y="665446"/>
                </a:moveTo>
                <a:lnTo>
                  <a:pt x="76200" y="665446"/>
                </a:lnTo>
                <a:arcTo hR="76200" wR="76200" stAng="5400000" swAng="5400000"/>
                <a:lnTo>
                  <a:pt x="0" y="76200"/>
                </a:lnTo>
                <a:arcTo hR="76200" wR="76200" stAng="10800000" swAng="5400000"/>
                <a:lnTo>
                  <a:pt x="76200" y="0"/>
                </a:lnTo>
                <a:arcTo hR="76200" wR="38100" stAng="16200000" swAng="-5400000"/>
                <a:lnTo>
                  <a:pt x="38100" y="589246"/>
                </a:lnTo>
                <a:arcTo hR="76200" wR="38100" stAng="10800000" swAng="-5400000"/>
                <a:close/>
              </a:path>
            </a:pathLst>
          </a:custGeom>
          <a:solidFill>
            <a:srgbClr val="C9761F"/>
          </a:solidFill>
          <a:ln/>
        </p:spPr>
      </p:sp>
      <p:sp>
        <p:nvSpPr>
          <p:cNvPr id="21" name="Text 16"/>
          <p:cNvSpPr/>
          <p:nvPr/>
        </p:nvSpPr>
        <p:spPr>
          <a:xfrm>
            <a:off x="812765" y="6101097"/>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36 years: industry proxy, context only: six US industries standing in for the eight types, same weighting (ERC, 25% type limit), 1.50% fee and trading costs, no company screens; market = 97% US market + 3% cash, same fee · 5 years: historical performance of the currently selected portfolio, with hindsight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660375"/>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INDUSTRY PROXY, 36 YEARS · CONTEXT ONLY, NOT A TEST OF OUR COMPANY SCREENS</a:t>
            </a:r>
            <a:endParaRPr lang="en-US" sz="1200" dirty="0"/>
          </a:p>
        </p:txBody>
      </p:sp>
      <p:sp>
        <p:nvSpPr>
          <p:cNvPr id="3" name="Text 1"/>
          <p:cNvSpPr/>
          <p:nvPr>
            <p:ph type="title"/>
          </p:nvPr>
        </p:nvSpPr>
        <p:spPr>
          <a:xfrm>
            <a:off x="812765" y="949896"/>
            <a:ext cx="10883436" cy="360659"/>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019"/>
                </a:solidFill>
                <a:latin typeface="Source Serif 4" pitchFamily="18" charset="0"/>
                <a:ea typeface="Source Serif 4" pitchFamily="18" charset="-122"/>
                <a:cs typeface="Source Serif 4" pitchFamily="18" charset="-120"/>
              </a:rPr>
              <a:t>The method kept pace with the market and fell far less than tech</a:t>
            </a:r>
            <a:endParaRPr lang="en-US" sz="2400" dirty="0"/>
          </a:p>
        </p:txBody>
      </p:sp>
      <p:sp>
        <p:nvSpPr>
          <p:cNvPr id="4" name="Text 2"/>
          <p:cNvSpPr/>
          <p:nvPr/>
        </p:nvSpPr>
        <p:spPr>
          <a:xfrm>
            <a:off x="1606509" y="1409688"/>
            <a:ext cx="6540454"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Growth of ₱100 · linear scale from zero</a:t>
            </a:r>
            <a:endParaRPr lang="en-US" sz="1200" dirty="0"/>
          </a:p>
        </p:txBody>
      </p:sp>
      <p:pic>
        <p:nvPicPr>
          <p:cNvPr id="5" name="Image 0" descr="Growth of 100 pesos, Jan 1990 to Aug 2026, linear: tech 21,231, market 6,915, Firsts method 6,304">    </p:cNvPr>
          <p:cNvPicPr>
            <a:picLocks noChangeAspect="1"/>
          </p:cNvPicPr>
          <p:nvPr/>
        </p:nvPicPr>
        <p:blipFill>
          <a:blip r:embed="rId1"/>
          <a:srcRect l="0" r="0" t="-20" b="-20"/>
          <a:stretch/>
        </p:blipFill>
        <p:spPr>
          <a:xfrm>
            <a:off x="1606509" y="1638250"/>
            <a:ext cx="7016715" cy="2412979"/>
          </a:xfrm>
          <a:prstGeom prst="rect">
            <a:avLst/>
          </a:prstGeom>
        </p:spPr>
      </p:pic>
      <p:sp>
        <p:nvSpPr>
          <p:cNvPr id="6" name="Text 3"/>
          <p:cNvSpPr/>
          <p:nvPr/>
        </p:nvSpPr>
        <p:spPr>
          <a:xfrm>
            <a:off x="761965" y="3956038"/>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0</a:t>
            </a:r>
            <a:endParaRPr lang="en-US" sz="1200" dirty="0"/>
          </a:p>
        </p:txBody>
      </p:sp>
      <p:sp>
        <p:nvSpPr>
          <p:cNvPr id="7" name="Text 4"/>
          <p:cNvSpPr/>
          <p:nvPr/>
        </p:nvSpPr>
        <p:spPr>
          <a:xfrm>
            <a:off x="761965" y="314956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8,000</a:t>
            </a:r>
            <a:endParaRPr lang="en-US" sz="1200" dirty="0"/>
          </a:p>
        </p:txBody>
      </p:sp>
      <p:sp>
        <p:nvSpPr>
          <p:cNvPr id="8" name="Text 5"/>
          <p:cNvSpPr/>
          <p:nvPr/>
        </p:nvSpPr>
        <p:spPr>
          <a:xfrm>
            <a:off x="761965" y="2349488"/>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16,000</a:t>
            </a:r>
            <a:endParaRPr lang="en-US" sz="1200" dirty="0"/>
          </a:p>
        </p:txBody>
      </p:sp>
      <p:sp>
        <p:nvSpPr>
          <p:cNvPr id="9" name="Text 6"/>
          <p:cNvSpPr/>
          <p:nvPr/>
        </p:nvSpPr>
        <p:spPr>
          <a:xfrm>
            <a:off x="761965" y="154301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24,000</a:t>
            </a:r>
            <a:endParaRPr lang="en-US" sz="1200" dirty="0"/>
          </a:p>
        </p:txBody>
      </p:sp>
      <p:sp>
        <p:nvSpPr>
          <p:cNvPr id="10" name="Text 7"/>
          <p:cNvSpPr/>
          <p:nvPr/>
        </p:nvSpPr>
        <p:spPr>
          <a:xfrm>
            <a:off x="1606509" y="4140175"/>
            <a:ext cx="6540454"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Fall from the previous peak · 0 to −75%</a:t>
            </a:r>
            <a:endParaRPr lang="en-US" sz="1200" dirty="0"/>
          </a:p>
        </p:txBody>
      </p:sp>
      <p:pic>
        <p:nvPicPr>
          <p:cNvPr id="11" name="Image 1" descr="Drawdowns: tech fell 73% after 2000; Firsts method's worst fall 44% in 2008-09; market 47%">    </p:cNvPr>
          <p:cNvPicPr>
            <a:picLocks noChangeAspect="1"/>
          </p:cNvPicPr>
          <p:nvPr/>
        </p:nvPicPr>
        <p:blipFill>
          <a:blip r:embed="rId2"/>
          <a:srcRect l="0" r="0" t="-36" b="-36"/>
          <a:stretch/>
        </p:blipFill>
        <p:spPr>
          <a:xfrm>
            <a:off x="1606509" y="4381463"/>
            <a:ext cx="7016715" cy="1244576"/>
          </a:xfrm>
          <a:prstGeom prst="rect">
            <a:avLst/>
          </a:prstGeom>
        </p:spPr>
      </p:pic>
      <p:sp>
        <p:nvSpPr>
          <p:cNvPr id="12" name="Text 8"/>
          <p:cNvSpPr/>
          <p:nvPr/>
        </p:nvSpPr>
        <p:spPr>
          <a:xfrm>
            <a:off x="761965" y="432431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0</a:t>
            </a:r>
            <a:endParaRPr lang="en-US" sz="1200" dirty="0"/>
          </a:p>
        </p:txBody>
      </p:sp>
      <p:sp>
        <p:nvSpPr>
          <p:cNvPr id="13" name="Text 9"/>
          <p:cNvSpPr/>
          <p:nvPr/>
        </p:nvSpPr>
        <p:spPr>
          <a:xfrm>
            <a:off x="761965" y="470531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−25%</a:t>
            </a:r>
            <a:endParaRPr lang="en-US" sz="1200" dirty="0"/>
          </a:p>
        </p:txBody>
      </p:sp>
      <p:sp>
        <p:nvSpPr>
          <p:cNvPr id="14" name="Text 10"/>
          <p:cNvSpPr/>
          <p:nvPr/>
        </p:nvSpPr>
        <p:spPr>
          <a:xfrm>
            <a:off x="761965" y="508631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−50%</a:t>
            </a:r>
            <a:endParaRPr lang="en-US" sz="1200" dirty="0"/>
          </a:p>
        </p:txBody>
      </p:sp>
      <p:sp>
        <p:nvSpPr>
          <p:cNvPr id="15" name="Text 11"/>
          <p:cNvSpPr/>
          <p:nvPr/>
        </p:nvSpPr>
        <p:spPr>
          <a:xfrm>
            <a:off x="761965" y="5467313"/>
            <a:ext cx="749261" cy="23874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−75%</a:t>
            </a:r>
            <a:endParaRPr lang="en-US" sz="1200" dirty="0"/>
          </a:p>
        </p:txBody>
      </p:sp>
      <p:sp>
        <p:nvSpPr>
          <p:cNvPr id="16" name="Text 12"/>
          <p:cNvSpPr/>
          <p:nvPr/>
        </p:nvSpPr>
        <p:spPr>
          <a:xfrm>
            <a:off x="1327140" y="5664175"/>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1990</a:t>
            </a:r>
            <a:endParaRPr lang="en-US" sz="1200" dirty="0"/>
          </a:p>
        </p:txBody>
      </p:sp>
      <p:sp>
        <p:nvSpPr>
          <p:cNvPr id="17" name="Text 13"/>
          <p:cNvSpPr/>
          <p:nvPr/>
        </p:nvSpPr>
        <p:spPr>
          <a:xfrm>
            <a:off x="3244816" y="5664175"/>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2000</a:t>
            </a:r>
            <a:endParaRPr lang="en-US" sz="1200" dirty="0"/>
          </a:p>
        </p:txBody>
      </p:sp>
      <p:sp>
        <p:nvSpPr>
          <p:cNvPr id="18" name="Text 14"/>
          <p:cNvSpPr/>
          <p:nvPr/>
        </p:nvSpPr>
        <p:spPr>
          <a:xfrm>
            <a:off x="5162538" y="5664175"/>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2010</a:t>
            </a:r>
            <a:endParaRPr lang="en-US" sz="1200" dirty="0"/>
          </a:p>
        </p:txBody>
      </p:sp>
      <p:sp>
        <p:nvSpPr>
          <p:cNvPr id="19" name="Text 15"/>
          <p:cNvSpPr/>
          <p:nvPr/>
        </p:nvSpPr>
        <p:spPr>
          <a:xfrm>
            <a:off x="7080214" y="5664175"/>
            <a:ext cx="558784" cy="23874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570"/>
                </a:solidFill>
                <a:latin typeface="IBM Plex Mono" pitchFamily="49" charset="0"/>
                <a:ea typeface="IBM Plex Mono" pitchFamily="49" charset="-122"/>
                <a:cs typeface="IBM Plex Mono" pitchFamily="49" charset="-120"/>
              </a:rPr>
              <a:t>2020</a:t>
            </a:r>
            <a:endParaRPr lang="en-US" sz="1200" dirty="0"/>
          </a:p>
        </p:txBody>
      </p:sp>
      <p:sp>
        <p:nvSpPr>
          <p:cNvPr id="20" name="Shape 16"/>
          <p:cNvSpPr/>
          <p:nvPr/>
        </p:nvSpPr>
        <p:spPr>
          <a:xfrm>
            <a:off x="8991589" y="1638250"/>
            <a:ext cx="2387573" cy="2787322"/>
          </a:xfrm>
          <a:prstGeom prst="rect">
            <a:avLst/>
          </a:prstGeom>
          <a:solidFill>
            <a:srgbClr val="FBFBF7"/>
          </a:solidFill>
          <a:ln/>
        </p:spPr>
      </p:sp>
      <p:sp>
        <p:nvSpPr>
          <p:cNvPr id="21" name="Shape 17"/>
          <p:cNvSpPr/>
          <p:nvPr/>
        </p:nvSpPr>
        <p:spPr>
          <a:xfrm>
            <a:off x="11375988" y="1638250"/>
            <a:ext cx="0" cy="2787322"/>
          </a:xfrm>
          <a:prstGeom prst="line">
            <a:avLst/>
          </a:prstGeom>
          <a:noFill/>
          <a:ln w="6350">
            <a:solidFill>
              <a:srgbClr val="DCE0D9"/>
            </a:solidFill>
            <a:prstDash val="solid"/>
          </a:ln>
        </p:spPr>
      </p:sp>
      <p:sp>
        <p:nvSpPr>
          <p:cNvPr id="22" name="Shape 18"/>
          <p:cNvSpPr/>
          <p:nvPr/>
        </p:nvSpPr>
        <p:spPr>
          <a:xfrm>
            <a:off x="8991589" y="4422397"/>
            <a:ext cx="2387573" cy="0"/>
          </a:xfrm>
          <a:prstGeom prst="line">
            <a:avLst/>
          </a:prstGeom>
          <a:noFill/>
          <a:ln w="6350">
            <a:solidFill>
              <a:srgbClr val="DCE0D9"/>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9003183" y="1649844"/>
          <a:ext cx="2370183" cy="2769931"/>
        </p:xfrm>
        <a:graphic>
          <a:graphicData uri="http://schemas.openxmlformats.org/drawingml/2006/table">
            <a:tbl>
              <a:tblPr/>
              <a:tblGrid>
                <a:gridCol w="805862"/>
                <a:gridCol w="521440"/>
                <a:gridCol w="521440"/>
                <a:gridCol w="521440"/>
              </a:tblGrid>
              <a:tr h="514369">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Mkt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6,304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6,915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21,231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 year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Worst fall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71245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Months to recover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24" name="Text 19"/>
          <p:cNvSpPr/>
          <p:nvPr/>
        </p:nvSpPr>
        <p:spPr>
          <a:xfrm>
            <a:off x="8991589" y="4552553"/>
            <a:ext cx="2459201" cy="6654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 Firsts method</a:t>
            </a:r>
            <a:endParaRPr lang="en-US" sz="1200" dirty="0"/>
          </a:p>
          <a:p>
            <a:pPr algn="l" indent="0" marL="0">
              <a:lnSpc>
                <a:spcPts val="1680"/>
              </a:lnSpc>
              <a:buNone/>
            </a:pPr>
            <a:r>
              <a:rPr lang="en-US" sz="1200" b="1" dirty="0">
                <a:solidFill>
                  <a:srgbClr val="6B7570"/>
                </a:solidFill>
                <a:latin typeface="IBM Plex Sans" pitchFamily="34" charset="0"/>
                <a:ea typeface="IBM Plex Sans" pitchFamily="34" charset="-122"/>
                <a:cs typeface="IBM Plex Sans" pitchFamily="34" charset="-120"/>
              </a:rPr>
              <a:t>━ Market fund</a:t>
            </a:r>
            <a:endParaRPr lang="en-US" sz="1200" dirty="0"/>
          </a:p>
          <a:p>
            <a:pPr algn="l"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 Tech fund</a:t>
            </a:r>
            <a:endParaRPr lang="en-US" sz="1200" dirty="0"/>
          </a:p>
        </p:txBody>
      </p:sp>
      <p:sp>
        <p:nvSpPr>
          <p:cNvPr id="25" name="Text 20"/>
          <p:cNvSpPr/>
          <p:nvPr/>
        </p:nvSpPr>
        <p:spPr>
          <a:xfrm>
            <a:off x="812765" y="6101097"/>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US industry returns (Kenneth French): utilities, telecom, transport, health services, electrical equipment, chips · same ERC, 25% type limit, 3% cash, 1.50% fee, 0.30% trading cost · BIS peso rates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INDUSTRY PROXY · GOOD AND BAD STRETCHES, AS THEY HAPPENED</a:t>
            </a:r>
            <a:endParaRPr lang="en-US" sz="1200" dirty="0"/>
          </a:p>
        </p:txBody>
      </p:sp>
      <p:sp>
        <p:nvSpPr>
          <p:cNvPr id="3" name="Text 1"/>
          <p:cNvSpPr/>
          <p:nvPr>
            <p:ph type="title"/>
          </p:nvPr>
        </p:nvSpPr>
        <p:spPr>
          <a:xfrm>
            <a:off x="812765" y="1000708"/>
            <a:ext cx="10883436" cy="80768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Better in some crises, worse in others: no protection is promised</a:t>
            </a:r>
            <a:endParaRPr lang="en-US" sz="2800" dirty="0"/>
          </a:p>
        </p:txBody>
      </p:sp>
      <p:sp>
        <p:nvSpPr>
          <p:cNvPr id="4" name="Text 2"/>
          <p:cNvSpPr/>
          <p:nvPr/>
        </p:nvSpPr>
        <p:spPr>
          <a:xfrm>
            <a:off x="812765" y="1960798"/>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Crises · total over the episode</a:t>
            </a:r>
            <a:endParaRPr lang="en-US" sz="1200" dirty="0"/>
          </a:p>
        </p:txBody>
      </p:sp>
      <p:sp>
        <p:nvSpPr>
          <p:cNvPr id="5" name="Shape 3"/>
          <p:cNvSpPr/>
          <p:nvPr/>
        </p:nvSpPr>
        <p:spPr>
          <a:xfrm>
            <a:off x="812765" y="2250318"/>
            <a:ext cx="5181643" cy="2311265"/>
          </a:xfrm>
          <a:prstGeom prst="rect">
            <a:avLst/>
          </a:prstGeom>
          <a:solidFill>
            <a:srgbClr val="FBFBF7"/>
          </a:solidFill>
          <a:ln/>
        </p:spPr>
      </p:sp>
      <p:sp>
        <p:nvSpPr>
          <p:cNvPr id="6" name="Shape 4"/>
          <p:cNvSpPr/>
          <p:nvPr/>
        </p:nvSpPr>
        <p:spPr>
          <a:xfrm>
            <a:off x="5991233" y="2250318"/>
            <a:ext cx="0" cy="2311265"/>
          </a:xfrm>
          <a:prstGeom prst="line">
            <a:avLst/>
          </a:prstGeom>
          <a:noFill/>
          <a:ln w="6350">
            <a:solidFill>
              <a:srgbClr val="DCE0D9"/>
            </a:solidFill>
            <a:prstDash val="solid"/>
          </a:ln>
        </p:spPr>
      </p:sp>
      <p:sp>
        <p:nvSpPr>
          <p:cNvPr id="7" name="Shape 5"/>
          <p:cNvSpPr/>
          <p:nvPr/>
        </p:nvSpPr>
        <p:spPr>
          <a:xfrm>
            <a:off x="812765" y="4558408"/>
            <a:ext cx="5181643" cy="0"/>
          </a:xfrm>
          <a:prstGeom prst="line">
            <a:avLst/>
          </a:prstGeom>
          <a:noFill/>
          <a:ln w="6350">
            <a:solidFill>
              <a:srgbClr val="DCE0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358" y="2261912"/>
          <a:ext cx="5164252" cy="2293875"/>
        </p:xfrm>
        <a:graphic>
          <a:graphicData uri="http://schemas.openxmlformats.org/drawingml/2006/table">
            <a:tbl>
              <a:tblPr/>
              <a:tblGrid>
                <a:gridCol w="2375556"/>
                <a:gridCol w="929565"/>
                <a:gridCol w="929565"/>
                <a:gridCol w="929565"/>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Episode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Market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Asian crisis, Jul 1997 – Dec 1998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87.3%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99.4%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123.4%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Dot-com, Mar 2000 – Sep 2002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−70.1%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Global financial crisis, Nov 2007 – Feb 2009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COVID, Jan – Jun 2020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2022 rate shock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9" name="Text 6"/>
          <p:cNvSpPr/>
          <p:nvPr/>
        </p:nvSpPr>
        <p:spPr>
          <a:xfrm>
            <a:off x="6197565" y="1960798"/>
            <a:ext cx="5337092" cy="23874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Decades · a year</a:t>
            </a:r>
            <a:endParaRPr lang="en-US" sz="1200" dirty="0"/>
          </a:p>
        </p:txBody>
      </p:sp>
      <p:sp>
        <p:nvSpPr>
          <p:cNvPr id="10" name="Shape 7"/>
          <p:cNvSpPr/>
          <p:nvPr/>
        </p:nvSpPr>
        <p:spPr>
          <a:xfrm>
            <a:off x="6197565" y="2250318"/>
            <a:ext cx="5181643" cy="1598811"/>
          </a:xfrm>
          <a:prstGeom prst="rect">
            <a:avLst/>
          </a:prstGeom>
          <a:solidFill>
            <a:srgbClr val="FBFBF7"/>
          </a:solidFill>
          <a:ln/>
        </p:spPr>
      </p:sp>
      <p:sp>
        <p:nvSpPr>
          <p:cNvPr id="11" name="Shape 8"/>
          <p:cNvSpPr/>
          <p:nvPr/>
        </p:nvSpPr>
        <p:spPr>
          <a:xfrm>
            <a:off x="11376033" y="2250318"/>
            <a:ext cx="0" cy="1598811"/>
          </a:xfrm>
          <a:prstGeom prst="line">
            <a:avLst/>
          </a:prstGeom>
          <a:noFill/>
          <a:ln w="6350">
            <a:solidFill>
              <a:srgbClr val="DCE0D9"/>
            </a:solidFill>
            <a:prstDash val="solid"/>
          </a:ln>
        </p:spPr>
      </p:sp>
      <p:sp>
        <p:nvSpPr>
          <p:cNvPr id="12" name="Shape 9"/>
          <p:cNvSpPr/>
          <p:nvPr/>
        </p:nvSpPr>
        <p:spPr>
          <a:xfrm>
            <a:off x="6197565" y="3845954"/>
            <a:ext cx="5181643" cy="0"/>
          </a:xfrm>
          <a:prstGeom prst="line">
            <a:avLst/>
          </a:prstGeom>
          <a:noFill/>
          <a:ln w="6350">
            <a:solidFill>
              <a:srgbClr val="DCE0D9"/>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09159" y="2261912"/>
          <a:ext cx="5164252" cy="1581420"/>
        </p:xfrm>
        <a:graphic>
          <a:graphicData uri="http://schemas.openxmlformats.org/drawingml/2006/table">
            <a:tbl>
              <a:tblPr/>
              <a:tblGrid>
                <a:gridCol w="2375556"/>
                <a:gridCol w="929565"/>
                <a:gridCol w="929565"/>
                <a:gridCol w="929565"/>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Period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0F7A45"/>
                          </a:solidFill>
                          <a:latin typeface="IBM Plex Sans" pitchFamily="34" charset="0"/>
                          <a:ea typeface="IBM Plex Sans" pitchFamily="34" charset="-122"/>
                          <a:cs typeface="IBM Plex Sans" pitchFamily="34" charset="-120"/>
                        </a:rPr>
                        <a:t>Firsts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Market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680"/>
                        </a:lnSpc>
                        <a:buNone/>
                      </a:pPr>
                      <a:r>
                        <a:rPr lang="en-US" sz="1200" b="1" dirty="0">
                          <a:solidFill>
                            <a:srgbClr val="3557A8"/>
                          </a:solidFill>
                          <a:latin typeface="IBM Plex Sans" pitchFamily="34" charset="0"/>
                          <a:ea typeface="IBM Plex Sans" pitchFamily="34" charset="-122"/>
                          <a:cs typeface="IBM Plex Sans" pitchFamily="34" charset="-120"/>
                        </a:rPr>
                        <a:t>Tech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1990s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34.1%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2000s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2010s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1628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2020 – Aug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16.8%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24.1%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4" name="Text 10"/>
          <p:cNvSpPr/>
          <p:nvPr/>
        </p:nvSpPr>
        <p:spPr>
          <a:xfrm>
            <a:off x="6197565" y="3925292"/>
            <a:ext cx="5994435"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Calendar years ahead of the market: 19.0 of 37 · ahead of tech: 15.0 of 37</a:t>
            </a:r>
            <a:endParaRPr lang="en-US" sz="1200" dirty="0"/>
          </a:p>
        </p:txBody>
      </p:sp>
      <p:sp>
        <p:nvSpPr>
          <p:cNvPr id="15" name="Text 11"/>
          <p:cNvSpPr/>
          <p:nvPr/>
        </p:nvSpPr>
        <p:spPr>
          <a:xfrm>
            <a:off x="812765" y="4739370"/>
            <a:ext cx="10566443" cy="665446"/>
          </a:xfrm>
          <a:prstGeom prst="roundRect">
            <a:avLst>
              <a:gd name="adj" fmla="val 11451"/>
            </a:avLst>
          </a:prstGeom>
          <a:solidFill>
            <a:srgbClr val="FFF4E0"/>
          </a:solidFill>
          <a:ln/>
        </p:spPr>
        <p:txBody>
          <a:bodyPr wrap="square" lIns="193157" tIns="79282" rIns="0" bIns="53839" rtlCol="0" anchor="t">
            <a:normAutofit/>
          </a:bodyPr>
          <a:lstStyle/>
          <a:p>
            <a:pPr algn="l"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What we say:</a:t>
            </a:r>
            <a:r>
              <a:rPr lang="en-US" sz="1300" dirty="0">
                <a:solidFill>
                  <a:srgbClr val="142019"/>
                </a:solidFill>
                <a:latin typeface="IBM Plex Sans" pitchFamily="34" charset="0"/>
                <a:ea typeface="IBM Plex Sans" pitchFamily="34" charset="-122"/>
                <a:cs typeface="IBM Plex Sans" pitchFamily="34" charset="-120"/>
              </a:rPr>
              <a:t> the method fell less than the market in the dot-com crash and in 2008, and did </a:t>
            </a:r>
            <a:r>
              <a:rPr lang="en-US" sz="1300" b="1" dirty="0">
                <a:solidFill>
                  <a:srgbClr val="142019"/>
                </a:solidFill>
                <a:latin typeface="IBM Plex Sans" pitchFamily="34" charset="0"/>
                <a:ea typeface="IBM Plex Sans" pitchFamily="34" charset="-122"/>
                <a:cs typeface="IBM Plex Sans" pitchFamily="34" charset="-120"/>
              </a:rPr>
              <a:t>worse</a:t>
            </a:r>
            <a:r>
              <a:rPr lang="en-US" sz="1300" dirty="0">
                <a:solidFill>
                  <a:srgbClr val="142019"/>
                </a:solidFill>
                <a:latin typeface="IBM Plex Sans" pitchFamily="34" charset="0"/>
                <a:ea typeface="IBM Plex Sans" pitchFamily="34" charset="-122"/>
                <a:cs typeface="IBM Plex Sans" pitchFamily="34" charset="-120"/>
              </a:rPr>
              <a:t> in COVID and gained less in 1997–98. It is an equity fund: it can lose a quarter of its value in a year.</a:t>
            </a:r>
            <a:endParaRPr lang="en-US" sz="1300" dirty="0"/>
          </a:p>
        </p:txBody>
      </p:sp>
      <p:sp>
        <p:nvSpPr>
          <p:cNvPr id="16" name="Shape 12"/>
          <p:cNvSpPr/>
          <p:nvPr/>
        </p:nvSpPr>
        <p:spPr>
          <a:xfrm>
            <a:off x="812765" y="4739370"/>
            <a:ext cx="10566443" cy="665446"/>
          </a:xfrm>
          <a:custGeom>
            <a:avLst/>
            <a:gdLst/>
            <a:ahLst/>
            <a:cxnLst/>
            <a:rect l="l" t="t" r="r" b="b"/>
            <a:pathLst>
              <a:path w="10566443" h="665446">
                <a:moveTo>
                  <a:pt x="76200" y="665446"/>
                </a:moveTo>
                <a:lnTo>
                  <a:pt x="76200" y="665446"/>
                </a:lnTo>
                <a:arcTo hR="76200" wR="76200" stAng="5400000" swAng="5400000"/>
                <a:lnTo>
                  <a:pt x="0" y="76200"/>
                </a:lnTo>
                <a:arcTo hR="76200" wR="76200" stAng="10800000" swAng="5400000"/>
                <a:lnTo>
                  <a:pt x="76200" y="0"/>
                </a:lnTo>
                <a:arcTo hR="76200" wR="38100" stAng="16200000" swAng="-5400000"/>
                <a:lnTo>
                  <a:pt x="38100" y="589246"/>
                </a:lnTo>
                <a:arcTo hR="76200" wR="38100" stAng="10800000" swAng="-5400000"/>
                <a:close/>
              </a:path>
            </a:pathLst>
          </a:custGeom>
          <a:solidFill>
            <a:srgbClr val="C9761F"/>
          </a:solidFill>
          <a:ln/>
        </p:spPr>
      </p:sp>
      <p:sp>
        <p:nvSpPr>
          <p:cNvPr id="17" name="Text 13"/>
          <p:cNvSpPr/>
          <p:nvPr/>
        </p:nvSpPr>
        <p:spPr>
          <a:xfrm>
            <a:off x="812765" y="6101110"/>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US industry proxy, in pesos, after 1.50% fee and trading costs · the 1997–98 figures are positive because the peso fell sharply, raising the peso value of dollar assets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FUND VERSUS INVESTOR · REGULAR CONTRIBUTIONS AND THE GLIDEPATH</a:t>
            </a:r>
            <a:endParaRPr lang="en-US" sz="1200" dirty="0"/>
          </a:p>
        </p:txBody>
      </p:sp>
      <p:sp>
        <p:nvSpPr>
          <p:cNvPr id="3" name="Text 1"/>
          <p:cNvSpPr/>
          <p:nvPr>
            <p:ph type="title"/>
          </p:nvPr>
        </p:nvSpPr>
        <p:spPr>
          <a:xfrm>
            <a:off x="812765" y="1000708"/>
            <a:ext cx="10883436" cy="807687"/>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What a five-year saver actually experienced, every start month since 1990</a:t>
            </a:r>
            <a:endParaRPr lang="en-US" sz="2800" dirty="0"/>
          </a:p>
        </p:txBody>
      </p:sp>
      <p:sp>
        <p:nvSpPr>
          <p:cNvPr id="4" name="Text 2"/>
          <p:cNvSpPr/>
          <p:nvPr/>
        </p:nvSpPr>
        <p:spPr>
          <a:xfrm>
            <a:off x="812765" y="1960786"/>
            <a:ext cx="5591217" cy="4520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₱1,000 a month for 60 months · ending value ÷ total paid in</a:t>
            </a:r>
            <a:r>
              <a:rPr lang="en-US" sz="1200" dirty="0">
                <a:solidFill>
                  <a:srgbClr val="142019"/>
                </a:solidFill>
                <a:latin typeface="IBM Plex Sans" pitchFamily="34" charset="0"/>
                <a:ea typeface="IBM Plex Sans" pitchFamily="34" charset="-122"/>
                <a:cs typeface="IBM Plex Sans" pitchFamily="34" charset="-120"/>
              </a:rPr>
              <a:t> · industry proxy, 381 windows</a:t>
            </a:r>
            <a:endParaRPr lang="en-US" sz="1200" dirty="0"/>
          </a:p>
        </p:txBody>
      </p:sp>
      <p:sp>
        <p:nvSpPr>
          <p:cNvPr id="5" name="Shape 3"/>
          <p:cNvSpPr/>
          <p:nvPr/>
        </p:nvSpPr>
        <p:spPr>
          <a:xfrm>
            <a:off x="812765" y="2476388"/>
            <a:ext cx="5428366" cy="1725841"/>
          </a:xfrm>
          <a:prstGeom prst="rect">
            <a:avLst/>
          </a:prstGeom>
          <a:solidFill>
            <a:srgbClr val="FBFBF7"/>
          </a:solidFill>
          <a:ln/>
        </p:spPr>
      </p:sp>
      <p:sp>
        <p:nvSpPr>
          <p:cNvPr id="6" name="Shape 4"/>
          <p:cNvSpPr/>
          <p:nvPr/>
        </p:nvSpPr>
        <p:spPr>
          <a:xfrm>
            <a:off x="6237956" y="2476388"/>
            <a:ext cx="0" cy="1725841"/>
          </a:xfrm>
          <a:prstGeom prst="line">
            <a:avLst/>
          </a:prstGeom>
          <a:noFill/>
          <a:ln w="6350">
            <a:solidFill>
              <a:srgbClr val="DCE0D9"/>
            </a:solidFill>
            <a:prstDash val="solid"/>
          </a:ln>
        </p:spPr>
      </p:sp>
      <p:sp>
        <p:nvSpPr>
          <p:cNvPr id="7" name="Shape 5"/>
          <p:cNvSpPr/>
          <p:nvPr/>
        </p:nvSpPr>
        <p:spPr>
          <a:xfrm>
            <a:off x="812765" y="4199054"/>
            <a:ext cx="5428366" cy="0"/>
          </a:xfrm>
          <a:prstGeom prst="line">
            <a:avLst/>
          </a:prstGeom>
          <a:noFill/>
          <a:ln w="6350">
            <a:solidFill>
              <a:srgbClr val="DCE0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358" y="2487982"/>
          <a:ext cx="5410976" cy="1708450"/>
        </p:xfrm>
        <a:graphic>
          <a:graphicData uri="http://schemas.openxmlformats.org/drawingml/2006/table">
            <a:tbl>
              <a:tblPr/>
              <a:tblGrid>
                <a:gridCol w="2489049"/>
                <a:gridCol w="1460963"/>
                <a:gridCol w="1460963"/>
              </a:tblGrid>
              <a:tr h="341690">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Fund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0F7A45"/>
                          </a:solidFill>
                          <a:latin typeface="IBM Plex Sans" pitchFamily="34" charset="0"/>
                          <a:ea typeface="IBM Plex Sans" pitchFamily="34" charset="-122"/>
                          <a:cs typeface="IBM Plex Sans" pitchFamily="34" charset="-120"/>
                        </a:rPr>
                        <a:t>With glidepath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Median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1.27×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Worst 5% of windows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0.94×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Worst window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Ended below what was paid 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9" name="Text 6"/>
          <p:cNvSpPr/>
          <p:nvPr/>
        </p:nvSpPr>
        <p:spPr>
          <a:xfrm>
            <a:off x="812765" y="4291124"/>
            <a:ext cx="5591217"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Worst window, ₱60,000 paid in: </a:t>
            </a:r>
            <a:r>
              <a:rPr lang="en-US" sz="1200" b="1" dirty="0">
                <a:solidFill>
                  <a:srgbClr val="3D4943"/>
                </a:solidFill>
                <a:latin typeface="IBM Plex Sans" pitchFamily="34" charset="0"/>
                <a:ea typeface="IBM Plex Sans" pitchFamily="34" charset="-122"/>
                <a:cs typeface="IBM Plex Sans" pitchFamily="34" charset="-120"/>
              </a:rPr>
              <a:t>₱38,750</a:t>
            </a:r>
            <a:r>
              <a:rPr lang="en-US" sz="1200" dirty="0">
                <a:solidFill>
                  <a:srgbClr val="3D4943"/>
                </a:solidFill>
                <a:latin typeface="IBM Plex Sans" pitchFamily="34" charset="0"/>
                <a:ea typeface="IBM Plex Sans" pitchFamily="34" charset="-122"/>
                <a:cs typeface="IBM Plex Sans" pitchFamily="34" charset="-120"/>
              </a:rPr>
              <a:t> fund only, </a:t>
            </a:r>
            <a:r>
              <a:rPr lang="en-US" sz="1200" b="1" dirty="0">
                <a:solidFill>
                  <a:srgbClr val="3D4943"/>
                </a:solidFill>
                <a:latin typeface="IBM Plex Sans" pitchFamily="34" charset="0"/>
                <a:ea typeface="IBM Plex Sans" pitchFamily="34" charset="-122"/>
                <a:cs typeface="IBM Plex Sans" pitchFamily="34" charset="-120"/>
              </a:rPr>
              <a:t>₱51,984</a:t>
            </a:r>
            <a:r>
              <a:rPr lang="en-US" sz="1200" dirty="0">
                <a:solidFill>
                  <a:srgbClr val="3D4943"/>
                </a:solidFill>
                <a:latin typeface="IBM Plex Sans" pitchFamily="34" charset="0"/>
                <a:ea typeface="IBM Plex Sans" pitchFamily="34" charset="-122"/>
                <a:cs typeface="IBM Plex Sans" pitchFamily="34" charset="-120"/>
              </a:rPr>
              <a:t> with the glidepath. The glidepath gives up some upside: median 1.33× → 1.27×.</a:t>
            </a:r>
            <a:endParaRPr lang="en-US" sz="1200" dirty="0"/>
          </a:p>
        </p:txBody>
      </p:sp>
      <p:sp>
        <p:nvSpPr>
          <p:cNvPr id="10" name="Shape 7"/>
          <p:cNvSpPr/>
          <p:nvPr/>
        </p:nvSpPr>
        <p:spPr>
          <a:xfrm>
            <a:off x="6444288" y="1960786"/>
            <a:ext cx="4934919" cy="2074867"/>
          </a:xfrm>
          <a:prstGeom prst="rect">
            <a:avLst/>
          </a:prstGeom>
          <a:solidFill>
            <a:srgbClr val="FBFBF7"/>
          </a:solidFill>
          <a:ln/>
        </p:spPr>
      </p:sp>
      <p:sp>
        <p:nvSpPr>
          <p:cNvPr id="11" name="Shape 8"/>
          <p:cNvSpPr/>
          <p:nvPr/>
        </p:nvSpPr>
        <p:spPr>
          <a:xfrm>
            <a:off x="11376033" y="1960786"/>
            <a:ext cx="0" cy="2074867"/>
          </a:xfrm>
          <a:prstGeom prst="line">
            <a:avLst/>
          </a:prstGeom>
          <a:noFill/>
          <a:ln w="6350">
            <a:solidFill>
              <a:srgbClr val="DCE0D9"/>
            </a:solidFill>
            <a:prstDash val="solid"/>
          </a:ln>
        </p:spPr>
      </p:sp>
      <p:sp>
        <p:nvSpPr>
          <p:cNvPr id="12" name="Shape 9"/>
          <p:cNvSpPr/>
          <p:nvPr/>
        </p:nvSpPr>
        <p:spPr>
          <a:xfrm>
            <a:off x="6444288" y="4032478"/>
            <a:ext cx="4934919" cy="0"/>
          </a:xfrm>
          <a:prstGeom prst="line">
            <a:avLst/>
          </a:prstGeom>
          <a:noFill/>
          <a:ln w="6350">
            <a:solidFill>
              <a:srgbClr val="DCE0D9"/>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55882" y="1972379"/>
          <a:ext cx="4917529" cy="2057477"/>
        </p:xfrm>
        <a:graphic>
          <a:graphicData uri="http://schemas.openxmlformats.org/drawingml/2006/table">
            <a:tbl>
              <a:tblPr/>
              <a:tblGrid>
                <a:gridCol w="2458765"/>
                <a:gridCol w="2458765"/>
              </a:tblGrid>
              <a:tr h="316284">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Fund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680"/>
                        </a:lnSpc>
                        <a:buNone/>
                      </a:pPr>
                      <a:r>
                        <a:rPr lang="en-US" sz="1200" b="1" dirty="0">
                          <a:solidFill>
                            <a:srgbClr val="142019"/>
                          </a:solidFill>
                          <a:latin typeface="IBM Plex Sans" pitchFamily="34" charset="0"/>
                          <a:ea typeface="IBM Plex Sans" pitchFamily="34" charset="-122"/>
                          <a:cs typeface="IBM Plex Sans" pitchFamily="34" charset="-120"/>
                        </a:rPr>
                        <a:t>Investor level (proposed)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One shared global equity mandate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 personal goal date and allocation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712454">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Manager selects and re-weights stocks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Platform redeems some Firsts Fund units and reinvests the proceeds in a lower-risk fund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14369">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Active management continues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680"/>
                        </a:lnSpc>
                        <a:buNone/>
                      </a:pPr>
                      <a:r>
                        <a:rPr lang="en-US" sz="1200" dirty="0">
                          <a:solidFill>
                            <a:srgbClr val="142019"/>
                          </a:solidFill>
                          <a:latin typeface="IBM Plex Sans" pitchFamily="34" charset="0"/>
                          <a:ea typeface="IBM Plex Sans" pitchFamily="34" charset="-122"/>
                          <a:cs typeface="IBM Plex Sans" pitchFamily="34" charset="-120"/>
                        </a:rPr>
                        <a:t>Exposure falls as the goal approaches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14" name="Text 10"/>
          <p:cNvSpPr/>
          <p:nvPr/>
        </p:nvSpPr>
        <p:spPr>
          <a:xfrm>
            <a:off x="6444288" y="4124561"/>
            <a:ext cx="5082967" cy="6654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Illustrative schedule only: from 24 months before the goal, the target equity share falls in a straight line to 20%. Transfers use redemption proceeds, at a gain or a loss. Lower risk is not a guarantee.</a:t>
            </a:r>
            <a:endParaRPr lang="en-US" sz="1200" dirty="0"/>
          </a:p>
        </p:txBody>
      </p:sp>
      <p:sp>
        <p:nvSpPr>
          <p:cNvPr id="15" name="Text 11"/>
          <p:cNvSpPr/>
          <p:nvPr/>
        </p:nvSpPr>
        <p:spPr>
          <a:xfrm>
            <a:off x="812765" y="6101110"/>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Proxy: US industry returns, in pesos, after fee and costs; lower-risk fund modelled as US T-bills in pesos · investor outcomes are reported separately from fund performance · the glidepath is a proposed platform feature, not an existing BPI App function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AGAINST WHAT A YOUNG FILIPINO CAN BUY TODAY</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Compare the structure, not a simulated return</a:t>
            </a:r>
            <a:endParaRPr lang="en-US" sz="2800" dirty="0"/>
          </a:p>
        </p:txBody>
      </p:sp>
      <p:sp>
        <p:nvSpPr>
          <p:cNvPr id="4" name="Shape 2"/>
          <p:cNvSpPr/>
          <p:nvPr/>
        </p:nvSpPr>
        <p:spPr>
          <a:xfrm>
            <a:off x="812765" y="1569641"/>
            <a:ext cx="10566443" cy="1940455"/>
          </a:xfrm>
          <a:prstGeom prst="rect">
            <a:avLst/>
          </a:prstGeom>
          <a:solidFill>
            <a:srgbClr val="FBFBF7"/>
          </a:solidFill>
          <a:ln/>
        </p:spPr>
      </p:sp>
      <p:sp>
        <p:nvSpPr>
          <p:cNvPr id="5" name="Shape 3"/>
          <p:cNvSpPr/>
          <p:nvPr/>
        </p:nvSpPr>
        <p:spPr>
          <a:xfrm>
            <a:off x="11376033" y="1569641"/>
            <a:ext cx="0" cy="1940455"/>
          </a:xfrm>
          <a:prstGeom prst="line">
            <a:avLst/>
          </a:prstGeom>
          <a:noFill/>
          <a:ln w="6350">
            <a:solidFill>
              <a:srgbClr val="DCE0D9"/>
            </a:solidFill>
            <a:prstDash val="solid"/>
          </a:ln>
        </p:spPr>
      </p:sp>
      <p:sp>
        <p:nvSpPr>
          <p:cNvPr id="6" name="Shape 4"/>
          <p:cNvSpPr/>
          <p:nvPr/>
        </p:nvSpPr>
        <p:spPr>
          <a:xfrm>
            <a:off x="812765" y="3506921"/>
            <a:ext cx="10566443" cy="0"/>
          </a:xfrm>
          <a:prstGeom prst="line">
            <a:avLst/>
          </a:prstGeom>
          <a:noFill/>
          <a:ln w="6350">
            <a:solidFill>
              <a:srgbClr val="DCE0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1581234"/>
          <a:ext cx="10549052" cy="1923065"/>
        </p:xfrm>
        <a:graphic>
          <a:graphicData uri="http://schemas.openxmlformats.org/drawingml/2006/table">
            <a:tbl>
              <a:tblPr/>
              <a:tblGrid>
                <a:gridCol w="3164716"/>
                <a:gridCol w="4008640"/>
                <a:gridCol w="1265886"/>
                <a:gridCol w="2109810"/>
              </a:tblGrid>
              <a:tr h="341690">
                <a:tc>
                  <a:txBody>
                    <a:bodyPr/>
                    <a:lstStyle/>
                    <a:p>
                      <a:pP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Product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Structure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Minimum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019"/>
                          </a:solidFill>
                          <a:latin typeface="IBM Plex Sans" pitchFamily="34" charset="0"/>
                          <a:ea typeface="IBM Plex Sans" pitchFamily="34" charset="-122"/>
                          <a:cs typeface="IBM Plex Sans" pitchFamily="34" charset="-120"/>
                        </a:rPr>
                        <a:t>5 years, a year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BPI Global Equity Fund-of-Funds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Buys 11 other funds; 1.50% plus their fees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7.15% (live)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BPI Philippine Equity Index Fund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Passive, 32 PSEi names, 1.50%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0.52% (live)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41690">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Pag-IBIG MP2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Government savings, tax-free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₱500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7.1% (live)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56305">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Firsts Fund (proposed)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31 direct holdings, 14 markets, one 1.50% fee layer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algn="r" indent="0" marL="0">
                        <a:lnSpc>
                          <a:spcPts val="1820"/>
                        </a:lnSpc>
                        <a:buNone/>
                      </a:pPr>
                      <a:r>
                        <a:rPr lang="en-US" sz="1300" dirty="0">
                          <a:solidFill>
                            <a:srgbClr val="142019"/>
                          </a:solidFill>
                          <a:latin typeface="IBM Plex Sans" pitchFamily="34" charset="0"/>
                          <a:ea typeface="IBM Plex Sans" pitchFamily="34" charset="-122"/>
                          <a:cs typeface="IBM Plex Sans" pitchFamily="34" charset="-120"/>
                        </a:rPr>
                        <a:t>Not yet live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8" name="Text 5"/>
          <p:cNvSpPr/>
          <p:nvPr/>
        </p:nvSpPr>
        <p:spPr>
          <a:xfrm>
            <a:off x="815940" y="3691074"/>
            <a:ext cx="3431111" cy="899253"/>
          </a:xfrm>
          <a:prstGeom prst="roundRect">
            <a:avLst>
              <a:gd name="adj" fmla="val 8121"/>
            </a:avLst>
          </a:prstGeom>
          <a:solidFill>
            <a:srgbClr val="FBFBF7"/>
          </a:solidFill>
          <a:ln w="6350">
            <a:solidFill>
              <a:srgbClr val="DCE0D9"/>
            </a:solidFill>
            <a:prstDash val="solid"/>
          </a:ln>
        </p:spPr>
        <p:txBody>
          <a:bodyPr wrap="square" lIns="159030" tIns="108233" rIns="66922"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Where we win:</a:t>
            </a:r>
            <a:r>
              <a:rPr lang="en-US" sz="1200" dirty="0">
                <a:solidFill>
                  <a:srgbClr val="3D4943"/>
                </a:solidFill>
                <a:latin typeface="IBM Plex Sans" pitchFamily="34" charset="0"/>
                <a:ea typeface="IBM Plex Sans" pitchFamily="34" charset="-122"/>
                <a:cs typeface="IBM Plex Sans" pitchFamily="34" charset="-120"/>
              </a:rPr>
              <a:t> one fee layer instead of two, holdings you can name, a minimum a first-jobber can meet.</a:t>
            </a:r>
            <a:endParaRPr lang="en-US" sz="1200" dirty="0"/>
          </a:p>
        </p:txBody>
      </p:sp>
      <p:sp>
        <p:nvSpPr>
          <p:cNvPr id="9" name="Text 6"/>
          <p:cNvSpPr/>
          <p:nvPr/>
        </p:nvSpPr>
        <p:spPr>
          <a:xfrm>
            <a:off x="4380386" y="3691074"/>
            <a:ext cx="3431156" cy="899253"/>
          </a:xfrm>
          <a:prstGeom prst="roundRect">
            <a:avLst>
              <a:gd name="adj" fmla="val 8121"/>
            </a:avLst>
          </a:prstGeom>
          <a:solidFill>
            <a:srgbClr val="FBFBF7"/>
          </a:solidFill>
          <a:ln w="6350">
            <a:solidFill>
              <a:srgbClr val="DCE0D9"/>
            </a:solidFill>
            <a:prstDash val="solid"/>
          </a:ln>
        </p:spPr>
        <p:txBody>
          <a:bodyPr wrap="square" lIns="159030" tIns="108233" rIns="66921"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Where MP2 wins:</a:t>
            </a:r>
            <a:r>
              <a:rPr lang="en-US" sz="1200" dirty="0">
                <a:solidFill>
                  <a:srgbClr val="3D4943"/>
                </a:solidFill>
                <a:latin typeface="IBM Plex Sans" pitchFamily="34" charset="0"/>
                <a:ea typeface="IBM Plex Sans" pitchFamily="34" charset="-122"/>
                <a:cs typeface="IBM Plex Sans" pitchFamily="34" charset="-120"/>
              </a:rPr>
              <a:t> goals under five years away. Our suitability step sends those savers to a lower-risk product.</a:t>
            </a:r>
            <a:endParaRPr lang="en-US" sz="1200" dirty="0"/>
          </a:p>
        </p:txBody>
      </p:sp>
      <p:sp>
        <p:nvSpPr>
          <p:cNvPr id="10" name="Text 7"/>
          <p:cNvSpPr/>
          <p:nvPr/>
        </p:nvSpPr>
        <p:spPr>
          <a:xfrm>
            <a:off x="7944876" y="3691074"/>
            <a:ext cx="3431111" cy="899253"/>
          </a:xfrm>
          <a:prstGeom prst="roundRect">
            <a:avLst>
              <a:gd name="adj" fmla="val 8121"/>
            </a:avLst>
          </a:prstGeom>
          <a:solidFill>
            <a:srgbClr val="FBFBF7"/>
          </a:solidFill>
          <a:ln w="6350">
            <a:solidFill>
              <a:srgbClr val="DCE0D9"/>
            </a:solidFill>
            <a:prstDash val="solid"/>
          </a:ln>
        </p:spPr>
        <p:txBody>
          <a:bodyPr wrap="square" lIns="159030" tIns="108233" rIns="66922" bIns="82803" rtlCol="0" anchor="t">
            <a:normAutofit/>
          </a:bodyPr>
          <a:lstStyle/>
          <a:p>
            <a:pPr algn="l" indent="0" marL="0">
              <a:lnSpc>
                <a:spcPts val="1680"/>
              </a:lnSpc>
              <a:buNone/>
            </a:pPr>
            <a:r>
              <a:rPr lang="en-US" sz="1200" b="1" dirty="0">
                <a:solidFill>
                  <a:srgbClr val="3D4943"/>
                </a:solidFill>
                <a:latin typeface="IBM Plex Sans" pitchFamily="34" charset="0"/>
                <a:ea typeface="IBM Plex Sans" pitchFamily="34" charset="-122"/>
                <a:cs typeface="IBM Plex Sans" pitchFamily="34" charset="-120"/>
              </a:rPr>
              <a:t>What we don't claim:</a:t>
            </a:r>
            <a:r>
              <a:rPr lang="en-US" sz="1200" dirty="0">
                <a:solidFill>
                  <a:srgbClr val="3D4943"/>
                </a:solidFill>
                <a:latin typeface="IBM Plex Sans" pitchFamily="34" charset="0"/>
                <a:ea typeface="IBM Plex Sans" pitchFamily="34" charset="-122"/>
                <a:cs typeface="IBM Plex Sans" pitchFamily="34" charset="-120"/>
              </a:rPr>
              <a:t> a live return. Ours is history with hindsight (25.0%); the 36-year industry proxy (context only) made 12.0%.</a:t>
            </a:r>
            <a:endParaRPr lang="en-US" sz="1200" dirty="0"/>
          </a:p>
        </p:txBody>
      </p:sp>
      <p:sp>
        <p:nvSpPr>
          <p:cNvPr id="11" name="Text 8"/>
          <p:cNvSpPr/>
          <p:nvPr/>
        </p:nvSpPr>
        <p:spPr>
          <a:xfrm>
            <a:off x="812765" y="6101097"/>
            <a:ext cx="1088339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Comparison funds: BPI Wealth and Pag-IBIG disclosure statements, as in our Phase 1 fact sheet · Firsts Fund is a proposal; benchmark and live performance to follow</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KEY RISKS WE STATE FIRST</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What can go wrong, and what we do about it</a:t>
            </a:r>
            <a:endParaRPr lang="en-US" sz="2800" dirty="0"/>
          </a:p>
        </p:txBody>
      </p:sp>
      <p:sp>
        <p:nvSpPr>
          <p:cNvPr id="4" name="Shape 2"/>
          <p:cNvSpPr/>
          <p:nvPr/>
        </p:nvSpPr>
        <p:spPr>
          <a:xfrm>
            <a:off x="812765" y="1569641"/>
            <a:ext cx="10566443" cy="2939123"/>
          </a:xfrm>
          <a:prstGeom prst="rect">
            <a:avLst/>
          </a:prstGeom>
          <a:solidFill>
            <a:srgbClr val="FBFBF7"/>
          </a:solidFill>
          <a:ln/>
        </p:spPr>
      </p:sp>
      <p:sp>
        <p:nvSpPr>
          <p:cNvPr id="5" name="Shape 3"/>
          <p:cNvSpPr/>
          <p:nvPr/>
        </p:nvSpPr>
        <p:spPr>
          <a:xfrm>
            <a:off x="11376033" y="1569641"/>
            <a:ext cx="0" cy="2939123"/>
          </a:xfrm>
          <a:prstGeom prst="line">
            <a:avLst/>
          </a:prstGeom>
          <a:noFill/>
          <a:ln w="6350">
            <a:solidFill>
              <a:srgbClr val="DCE0D9"/>
            </a:solidFill>
            <a:prstDash val="solid"/>
          </a:ln>
        </p:spPr>
      </p:sp>
      <p:sp>
        <p:nvSpPr>
          <p:cNvPr id="6" name="Shape 4"/>
          <p:cNvSpPr/>
          <p:nvPr/>
        </p:nvSpPr>
        <p:spPr>
          <a:xfrm>
            <a:off x="812765" y="4505589"/>
            <a:ext cx="10566443" cy="0"/>
          </a:xfrm>
          <a:prstGeom prst="line">
            <a:avLst/>
          </a:prstGeom>
          <a:noFill/>
          <a:ln w="6350">
            <a:solidFill>
              <a:srgbClr val="DCE0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358" y="1581234"/>
          <a:ext cx="10549052" cy="2921733"/>
        </p:xfrm>
        <a:graphic>
          <a:graphicData uri="http://schemas.openxmlformats.org/drawingml/2006/table">
            <a:tbl>
              <a:tblPr/>
              <a:tblGrid>
                <a:gridCol w="2320792"/>
                <a:gridCol w="8228261"/>
              </a:tblGrid>
              <a:tr h="328964">
                <a:tc>
                  <a:txBody>
                    <a:bodyPr/>
                    <a:lstStyle/>
                    <a:p>
                      <a:pPr indent="0" marL="0">
                        <a:lnSpc>
                          <a:spcPts val="1750"/>
                        </a:lnSpc>
                        <a:buNone/>
                      </a:pPr>
                      <a:r>
                        <a:rPr lang="en-US" sz="1250" b="1" dirty="0">
                          <a:solidFill>
                            <a:srgbClr val="142019"/>
                          </a:solidFill>
                          <a:latin typeface="IBM Plex Sans" pitchFamily="34" charset="0"/>
                          <a:ea typeface="IBM Plex Sans" pitchFamily="34" charset="-122"/>
                          <a:cs typeface="IBM Plex Sans" pitchFamily="34" charset="-120"/>
                        </a:rPr>
                        <a:t>Risk</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750"/>
                        </a:lnSpc>
                        <a:buNone/>
                      </a:pPr>
                      <a:r>
                        <a:rPr lang="en-US" sz="1250" b="1" dirty="0">
                          <a:solidFill>
                            <a:srgbClr val="142019"/>
                          </a:solidFill>
                          <a:latin typeface="IBM Plex Sans" pitchFamily="34" charset="0"/>
                          <a:ea typeface="IBM Plex Sans" pitchFamily="34" charset="-122"/>
                          <a:cs typeface="IBM Plex Sans" pitchFamily="34" charset="-120"/>
                        </a:rPr>
                        <a:t>What we do, and what remains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535292">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Equity losses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In the 36-year proxy, the worst 12 months lost 27% and the worst fall was 44%. No protection is promised; plan on losses in bad years.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28964">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Hindsight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The five-year 25.0% uses today's selections. The calculator uses balanced assumptions, not this number.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35292">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Concentration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Networks at the 25% limit; data-centre build-out 10.9%; Saudi Arabia 10.9%; Chinese state telecoms 6.6%. All reported.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28964">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Currency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About 92% is in non-peso assets, unhedged. Peso strength lowers peso returns.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328964">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Liquidity &amp; costs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14 markets: trading costs modelled at 0.21% a year, withholding about 0.37%; small listings capped by volume.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r h="535292">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Data &amp; judgment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c>
                  <a:txBody>
                    <a:bodyPr/>
                    <a:lstStyle/>
                    <a:p>
                      <a:pPr indent="0" marL="0">
                        <a:lnSpc>
                          <a:spcPts val="1750"/>
                        </a:lnSpc>
                        <a:buNone/>
                      </a:pPr>
                      <a:r>
                        <a:rPr lang="en-US" sz="1250" dirty="0">
                          <a:solidFill>
                            <a:srgbClr val="142019"/>
                          </a:solidFill>
                          <a:latin typeface="IBM Plex Sans" pitchFamily="34" charset="0"/>
                          <a:ea typeface="IBM Plex Sans" pitchFamily="34" charset="-122"/>
                          <a:cs typeface="IBM Plex Sans" pitchFamily="34" charset="-120"/>
                        </a:rPr>
                        <a:t>One ratio vendor; sub-industries assigned by the team; stress shocks are our estimates. All rules published and re-run quarterly.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8C5"/>
                      </a:solidFill>
                      <a:prstDash val="solid"/>
                      <a:round/>
                      <a:headEnd type="none" w="med" len="med"/>
                      <a:tailEnd type="none" w="med" len="med"/>
                    </a:lnL>
                    <a:lnR w="12700" cap="flat" cmpd="sng" algn="ctr">
                      <a:solidFill>
                        <a:srgbClr val="C8C8C5"/>
                      </a:solidFill>
                      <a:prstDash val="solid"/>
                      <a:round/>
                      <a:headEnd type="none" w="med" len="med"/>
                      <a:tailEnd type="none" w="med" len="med"/>
                    </a:lnR>
                    <a:lnT w="12700" cap="flat" cmpd="sng" algn="ctr">
                      <a:solidFill>
                        <a:srgbClr val="C8C8C5"/>
                      </a:solidFill>
                      <a:prstDash val="solid"/>
                      <a:round/>
                      <a:headEnd type="none" w="med" len="med"/>
                      <a:tailEnd type="none" w="med" len="med"/>
                    </a:lnT>
                    <a:lnB w="12700" cap="flat" cmpd="sng" algn="ctr">
                      <a:solidFill>
                        <a:srgbClr val="C8C8C5"/>
                      </a:solidFill>
                      <a:prstDash val="solid"/>
                      <a:round/>
                      <a:headEnd type="none" w="med" len="med"/>
                      <a:tailEnd type="none" w="med" len="med"/>
                    </a:lnB>
                  </a:tcPr>
                </a:tc>
              </a:tr>
            </a:tbl>
          </a:graphicData>
        </a:graphic>
      </p:graphicFrame>
      <p:sp>
        <p:nvSpPr>
          <p:cNvPr id="8" name="Text 5"/>
          <p:cNvSpPr/>
          <p:nvPr/>
        </p:nvSpPr>
        <p:spPr>
          <a:xfrm>
            <a:off x="812765" y="6314442"/>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Risk figures: industry proxy 1990–2026 and current portfolio · withholding rates approximate, to be confirmed by tax counsel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765" y="711188"/>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Q&amp;A PREPARATION</a:t>
            </a:r>
            <a:endParaRPr lang="en-US" sz="1200" dirty="0"/>
          </a:p>
        </p:txBody>
      </p:sp>
      <p:sp>
        <p:nvSpPr>
          <p:cNvPr id="3" name="Text 1"/>
          <p:cNvSpPr/>
          <p:nvPr>
            <p:ph type="title"/>
          </p:nvPr>
        </p:nvSpPr>
        <p:spPr>
          <a:xfrm>
            <a:off x="812765" y="1000708"/>
            <a:ext cx="10883436" cy="416543"/>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019"/>
                </a:solidFill>
                <a:latin typeface="Source Serif 4" pitchFamily="18" charset="0"/>
                <a:ea typeface="Source Serif 4" pitchFamily="18" charset="-122"/>
                <a:cs typeface="Source Serif 4" pitchFamily="18" charset="-120"/>
              </a:rPr>
              <a:t>Six questions we expect, with our answers</a:t>
            </a:r>
            <a:endParaRPr lang="en-US" sz="2800" dirty="0"/>
          </a:p>
        </p:txBody>
      </p:sp>
      <p:sp>
        <p:nvSpPr>
          <p:cNvPr id="4" name="Shape 2"/>
          <p:cNvSpPr/>
          <p:nvPr/>
        </p:nvSpPr>
        <p:spPr>
          <a:xfrm>
            <a:off x="815940" y="1534691"/>
            <a:ext cx="5219719" cy="924569"/>
          </a:xfrm>
          <a:prstGeom prst="roundRect">
            <a:avLst>
              <a:gd name="adj" fmla="val 7898"/>
            </a:avLst>
          </a:prstGeom>
          <a:solidFill>
            <a:srgbClr val="FBFBF7"/>
          </a:solidFill>
          <a:ln w="6350">
            <a:solidFill>
              <a:srgbClr val="DCE0D9"/>
            </a:solidFill>
            <a:prstDash val="solid"/>
          </a:ln>
        </p:spPr>
      </p:sp>
      <p:sp>
        <p:nvSpPr>
          <p:cNvPr id="5" name="Text 3"/>
          <p:cNvSpPr/>
          <p:nvPr/>
        </p:nvSpPr>
        <p:spPr>
          <a:xfrm>
            <a:off x="983633" y="1651571"/>
            <a:ext cx="503086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Why so many telecoms?</a:t>
            </a:r>
            <a:endParaRPr lang="en-US" sz="1400" dirty="0"/>
          </a:p>
        </p:txBody>
      </p:sp>
      <p:sp>
        <p:nvSpPr>
          <p:cNvPr id="6" name="Text 4"/>
          <p:cNvSpPr/>
          <p:nvPr/>
        </p:nvSpPr>
        <p:spPr>
          <a:xfrm>
            <a:off x="983633" y="1915691"/>
            <a:ext cx="5030864"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Eight passed merit and diversification tests; the 25% type limit caps the group, so each gets less than its risk share.</a:t>
            </a:r>
            <a:endParaRPr lang="en-US" sz="1200" dirty="0"/>
          </a:p>
        </p:txBody>
      </p:sp>
      <p:sp>
        <p:nvSpPr>
          <p:cNvPr id="7" name="Shape 5"/>
          <p:cNvSpPr/>
          <p:nvPr/>
        </p:nvSpPr>
        <p:spPr>
          <a:xfrm>
            <a:off x="6156268" y="1534691"/>
            <a:ext cx="5219764" cy="924569"/>
          </a:xfrm>
          <a:prstGeom prst="roundRect">
            <a:avLst>
              <a:gd name="adj" fmla="val 7898"/>
            </a:avLst>
          </a:prstGeom>
          <a:solidFill>
            <a:srgbClr val="FBFBF7"/>
          </a:solidFill>
          <a:ln w="6350">
            <a:solidFill>
              <a:srgbClr val="DCE0D9"/>
            </a:solidFill>
            <a:prstDash val="solid"/>
          </a:ln>
        </p:spPr>
      </p:sp>
      <p:sp>
        <p:nvSpPr>
          <p:cNvPr id="8" name="Text 6"/>
          <p:cNvSpPr/>
          <p:nvPr/>
        </p:nvSpPr>
        <p:spPr>
          <a:xfrm>
            <a:off x="6323961" y="1651571"/>
            <a:ext cx="5030910"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Why only 1–2% in chips?</a:t>
            </a:r>
            <a:endParaRPr lang="en-US" sz="1400" dirty="0"/>
          </a:p>
        </p:txBody>
      </p:sp>
      <p:sp>
        <p:nvSpPr>
          <p:cNvPr id="9" name="Text 7"/>
          <p:cNvSpPr/>
          <p:nvPr/>
        </p:nvSpPr>
        <p:spPr>
          <a:xfrm>
            <a:off x="6323961" y="1915691"/>
            <a:ext cx="503091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They swing 42–63% a year. Equal weighting would have earned more since 2021 and fallen further; we chose the method before testing.</a:t>
            </a:r>
            <a:endParaRPr lang="en-US" sz="1200" dirty="0"/>
          </a:p>
        </p:txBody>
      </p:sp>
      <p:sp>
        <p:nvSpPr>
          <p:cNvPr id="10" name="Shape 8"/>
          <p:cNvSpPr/>
          <p:nvPr/>
        </p:nvSpPr>
        <p:spPr>
          <a:xfrm>
            <a:off x="815940" y="2579874"/>
            <a:ext cx="5219719" cy="924569"/>
          </a:xfrm>
          <a:prstGeom prst="roundRect">
            <a:avLst>
              <a:gd name="adj" fmla="val 7898"/>
            </a:avLst>
          </a:prstGeom>
          <a:solidFill>
            <a:srgbClr val="FBFBF7"/>
          </a:solidFill>
          <a:ln w="6350">
            <a:solidFill>
              <a:srgbClr val="DCE0D9"/>
            </a:solidFill>
            <a:prstDash val="solid"/>
          </a:ln>
        </p:spPr>
      </p:sp>
      <p:sp>
        <p:nvSpPr>
          <p:cNvPr id="11" name="Text 9"/>
          <p:cNvSpPr/>
          <p:nvPr/>
        </p:nvSpPr>
        <p:spPr>
          <a:xfrm>
            <a:off x="983633" y="2696753"/>
            <a:ext cx="503086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Isn't 25.0% too good to be true?</a:t>
            </a:r>
            <a:endParaRPr lang="en-US" sz="1400" dirty="0"/>
          </a:p>
        </p:txBody>
      </p:sp>
      <p:sp>
        <p:nvSpPr>
          <p:cNvPr id="12" name="Text 10"/>
          <p:cNvSpPr/>
          <p:nvPr/>
        </p:nvSpPr>
        <p:spPr>
          <a:xfrm>
            <a:off x="983633" y="2960861"/>
            <a:ext cx="5030864"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Yes, as a forecast. It is today's portfolio looking back. The 36-year proxy made 12.0%, about the market.</a:t>
            </a:r>
            <a:endParaRPr lang="en-US" sz="1200" dirty="0"/>
          </a:p>
        </p:txBody>
      </p:sp>
      <p:sp>
        <p:nvSpPr>
          <p:cNvPr id="13" name="Shape 11"/>
          <p:cNvSpPr/>
          <p:nvPr/>
        </p:nvSpPr>
        <p:spPr>
          <a:xfrm>
            <a:off x="6156268" y="2579874"/>
            <a:ext cx="5219764" cy="924569"/>
          </a:xfrm>
          <a:prstGeom prst="roundRect">
            <a:avLst>
              <a:gd name="adj" fmla="val 7898"/>
            </a:avLst>
          </a:prstGeom>
          <a:solidFill>
            <a:srgbClr val="FBFBF7"/>
          </a:solidFill>
          <a:ln w="6350">
            <a:solidFill>
              <a:srgbClr val="DCE0D9"/>
            </a:solidFill>
            <a:prstDash val="solid"/>
          </a:ln>
        </p:spPr>
      </p:sp>
      <p:sp>
        <p:nvSpPr>
          <p:cNvPr id="14" name="Text 12"/>
          <p:cNvSpPr/>
          <p:nvPr/>
        </p:nvSpPr>
        <p:spPr>
          <a:xfrm>
            <a:off x="6323961" y="2696753"/>
            <a:ext cx="5030910"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What if a company's debt or cash flow turns?</a:t>
            </a:r>
            <a:endParaRPr lang="en-US" sz="1400" dirty="0"/>
          </a:p>
        </p:txBody>
      </p:sp>
      <p:sp>
        <p:nvSpPr>
          <p:cNvPr id="15" name="Text 13"/>
          <p:cNvSpPr/>
          <p:nvPr/>
        </p:nvSpPr>
        <p:spPr>
          <a:xfrm>
            <a:off x="6323961" y="2960861"/>
            <a:ext cx="503091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Quarterly review re-runs M and V on current data; a failure moves it to the watchlist or out. Every exit is logged.</a:t>
            </a:r>
            <a:endParaRPr lang="en-US" sz="1200" dirty="0"/>
          </a:p>
        </p:txBody>
      </p:sp>
      <p:sp>
        <p:nvSpPr>
          <p:cNvPr id="16" name="Shape 14"/>
          <p:cNvSpPr/>
          <p:nvPr/>
        </p:nvSpPr>
        <p:spPr>
          <a:xfrm>
            <a:off x="815940" y="3625044"/>
            <a:ext cx="5219719" cy="924569"/>
          </a:xfrm>
          <a:prstGeom prst="roundRect">
            <a:avLst>
              <a:gd name="adj" fmla="val 7898"/>
            </a:avLst>
          </a:prstGeom>
          <a:solidFill>
            <a:srgbClr val="FBFBF7"/>
          </a:solidFill>
          <a:ln w="6350">
            <a:solidFill>
              <a:srgbClr val="DCE0D9"/>
            </a:solidFill>
            <a:prstDash val="solid"/>
          </a:ln>
        </p:spPr>
      </p:sp>
      <p:sp>
        <p:nvSpPr>
          <p:cNvPr id="17" name="Text 15"/>
          <p:cNvSpPr/>
          <p:nvPr/>
        </p:nvSpPr>
        <p:spPr>
          <a:xfrm>
            <a:off x="983633" y="3741936"/>
            <a:ext cx="5030864"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Why hospitals now?</a:t>
            </a:r>
            <a:endParaRPr lang="en-US" sz="1400" dirty="0"/>
          </a:p>
        </p:txBody>
      </p:sp>
      <p:sp>
        <p:nvSpPr>
          <p:cNvPr id="18" name="Text 16"/>
          <p:cNvSpPr/>
          <p:nvPr/>
        </p:nvSpPr>
        <p:spPr>
          <a:xfrm>
            <a:off x="983633" y="4006044"/>
            <a:ext cx="5030864"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Healthcare infrastructure is hard-to-replace capacity; leaving it out was a gap in our theme. They passed the same tests.</a:t>
            </a:r>
            <a:endParaRPr lang="en-US" sz="1200" dirty="0"/>
          </a:p>
        </p:txBody>
      </p:sp>
      <p:sp>
        <p:nvSpPr>
          <p:cNvPr id="19" name="Shape 17"/>
          <p:cNvSpPr/>
          <p:nvPr/>
        </p:nvSpPr>
        <p:spPr>
          <a:xfrm>
            <a:off x="6156268" y="3625044"/>
            <a:ext cx="5219764" cy="924569"/>
          </a:xfrm>
          <a:prstGeom prst="roundRect">
            <a:avLst>
              <a:gd name="adj" fmla="val 7898"/>
            </a:avLst>
          </a:prstGeom>
          <a:solidFill>
            <a:srgbClr val="FBFBF7"/>
          </a:solidFill>
          <a:ln w="6350">
            <a:solidFill>
              <a:srgbClr val="DCE0D9"/>
            </a:solidFill>
            <a:prstDash val="solid"/>
          </a:ln>
        </p:spPr>
      </p:sp>
      <p:sp>
        <p:nvSpPr>
          <p:cNvPr id="20" name="Text 18"/>
          <p:cNvSpPr/>
          <p:nvPr/>
        </p:nvSpPr>
        <p:spPr>
          <a:xfrm>
            <a:off x="6323961" y="3741936"/>
            <a:ext cx="5030910" cy="23874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19"/>
                </a:solidFill>
                <a:latin typeface="IBM Plex Sans" pitchFamily="34" charset="0"/>
                <a:ea typeface="IBM Plex Sans" pitchFamily="34" charset="-122"/>
                <a:cs typeface="IBM Plex Sans" pitchFamily="34" charset="-120"/>
              </a:rPr>
              <a:t>Why should a Filipino own Saudi or Mexican stocks?</a:t>
            </a:r>
            <a:endParaRPr lang="en-US" sz="1400" dirty="0"/>
          </a:p>
        </p:txBody>
      </p:sp>
      <p:sp>
        <p:nvSpPr>
          <p:cNvPr id="21" name="Text 19"/>
          <p:cNvSpPr/>
          <p:nvPr/>
        </p:nvSpPr>
        <p:spPr>
          <a:xfrm>
            <a:off x="6323961" y="4006044"/>
            <a:ext cx="5030910" cy="4520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943"/>
                </a:solidFill>
                <a:latin typeface="IBM Plex Sans" pitchFamily="34" charset="0"/>
                <a:ea typeface="IBM Plex Sans" pitchFamily="34" charset="-122"/>
                <a:cs typeface="IBM Plex Sans" pitchFamily="34" charset="-120"/>
              </a:rPr>
              <a:t>Their salary and savings already ride on one economy. A global fund spreads that, and they still invest in pesos.</a:t>
            </a:r>
            <a:endParaRPr lang="en-US" sz="1200" dirty="0"/>
          </a:p>
        </p:txBody>
      </p:sp>
      <p:sp>
        <p:nvSpPr>
          <p:cNvPr id="22" name="Text 20"/>
          <p:cNvSpPr/>
          <p:nvPr/>
        </p:nvSpPr>
        <p:spPr>
          <a:xfrm>
            <a:off x="812765" y="6314455"/>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70"/>
                </a:solidFill>
                <a:latin typeface="IBM Plex Sans" pitchFamily="34" charset="0"/>
                <a:ea typeface="IBM Plex Sans" pitchFamily="34" charset="-122"/>
                <a:cs typeface="IBM Plex Sans" pitchFamily="34" charset="-120"/>
              </a:rPr>
              <a:t>Every company, ratio and decision: supporting proposal · rules re-checked at all 21 quarterly rebalances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019"/>
        </a:solidFill>
      </p:bgPr>
    </p:bg>
    <p:spTree>
      <p:nvGrpSpPr>
        <p:cNvPr id="1" name=""/>
        <p:cNvGrpSpPr/>
        <p:nvPr/>
      </p:nvGrpSpPr>
      <p:grpSpPr>
        <a:xfrm>
          <a:off x="0" y="0"/>
          <a:ext cx="0" cy="0"/>
          <a:chOff x="0" y="0"/>
          <a:chExt cx="0" cy="0"/>
        </a:xfrm>
      </p:grpSpPr>
      <p:sp>
        <p:nvSpPr>
          <p:cNvPr id="2" name="Shape 0"/>
          <p:cNvSpPr/>
          <p:nvPr/>
        </p:nvSpPr>
        <p:spPr>
          <a:xfrm>
            <a:off x="0" y="0"/>
            <a:ext cx="152391" cy="6857984"/>
          </a:xfrm>
          <a:prstGeom prst="rect">
            <a:avLst/>
          </a:prstGeom>
          <a:solidFill>
            <a:srgbClr val="0F7A45"/>
          </a:solidFill>
          <a:ln/>
        </p:spPr>
      </p:sp>
      <p:sp>
        <p:nvSpPr>
          <p:cNvPr id="3" name="Text 1"/>
          <p:cNvSpPr/>
          <p:nvPr/>
        </p:nvSpPr>
        <p:spPr>
          <a:xfrm>
            <a:off x="812765" y="812763"/>
            <a:ext cx="10883436" cy="238747"/>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FC48C"/>
                </a:solidFill>
                <a:latin typeface="IBM Plex Mono" pitchFamily="49" charset="0"/>
                <a:ea typeface="IBM Plex Mono" pitchFamily="49" charset="-122"/>
                <a:cs typeface="IBM Plex Mono" pitchFamily="49" charset="-120"/>
              </a:rPr>
              <a:t>FIRSTS FUND · IN THREE SENTENCES</a:t>
            </a:r>
            <a:endParaRPr lang="en-US" sz="1200" dirty="0"/>
          </a:p>
        </p:txBody>
      </p:sp>
      <p:sp>
        <p:nvSpPr>
          <p:cNvPr id="4" name="Text 2"/>
          <p:cNvSpPr/>
          <p:nvPr/>
        </p:nvSpPr>
        <p:spPr>
          <a:xfrm>
            <a:off x="812765" y="2077678"/>
            <a:ext cx="10883436" cy="711226"/>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5F4EE"/>
                </a:solidFill>
                <a:latin typeface="IBM Plex Sans" pitchFamily="34" charset="0"/>
                <a:ea typeface="IBM Plex Sans" pitchFamily="34" charset="-122"/>
                <a:cs typeface="IBM Plex Sans" pitchFamily="34" charset="-120"/>
              </a:rPr>
              <a:t>What it owns:</a:t>
            </a:r>
            <a:r>
              <a:rPr lang="en-US" sz="2000" dirty="0">
                <a:solidFill>
                  <a:srgbClr val="F5F4EE"/>
                </a:solidFill>
                <a:latin typeface="IBM Plex Sans" pitchFamily="34" charset="0"/>
                <a:ea typeface="IBM Plex Sans" pitchFamily="34" charset="-122"/>
                <a:cs typeface="IBM Plex Sans" pitchFamily="34" charset="-120"/>
              </a:rPr>
              <a:t> essential, hard-to-replace capacity anywhere in the world, but only where the price and the balance sheet hold up.</a:t>
            </a:r>
            <a:endParaRPr lang="en-US" sz="2000" dirty="0"/>
          </a:p>
        </p:txBody>
      </p:sp>
      <p:sp>
        <p:nvSpPr>
          <p:cNvPr id="5" name="Text 3"/>
          <p:cNvSpPr/>
          <p:nvPr/>
        </p:nvSpPr>
        <p:spPr>
          <a:xfrm>
            <a:off x="812765" y="2941303"/>
            <a:ext cx="10883436" cy="711226"/>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5F4EE"/>
                </a:solidFill>
                <a:latin typeface="IBM Plex Sans" pitchFamily="34" charset="0"/>
                <a:ea typeface="IBM Plex Sans" pitchFamily="34" charset="-122"/>
                <a:cs typeface="IBM Plex Sans" pitchFamily="34" charset="-120"/>
              </a:rPr>
              <a:t>How it chooses:</a:t>
            </a:r>
            <a:r>
              <a:rPr lang="en-US" sz="2000" dirty="0">
                <a:solidFill>
                  <a:srgbClr val="F5F4EE"/>
                </a:solidFill>
                <a:latin typeface="IBM Plex Sans" pitchFamily="34" charset="0"/>
                <a:ea typeface="IBM Plex Sans" pitchFamily="34" charset="-122"/>
                <a:cs typeface="IBM Plex Sans" pitchFamily="34" charset="-120"/>
              </a:rPr>
              <a:t> M for eligibility, V for the investment case, P for a weight and a holdings count that come out of the process.</a:t>
            </a:r>
            <a:endParaRPr lang="en-US" sz="2000" dirty="0"/>
          </a:p>
        </p:txBody>
      </p:sp>
      <p:sp>
        <p:nvSpPr>
          <p:cNvPr id="6" name="Text 4"/>
          <p:cNvSpPr/>
          <p:nvPr/>
        </p:nvSpPr>
        <p:spPr>
          <a:xfrm>
            <a:off x="812765" y="3804927"/>
            <a:ext cx="10883436" cy="711226"/>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5F4EE"/>
                </a:solidFill>
                <a:latin typeface="IBM Plex Sans" pitchFamily="34" charset="0"/>
                <a:ea typeface="IBM Plex Sans" pitchFamily="34" charset="-122"/>
                <a:cs typeface="IBM Plex Sans" pitchFamily="34" charset="-120"/>
              </a:rPr>
              <a:t>What it offers:</a:t>
            </a:r>
            <a:r>
              <a:rPr lang="en-US" sz="2000" dirty="0">
                <a:solidFill>
                  <a:srgbClr val="F5F4EE"/>
                </a:solidFill>
                <a:latin typeface="IBM Plex Sans" pitchFamily="34" charset="0"/>
                <a:ea typeface="IBM Plex Sans" pitchFamily="34" charset="-122"/>
                <a:cs typeface="IBM Plex Sans" pitchFamily="34" charset="-120"/>
              </a:rPr>
              <a:t> not the highest return, but a path a young Filipino can stay on, five years and longer.</a:t>
            </a:r>
            <a:endParaRPr lang="en-US" sz="2000" dirty="0"/>
          </a:p>
        </p:txBody>
      </p:sp>
      <p:sp>
        <p:nvSpPr>
          <p:cNvPr id="7" name="Text 5"/>
          <p:cNvSpPr/>
          <p:nvPr>
            <p:ph type="title"/>
          </p:nvPr>
        </p:nvSpPr>
        <p:spPr>
          <a:xfrm>
            <a:off x="812765" y="5542310"/>
            <a:ext cx="4626497" cy="528312"/>
          </a:xfrm>
          <a:prstGeom prst="rect">
            <a:avLst/>
          </a:prstGeom>
          <a:noFill/>
          <a:ln/>
        </p:spPr>
        <p:txBody>
          <a:bodyPr wrap="square" lIns="0" tIns="0" rIns="0" bIns="0" rtlCol="0" anchor="t">
            <a:normAutofit/>
          </a:bodyPr>
          <a:lstStyle/>
          <a:p>
            <a:pPr algn="l" indent="0" marL="0">
              <a:lnSpc>
                <a:spcPts val="3960"/>
              </a:lnSpc>
              <a:buNone/>
            </a:pPr>
            <a:r>
              <a:rPr lang="en-US" sz="3600" b="1" i="1" dirty="0">
                <a:solidFill>
                  <a:srgbClr val="5FC48C"/>
                </a:solidFill>
                <a:latin typeface="Source Serif 4" pitchFamily="18" charset="0"/>
                <a:ea typeface="Source Serif 4" pitchFamily="18" charset="-122"/>
                <a:cs typeface="Source Serif 4" pitchFamily="18" charset="-120"/>
              </a:rPr>
              <a:t>“Fund your firsts.”</a:t>
            </a:r>
            <a:endParaRPr lang="en-US" sz="3600" dirty="0"/>
          </a:p>
        </p:txBody>
      </p:sp>
      <p:sp>
        <p:nvSpPr>
          <p:cNvPr id="8" name="Text 6"/>
          <p:cNvSpPr/>
          <p:nvPr/>
        </p:nvSpPr>
        <p:spPr>
          <a:xfrm>
            <a:off x="7988682" y="5618522"/>
            <a:ext cx="3390526" cy="45209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6CE"/>
                </a:solidFill>
                <a:latin typeface="IBM Plex Mono" pitchFamily="49" charset="0"/>
                <a:ea typeface="IBM Plex Mono" pitchFamily="49" charset="-122"/>
                <a:cs typeface="IBM Plex Mono" pitchFamily="49" charset="-120"/>
              </a:rPr>
              <a:t>A proposal by Team Los Angeles 76ers</a:t>
            </a:r>
            <a:endParaRPr lang="en-US" sz="1200" dirty="0"/>
          </a:p>
          <a:p>
            <a:pPr algn="r" indent="0" marL="0">
              <a:lnSpc>
                <a:spcPts val="1680"/>
              </a:lnSpc>
              <a:buNone/>
            </a:pPr>
            <a:r>
              <a:rPr lang="en-US" sz="1200" dirty="0">
                <a:solidFill>
                  <a:srgbClr val="C9D6CE"/>
                </a:solidFill>
                <a:latin typeface="IBM Plex Mono" pitchFamily="49" charset="0"/>
                <a:ea typeface="IBM Plex Mono" pitchFamily="49" charset="-122"/>
                <a:cs typeface="IBM Plex Mono" pitchFamily="49" charset="-120"/>
              </a:rPr>
              <a:t>Not an existing BPI product</a:t>
            </a:r>
            <a:endParaRPr lang="en-US" sz="1200" dirty="0"/>
          </a:p>
        </p:txBody>
      </p:sp>
    </p:spTree>
  </p:cSld>
  <p:clrMapOvr>
    <a:masterClrMapping/>
  </p:clrMapOvr>
</p:sld>
</file>

<file path=ppt/theme/theme1.xml><?xml version="1.0" encoding="utf-8"?>
<a:theme xmlns:a="http://schemas.openxmlformats.org/drawingml/2006/main" name="Firsts Fund — Competition Pitch">
  <a:themeElements>
    <a:clrScheme name="Firsts Fund — Competition Pitch">
      <a:dk1>
        <a:srgbClr val="142019"/>
      </a:dk1>
      <a:lt1>
        <a:srgbClr val="F5F4EE"/>
      </a:lt1>
      <a:dk2>
        <a:srgbClr val="4C554E"/>
      </a:dk2>
      <a:lt2>
        <a:srgbClr val="DFDFD9"/>
      </a:lt2>
      <a:accent1>
        <a:srgbClr val="0F7A45"/>
      </a:accent1>
      <a:accent2>
        <a:srgbClr val="9FC8B0"/>
      </a:accent2>
      <a:accent3>
        <a:srgbClr val="5FC48C"/>
      </a:accent3>
      <a:accent4>
        <a:srgbClr val="3557A8"/>
      </a:accent4>
      <a:accent5>
        <a:srgbClr val="3D4943"/>
      </a:accent5>
      <a:accent6>
        <a:srgbClr val="6B7570"/>
      </a:accent6>
      <a:hlink>
        <a:srgbClr val="0563C1"/>
      </a:hlink>
      <a:folHlink>
        <a:srgbClr val="954F72"/>
      </a:folHlink>
    </a:clrScheme>
    <a:fontScheme name="Firsts Fund — Competition Pitch">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Firsts Fund — Competition Pitch</dc:title>
  <dc:subject/>
  <dc:creator/>
  <cp:lastModifiedBy/>
  <cp:revision>1</cp:revision>
  <dcterms:created xsi:type="dcterms:W3CDTF">2026-10-08T04:38:16Z</dcterms:created>
  <dcterms:modified xsi:type="dcterms:W3CDTF">2026-10-08T04:38:16Z</dcterms:modified>
</cp:coreProperties>
</file>